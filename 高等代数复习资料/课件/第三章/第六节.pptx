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7"/>
  </p:notesMasterIdLst>
  <p:sldIdLst>
    <p:sldId id="280" r:id="rId2"/>
    <p:sldId id="281" r:id="rId3"/>
    <p:sldId id="303" r:id="rId4"/>
    <p:sldId id="258" r:id="rId5"/>
    <p:sldId id="304" r:id="rId6"/>
    <p:sldId id="305" r:id="rId7"/>
    <p:sldId id="306" r:id="rId8"/>
    <p:sldId id="307" r:id="rId9"/>
    <p:sldId id="308" r:id="rId10"/>
    <p:sldId id="309" r:id="rId11"/>
    <p:sldId id="262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272" r:id="rId26"/>
    <p:sldId id="323" r:id="rId27"/>
    <p:sldId id="324" r:id="rId28"/>
    <p:sldId id="274" r:id="rId29"/>
    <p:sldId id="325" r:id="rId30"/>
    <p:sldId id="276" r:id="rId31"/>
    <p:sldId id="277" r:id="rId32"/>
    <p:sldId id="278" r:id="rId33"/>
    <p:sldId id="327" r:id="rId34"/>
    <p:sldId id="326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7" r:id="rId44"/>
    <p:sldId id="336" r:id="rId45"/>
    <p:sldId id="338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339" r:id="rId54"/>
    <p:sldId id="290" r:id="rId55"/>
    <p:sldId id="340" r:id="rId56"/>
    <p:sldId id="292" r:id="rId57"/>
    <p:sldId id="293" r:id="rId58"/>
    <p:sldId id="294" r:id="rId59"/>
    <p:sldId id="295" r:id="rId60"/>
    <p:sldId id="296" r:id="rId61"/>
    <p:sldId id="297" r:id="rId62"/>
    <p:sldId id="298" r:id="rId63"/>
    <p:sldId id="299" r:id="rId64"/>
    <p:sldId id="300" r:id="rId65"/>
    <p:sldId id="301" r:id="rId6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known" initials="B" lastIdx="1" clrIdx="0">
    <p:extLst>
      <p:ext uri="{19B8F6BF-5375-455C-9EA6-DF929625EA0E}">
        <p15:presenceInfo xmlns:p15="http://schemas.microsoft.com/office/powerpoint/2012/main" userId="unknow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3333FF"/>
    <a:srgbClr val="CCCC00"/>
    <a:srgbClr val="FF9900"/>
    <a:srgbClr val="FFCCFF"/>
    <a:srgbClr val="FFCC00"/>
    <a:srgbClr val="FF6600"/>
    <a:srgbClr val="0000CC"/>
    <a:srgbClr val="CC0000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563" autoAdjust="0"/>
  </p:normalViewPr>
  <p:slideViewPr>
    <p:cSldViewPr>
      <p:cViewPr varScale="1">
        <p:scale>
          <a:sx n="81" d="100"/>
          <a:sy n="81" d="100"/>
        </p:scale>
        <p:origin x="619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9EF00D3-0E81-4ED9-8A20-AEDD5448B299}" type="datetimeFigureOut">
              <a:rPr lang="en-US"/>
              <a:pPr>
                <a:defRPr/>
              </a:pPr>
              <a:t>4/25/2021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2A7E4FC-2132-4BAE-A695-2B6A3633DB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793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93B8C-ABAA-4E68-9661-41B2C3D51F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CCED8-84D2-4646-AD10-0B69F9CDBFB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4124F-BCC4-4C06-8CDF-A0E9E849292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063E8-9B68-4B10-A496-745444BFB9B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C6CD1B-3006-4A0B-9206-1937A150C29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B4BC4-A1DF-4CA8-82BA-9EB7E924DFC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ED361-E5A0-484D-B25B-2E0612B25DD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6A596-8C3E-4509-B004-5A698CB7FE4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4F1C3-3F2C-4357-889A-4A6CF01BCE2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EEA02-C3A3-4AB0-9A21-7FBAFAEBB7E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DBF53-776A-438C-8FDA-A1A7F2A815E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fld id="{8EF5B781-C4BB-4381-BE6D-E53004129C2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49159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49163" name="Text Box 11"/>
          <p:cNvSpPr txBox="1">
            <a:spLocks noChangeArrowheads="1"/>
          </p:cNvSpPr>
          <p:nvPr userDrawn="1"/>
        </p:nvSpPr>
        <p:spPr bwMode="auto">
          <a:xfrm>
            <a:off x="9029700" y="6335104"/>
            <a:ext cx="2209800" cy="396875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ea typeface="黑体" pitchFamily="49" charset="-122"/>
              </a:rPr>
              <a:t>       高等</a:t>
            </a:r>
            <a:r>
              <a:rPr lang="zh-CN" altLang="en-US" sz="2000" dirty="0">
                <a:ea typeface="黑体" pitchFamily="49" charset="-122"/>
              </a:rPr>
              <a:t>代数</a:t>
            </a:r>
            <a:endParaRPr lang="en-US" altLang="zh-CN" sz="2000" dirty="0">
              <a:ea typeface="黑体" pitchFamily="49" charset="-122"/>
            </a:endParaRPr>
          </a:p>
        </p:txBody>
      </p:sp>
      <p:pic>
        <p:nvPicPr>
          <p:cNvPr id="43018" name="Picture 1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57247"/>
            <a:ext cx="609600" cy="543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CC1C320-7138-4B11-B8F1-981179839FC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4021" y="85661"/>
            <a:ext cx="570553" cy="6001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10.png"/><Relationship Id="rId7" Type="http://schemas.openxmlformats.org/officeDocument/2006/relationships/image" Target="../media/image18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openxmlformats.org/officeDocument/2006/relationships/image" Target="../media/image21.png"/><Relationship Id="rId4" Type="http://schemas.openxmlformats.org/officeDocument/2006/relationships/image" Target="../media/image159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4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44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7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67.png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00.png"/><Relationship Id="rId4" Type="http://schemas.openxmlformats.org/officeDocument/2006/relationships/image" Target="../media/image10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11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06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8.png"/><Relationship Id="rId4" Type="http://schemas.openxmlformats.org/officeDocument/2006/relationships/image" Target="../media/image116.png"/><Relationship Id="rId9" Type="http://schemas.openxmlformats.org/officeDocument/2006/relationships/image" Target="../media/image107.pn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2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22.png"/><Relationship Id="rId4" Type="http://schemas.openxmlformats.org/officeDocument/2006/relationships/image" Target="../media/image14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4.png"/><Relationship Id="rId4" Type="http://schemas.openxmlformats.org/officeDocument/2006/relationships/image" Target="../media/image9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87.png"/><Relationship Id="rId7" Type="http://schemas.openxmlformats.org/officeDocument/2006/relationships/image" Target="../media/image189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5" Type="http://schemas.openxmlformats.org/officeDocument/2006/relationships/image" Target="../media/image172.png"/><Relationship Id="rId4" Type="http://schemas.openxmlformats.org/officeDocument/2006/relationships/image" Target="../media/image18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Text Box 2">
            <a:extLst>
              <a:ext uri="{FF2B5EF4-FFF2-40B4-BE49-F238E27FC236}">
                <a16:creationId xmlns:a16="http://schemas.microsoft.com/office/drawing/2014/main" id="{5B836D0A-6C6F-40C2-892E-C749DBFD3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00200"/>
            <a:ext cx="2133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主要内容</a:t>
            </a:r>
          </a:p>
        </p:txBody>
      </p:sp>
      <p:sp>
        <p:nvSpPr>
          <p:cNvPr id="310275" name="Text Box 3">
            <a:hlinkClick r:id="rId2" action="ppaction://hlinksldjump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58930617-215B-44CC-A95D-15C869EAC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2708276"/>
            <a:ext cx="4267200" cy="5191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齐次线性方程组解的结构</a:t>
            </a:r>
          </a:p>
        </p:txBody>
      </p:sp>
      <p:sp>
        <p:nvSpPr>
          <p:cNvPr id="310276" name="Text Box 4">
            <a:hlinkClick r:id="" action="ppaction://noaction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6E9D6E1B-DD17-4A4D-9BB7-1CDC0364D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3573463"/>
            <a:ext cx="4648200" cy="519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非齐次线性方程组解的结构</a:t>
            </a:r>
          </a:p>
        </p:txBody>
      </p:sp>
      <p:sp>
        <p:nvSpPr>
          <p:cNvPr id="310277" name="Text Box 5">
            <a:extLst>
              <a:ext uri="{FF2B5EF4-FFF2-40B4-BE49-F238E27FC236}">
                <a16:creationId xmlns:a16="http://schemas.microsoft.com/office/drawing/2014/main" id="{8DA1FA02-549C-4EE7-B37A-A1B8F8075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25450"/>
            <a:ext cx="670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第六节    线性方程组解的结构</a:t>
            </a:r>
          </a:p>
        </p:txBody>
      </p:sp>
      <p:sp>
        <p:nvSpPr>
          <p:cNvPr id="310278" name="Text Box 6">
            <a:hlinkClick r:id="" action="ppaction://noaction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CAAE2986-7748-4B47-8A1B-CBF7D7B4D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4437063"/>
            <a:ext cx="5040312" cy="519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直线平面间的位置关系的判定</a:t>
            </a:r>
          </a:p>
        </p:txBody>
      </p:sp>
      <p:sp>
        <p:nvSpPr>
          <p:cNvPr id="310279" name="Text Box 7">
            <a:hlinkClick r:id="" action="ppaction://noaction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F644FF31-8FF4-48D5-9242-CB77A46E2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4" y="5300663"/>
            <a:ext cx="5976937" cy="519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三元非齐次线性方程组解的几何意义</a:t>
            </a:r>
          </a:p>
        </p:txBody>
      </p:sp>
      <p:pic>
        <p:nvPicPr>
          <p:cNvPr id="310280" name="Picture 8">
            <a:extLst>
              <a:ext uri="{FF2B5EF4-FFF2-40B4-BE49-F238E27FC236}">
                <a16:creationId xmlns:a16="http://schemas.microsoft.com/office/drawing/2014/main" id="{1D96D9CB-569F-4DF9-831A-C9BAC87E5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2852738"/>
            <a:ext cx="32385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81" name="Picture 9">
            <a:extLst>
              <a:ext uri="{FF2B5EF4-FFF2-40B4-BE49-F238E27FC236}">
                <a16:creationId xmlns:a16="http://schemas.microsoft.com/office/drawing/2014/main" id="{9B24429F-403F-4669-A4F2-58545E54C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3716338"/>
            <a:ext cx="32385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82" name="Picture 10">
            <a:extLst>
              <a:ext uri="{FF2B5EF4-FFF2-40B4-BE49-F238E27FC236}">
                <a16:creationId xmlns:a16="http://schemas.microsoft.com/office/drawing/2014/main" id="{DF9970E8-6B37-46B9-B222-3AD15EF76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4581525"/>
            <a:ext cx="32385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83" name="Picture 11">
            <a:extLst>
              <a:ext uri="{FF2B5EF4-FFF2-40B4-BE49-F238E27FC236}">
                <a16:creationId xmlns:a16="http://schemas.microsoft.com/office/drawing/2014/main" id="{4996F394-BAF9-4B3F-9DB0-7B0EB816E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5445125"/>
            <a:ext cx="32385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pull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Text Box 2">
            <a:extLst>
              <a:ext uri="{FF2B5EF4-FFF2-40B4-BE49-F238E27FC236}">
                <a16:creationId xmlns:a16="http://schemas.microsoft.com/office/drawing/2014/main" id="{DE259F77-1B3E-4D93-BCA5-F98E5AB97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888358"/>
            <a:ext cx="104411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在解决了线性方程组有解的判别条件之后，我们进一步来讨论线</a:t>
            </a:r>
          </a:p>
        </p:txBody>
      </p:sp>
      <p:sp>
        <p:nvSpPr>
          <p:cNvPr id="311299" name="Text Box 3">
            <a:extLst>
              <a:ext uri="{FF2B5EF4-FFF2-40B4-BE49-F238E27FC236}">
                <a16:creationId xmlns:a16="http://schemas.microsoft.com/office/drawing/2014/main" id="{C7159B23-C563-475C-A03D-8E919486E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506660"/>
            <a:ext cx="328242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性方程组解的结构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11300" name="Text Box 4">
            <a:extLst>
              <a:ext uri="{FF2B5EF4-FFF2-40B4-BE49-F238E27FC236}">
                <a16:creationId xmlns:a16="http://schemas.microsoft.com/office/drawing/2014/main" id="{E35B044A-76DF-4D6F-ABBA-43B0B91DE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437" y="1523899"/>
            <a:ext cx="78861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在方程组的解是唯一的情况下，当然没有什么结</a:t>
            </a:r>
          </a:p>
        </p:txBody>
      </p:sp>
      <p:sp>
        <p:nvSpPr>
          <p:cNvPr id="311301" name="Text Box 5">
            <a:extLst>
              <a:ext uri="{FF2B5EF4-FFF2-40B4-BE49-F238E27FC236}">
                <a16:creationId xmlns:a16="http://schemas.microsoft.com/office/drawing/2014/main" id="{9965019E-F68D-4C3A-9A58-4D2CAF5BF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2138954"/>
            <a:ext cx="151216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构问题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11302" name="Text Box 6">
            <a:extLst>
              <a:ext uri="{FF2B5EF4-FFF2-40B4-BE49-F238E27FC236}">
                <a16:creationId xmlns:a16="http://schemas.microsoft.com/office/drawing/2014/main" id="{894449F6-0C1E-442D-B57B-650609DF8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2992" y="2062935"/>
            <a:ext cx="98076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在有多个解的情况下，所谓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解的结构 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就是解与解之间的关系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1305" name="Text Box 9">
            <a:extLst>
              <a:ext uri="{FF2B5EF4-FFF2-40B4-BE49-F238E27FC236}">
                <a16:creationId xmlns:a16="http://schemas.microsoft.com/office/drawing/2014/main" id="{448323EA-8A66-4950-A2CA-2C31356C8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2808048"/>
            <a:ext cx="110172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下面我们将证明，虽然在这时有无穷多解，但是全部的解都可以用有</a:t>
            </a:r>
          </a:p>
        </p:txBody>
      </p:sp>
      <p:sp>
        <p:nvSpPr>
          <p:cNvPr id="311306" name="Text Box 10">
            <a:extLst>
              <a:ext uri="{FF2B5EF4-FFF2-40B4-BE49-F238E27FC236}">
                <a16:creationId xmlns:a16="http://schemas.microsoft.com/office/drawing/2014/main" id="{85F39025-9828-4F67-A4BC-CA01B4BC8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3537644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限多个解表示出来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11307" name="Text Box 11">
            <a:extLst>
              <a:ext uri="{FF2B5EF4-FFF2-40B4-BE49-F238E27FC236}">
                <a16:creationId xmlns:a16="http://schemas.microsoft.com/office/drawing/2014/main" id="{D58C308C-AE95-4A58-894A-955588AB7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699" y="3526733"/>
            <a:ext cx="754463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这就是本节要讨论的问题和要得到的主要结果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  <a:p>
            <a:pPr>
              <a:spcBef>
                <a:spcPct val="50000"/>
              </a:spcBef>
            </a:pP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1309" name="Text Box 13">
            <a:extLst>
              <a:ext uri="{FF2B5EF4-FFF2-40B4-BE49-F238E27FC236}">
                <a16:creationId xmlns:a16="http://schemas.microsoft.com/office/drawing/2014/main" id="{F1462EEB-BCCF-412F-9735-A68F20FC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5208" y="3526733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下</a:t>
            </a:r>
          </a:p>
        </p:txBody>
      </p:sp>
      <p:sp>
        <p:nvSpPr>
          <p:cNvPr id="311310" name="Text Box 14">
            <a:extLst>
              <a:ext uri="{FF2B5EF4-FFF2-40B4-BE49-F238E27FC236}">
                <a16:creationId xmlns:a16="http://schemas.microsoft.com/office/drawing/2014/main" id="{11918271-E3F1-4FB2-B110-FB999517F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4228491"/>
            <a:ext cx="110172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面的讨论当然都是针对方程组有解的情况，这一点就不再每次说明了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build="p" autoUpdateAnimBg="0"/>
      <p:bldP spid="311299" grpId="0"/>
      <p:bldP spid="311300" grpId="0"/>
      <p:bldP spid="311301" grpId="0"/>
      <p:bldP spid="311302" grpId="0"/>
      <p:bldP spid="311305" grpId="0"/>
      <p:bldP spid="311306" grpId="0"/>
      <p:bldP spid="311307" grpId="0"/>
      <p:bldP spid="311309" grpId="0"/>
      <p:bldP spid="3113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9" name="Rectangle 9">
            <a:extLst>
              <a:ext uri="{FF2B5EF4-FFF2-40B4-BE49-F238E27FC236}">
                <a16:creationId xmlns:a16="http://schemas.microsoft.com/office/drawing/2014/main" id="{A0189CEB-2BD7-466F-8B6B-CC54071EA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10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16" name="Rectangle 16">
            <a:extLst>
              <a:ext uri="{FF2B5EF4-FFF2-40B4-BE49-F238E27FC236}">
                <a16:creationId xmlns:a16="http://schemas.microsoft.com/office/drawing/2014/main" id="{3E6A44BA-3035-4B0B-989E-254F2A606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18" name="Rectangle 18">
            <a:extLst>
              <a:ext uri="{FF2B5EF4-FFF2-40B4-BE49-F238E27FC236}">
                <a16:creationId xmlns:a16="http://schemas.microsoft.com/office/drawing/2014/main" id="{7180295C-B149-4CE1-A227-5BC8CEF81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72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20" name="Rectangle 20">
            <a:extLst>
              <a:ext uri="{FF2B5EF4-FFF2-40B4-BE49-F238E27FC236}">
                <a16:creationId xmlns:a16="http://schemas.microsoft.com/office/drawing/2014/main" id="{D76F1F7C-8D59-4869-BCA8-FFE77C59A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22" name="Rectangle 22">
            <a:extLst>
              <a:ext uri="{FF2B5EF4-FFF2-40B4-BE49-F238E27FC236}">
                <a16:creationId xmlns:a16="http://schemas.microsoft.com/office/drawing/2014/main" id="{C745AD6E-E8AF-4DA2-9A7C-0B381477B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96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24" name="Rectangle 24">
            <a:extLst>
              <a:ext uri="{FF2B5EF4-FFF2-40B4-BE49-F238E27FC236}">
                <a16:creationId xmlns:a16="http://schemas.microsoft.com/office/drawing/2014/main" id="{CE93671C-DBFF-4AF0-A54E-FBFF102AD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96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727D430C-9EC2-45BB-877C-8EBBC7BB1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888358"/>
            <a:ext cx="104411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从本节开始，我们把线性方程组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的解写成列向量，即如果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3D60686F-5FBD-4714-9B3E-83B69CE4F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484" y="2165071"/>
            <a:ext cx="49174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是方程组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的解，则称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649FC966-8222-42F2-8952-FD4B8DCC1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4863710"/>
            <a:ext cx="49174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是方程组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的解向量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3">
                <a:extLst>
                  <a:ext uri="{FF2B5EF4-FFF2-40B4-BE49-F238E27FC236}">
                    <a16:creationId xmlns:a16="http://schemas.microsoft.com/office/drawing/2014/main" id="{B65F7A86-44D4-4208-A981-5FBE1FE8C9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9776" y="4864465"/>
                <a:ext cx="748883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它也是方程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𝜶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𝜶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𝜶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𝟎</m:t>
                    </m:r>
                  </m:oMath>
                </a14:m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的解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3" name="Text Box 3">
                <a:extLst>
                  <a:ext uri="{FF2B5EF4-FFF2-40B4-BE49-F238E27FC236}">
                    <a16:creationId xmlns:a16="http://schemas.microsoft.com/office/drawing/2014/main" id="{B65F7A86-44D4-4208-A981-5FBE1FE8C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9776" y="4864465"/>
                <a:ext cx="7488832" cy="523220"/>
              </a:xfrm>
              <a:prstGeom prst="rect">
                <a:avLst/>
              </a:prstGeom>
              <a:blipFill>
                <a:blip r:embed="rId8"/>
                <a:stretch>
                  <a:fillRect l="-1627" t="-15116" r="-1465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A7116F4-AA4D-43F0-9991-5F5E9AF9B483}"/>
                  </a:ext>
                </a:extLst>
              </p:cNvPr>
              <p:cNvSpPr txBox="1"/>
              <p:nvPr/>
            </p:nvSpPr>
            <p:spPr>
              <a:xfrm>
                <a:off x="3792965" y="1541221"/>
                <a:ext cx="46060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A7116F4-AA4D-43F0-9991-5F5E9AF9B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965" y="1541221"/>
                <a:ext cx="460606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9C5546E-D1EE-4D81-B3EA-08B4FD6E9F0D}"/>
                  </a:ext>
                </a:extLst>
              </p:cNvPr>
              <p:cNvSpPr txBox="1"/>
              <p:nvPr/>
            </p:nvSpPr>
            <p:spPr>
              <a:xfrm>
                <a:off x="3719736" y="2937017"/>
                <a:ext cx="1853036" cy="1655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9C5546E-D1EE-4D81-B3EA-08B4FD6E9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2937017"/>
                <a:ext cx="1853036" cy="16555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7883E2DF-ECF3-4C43-BE5E-DB92A8DC65C8}"/>
              </a:ext>
            </a:extLst>
          </p:cNvPr>
          <p:cNvGrpSpPr/>
          <p:nvPr/>
        </p:nvGrpSpPr>
        <p:grpSpPr>
          <a:xfrm>
            <a:off x="7752184" y="2957513"/>
            <a:ext cx="3672408" cy="1346422"/>
            <a:chOff x="7752184" y="2957513"/>
            <a:chExt cx="3672408" cy="134642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B1A154D-AF12-4455-AFEB-E1B6FF479E6C}"/>
                </a:ext>
              </a:extLst>
            </p:cNvPr>
            <p:cNvSpPr/>
            <p:nvPr/>
          </p:nvSpPr>
          <p:spPr>
            <a:xfrm>
              <a:off x="7752184" y="2957513"/>
              <a:ext cx="3672408" cy="134642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73DF358-35AF-4829-A2A1-97CA14A0C228}"/>
                    </a:ext>
                  </a:extLst>
                </p:cNvPr>
                <p:cNvSpPr txBox="1"/>
                <p:nvPr/>
              </p:nvSpPr>
              <p:spPr>
                <a:xfrm>
                  <a:off x="7752184" y="3100689"/>
                  <a:ext cx="3530325" cy="104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⋯+</m:t>
                                  </m:r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𝟐𝟏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𝟐𝟐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⋯⋯⋯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𝟐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𝟐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𝒔𝒏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𝒏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73DF358-35AF-4829-A2A1-97CA14A0C2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2184" y="3100689"/>
                  <a:ext cx="3530325" cy="104624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981818-F779-4EB1-A1D8-976D430E0404}"/>
              </a:ext>
            </a:extLst>
          </p:cNvPr>
          <p:cNvSpPr txBox="1"/>
          <p:nvPr/>
        </p:nvSpPr>
        <p:spPr>
          <a:xfrm>
            <a:off x="623392" y="637032"/>
            <a:ext cx="561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一、齐次线性方程组解的结构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2CF0854-561E-4BC6-B701-84564287B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340768"/>
            <a:ext cx="40324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设有齐次线性方程组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76E78F33-7D37-46C2-AC41-82B7B5D38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3921409"/>
            <a:ext cx="67082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由它的所有解构成的集合，称之为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解集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99F3C7-513A-4420-AA75-59EC075EB9AE}"/>
                  </a:ext>
                </a:extLst>
              </p:cNvPr>
              <p:cNvSpPr txBox="1"/>
              <p:nvPr/>
            </p:nvSpPr>
            <p:spPr>
              <a:xfrm>
                <a:off x="2135560" y="2038613"/>
                <a:ext cx="7811817" cy="1644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⋯⋯⋯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𝒔</m:t>
                                                </m:r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𝒔</m:t>
                                                </m:r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𝒔𝒏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𝒏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99F3C7-513A-4420-AA75-59EC075EB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038613"/>
                <a:ext cx="7811817" cy="16448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94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D39357-0BCE-4677-82D5-B11B80DECCA7}"/>
              </a:ext>
            </a:extLst>
          </p:cNvPr>
          <p:cNvSpPr txBox="1"/>
          <p:nvPr/>
        </p:nvSpPr>
        <p:spPr>
          <a:xfrm>
            <a:off x="1229954" y="749514"/>
            <a:ext cx="284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解的性质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B089904-6E9F-43F9-926E-2FC46EA8A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111" y="1389623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方程组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有下面两个重要性质：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536A34C-8234-4EB3-A6A4-92EDD1A5B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111" y="2010435"/>
            <a:ext cx="831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性质 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方程组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两个解的和还是方程组的解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5CA583-F292-4CD0-ACDF-976D3605B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111" y="2660791"/>
            <a:ext cx="114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证明：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392D1F88-CAD2-449E-99A5-F35783C73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352" y="2696369"/>
            <a:ext cx="792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设  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DD404413-3782-4E81-ABED-A32DB753A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5468377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是方程组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的两个解，则有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7287515-7434-4338-BF97-5889EE3BE04F}"/>
                  </a:ext>
                </a:extLst>
              </p:cNvPr>
              <p:cNvSpPr txBox="1"/>
              <p:nvPr/>
            </p:nvSpPr>
            <p:spPr>
              <a:xfrm>
                <a:off x="2783632" y="3537189"/>
                <a:ext cx="1926168" cy="1653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7287515-7434-4338-BF97-5889EE3BE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3537189"/>
                <a:ext cx="1926168" cy="1653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6">
            <a:extLst>
              <a:ext uri="{FF2B5EF4-FFF2-40B4-BE49-F238E27FC236}">
                <a16:creationId xmlns:a16="http://schemas.microsoft.com/office/drawing/2014/main" id="{B551D979-F8D4-43E6-8A65-8B6838337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3426" y="4104365"/>
            <a:ext cx="792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和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44D4EB0-3A2B-45AD-92CD-4BFBFE23A342}"/>
                  </a:ext>
                </a:extLst>
              </p:cNvPr>
              <p:cNvSpPr txBox="1"/>
              <p:nvPr/>
            </p:nvSpPr>
            <p:spPr>
              <a:xfrm>
                <a:off x="6600056" y="3537189"/>
                <a:ext cx="1769074" cy="1655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44D4EB0-3A2B-45AD-92CD-4BFBFE23A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3537189"/>
                <a:ext cx="1769074" cy="1655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91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 autoUpdateAnimBg="0"/>
      <p:bldP spid="5" grpId="0"/>
      <p:bldP spid="6" grpId="0"/>
      <p:bldP spid="7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96BF634E-734B-4E01-9833-FDBA2CB7E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336" y="3740024"/>
          <a:ext cx="40322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1484371" imgH="293688" progId="Word.Picture.8">
                  <p:embed/>
                </p:oleObj>
              </mc:Choice>
              <mc:Fallback>
                <p:oleObj name="图片" r:id="rId2" imgW="1484371" imgH="293688" progId="Word.Picture.8">
                  <p:embed/>
                  <p:pic>
                    <p:nvPicPr>
                      <p:cNvPr id="4" name="Object 10">
                        <a:extLst>
                          <a:ext uri="{FF2B5EF4-FFF2-40B4-BE49-F238E27FC236}">
                            <a16:creationId xmlns:a16="http://schemas.microsoft.com/office/drawing/2014/main" id="{96BF634E-734B-4E01-9833-FDBA2CB7E5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36" y="3740024"/>
                        <a:ext cx="4032250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BE355E-F4CF-40F7-BD65-9378188C6856}"/>
                  </a:ext>
                </a:extLst>
              </p:cNvPr>
              <p:cNvSpPr txBox="1"/>
              <p:nvPr/>
            </p:nvSpPr>
            <p:spPr>
              <a:xfrm>
                <a:off x="2855640" y="1258781"/>
                <a:ext cx="4973156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BE355E-F4CF-40F7-BD65-9378188C6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1258781"/>
                <a:ext cx="4973156" cy="1229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75AF8D-B37A-4159-BF8E-2918F5C55EA5}"/>
                  </a:ext>
                </a:extLst>
              </p:cNvPr>
              <p:cNvSpPr txBox="1"/>
              <p:nvPr/>
            </p:nvSpPr>
            <p:spPr>
              <a:xfrm>
                <a:off x="2855639" y="2510585"/>
                <a:ext cx="4886594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75AF8D-B37A-4159-BF8E-2918F5C55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39" y="2510585"/>
                <a:ext cx="4886594" cy="1229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B3E061-B6AB-4CB0-96B8-4D03532ADE6F}"/>
                  </a:ext>
                </a:extLst>
              </p:cNvPr>
              <p:cNvSpPr txBox="1"/>
              <p:nvPr/>
            </p:nvSpPr>
            <p:spPr>
              <a:xfrm>
                <a:off x="2769077" y="4541712"/>
                <a:ext cx="5789534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B3E061-B6AB-4CB0-96B8-4D03532AD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077" y="4541712"/>
                <a:ext cx="5789534" cy="1229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1E3AB69A-7FE7-4E75-A9D3-E952243C3561}"/>
              </a:ext>
            </a:extLst>
          </p:cNvPr>
          <p:cNvGrpSpPr/>
          <p:nvPr/>
        </p:nvGrpSpPr>
        <p:grpSpPr>
          <a:xfrm>
            <a:off x="7896200" y="404664"/>
            <a:ext cx="3807518" cy="1229439"/>
            <a:chOff x="7896200" y="404664"/>
            <a:chExt cx="3807518" cy="1229439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1812F5AC-5A76-409F-ADD9-46F58A1565ED}"/>
                </a:ext>
              </a:extLst>
            </p:cNvPr>
            <p:cNvSpPr/>
            <p:nvPr/>
          </p:nvSpPr>
          <p:spPr>
            <a:xfrm>
              <a:off x="7896200" y="404664"/>
              <a:ext cx="3672408" cy="1229439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0C0F74C-D5F0-4851-9B63-29587C0A90C0}"/>
                    </a:ext>
                  </a:extLst>
                </p:cNvPr>
                <p:cNvSpPr txBox="1"/>
                <p:nvPr/>
              </p:nvSpPr>
              <p:spPr>
                <a:xfrm>
                  <a:off x="7968208" y="496259"/>
                  <a:ext cx="3735510" cy="104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⋯+</m:t>
                                  </m:r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𝟐𝟏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𝟐𝟐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⋯⋯⋯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𝟐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𝟐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𝒔𝒏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𝒏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0C0F74C-D5F0-4851-9B63-29587C0A90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8208" y="496259"/>
                  <a:ext cx="3735510" cy="104624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9039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5077DAF9-DD9D-43A0-9DFD-B9F538DA3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836712"/>
            <a:ext cx="1512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这说明</a:t>
            </a: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B88E6CB3-ECE1-446A-8DD7-FDEAF80E1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3573016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确实是方程组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的解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DB9B15FC-0D6E-46D7-A9FB-6BEDDBDF6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8368" y="5085184"/>
            <a:ext cx="1179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5745BB-6DF5-45DB-93BA-D9815B608E9F}"/>
                  </a:ext>
                </a:extLst>
              </p:cNvPr>
              <p:cNvSpPr txBox="1"/>
              <p:nvPr/>
            </p:nvSpPr>
            <p:spPr>
              <a:xfrm>
                <a:off x="3099892" y="1557458"/>
                <a:ext cx="3385862" cy="1655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5745BB-6DF5-45DB-93BA-D9815B608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892" y="1557458"/>
                <a:ext cx="3385862" cy="16555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13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30EDDD0A-AD08-4FCA-8464-B5B53EC5B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819234"/>
            <a:ext cx="83529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性质 </a:t>
            </a:r>
            <a:r>
              <a:rPr kumimoji="1" lang="en-US" altLang="zh-CN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en-US" altLang="zh-CN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解的常数倍还是方程组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的解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1C053E6-2F68-4160-A7EA-4125DAD21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1543030"/>
            <a:ext cx="1143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证明：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505CD94-FD0C-4925-A21F-5CEC3EDCF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056" y="1573193"/>
            <a:ext cx="890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A4EBE7B7-57A3-4490-B2CD-748083AE3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4092844"/>
            <a:ext cx="4608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是方程组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的解，即有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006A472-8690-4BC4-AD00-5D68A11D563C}"/>
                  </a:ext>
                </a:extLst>
              </p:cNvPr>
              <p:cNvSpPr txBox="1"/>
              <p:nvPr/>
            </p:nvSpPr>
            <p:spPr>
              <a:xfrm>
                <a:off x="4682820" y="2310809"/>
                <a:ext cx="1926168" cy="1653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006A472-8690-4BC4-AD00-5D68A11D5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20" y="2310809"/>
                <a:ext cx="1926168" cy="1653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22F8370-E817-4066-B28D-C4B377281F4B}"/>
                  </a:ext>
                </a:extLst>
              </p:cNvPr>
              <p:cNvSpPr txBox="1"/>
              <p:nvPr/>
            </p:nvSpPr>
            <p:spPr>
              <a:xfrm>
                <a:off x="3159326" y="4774776"/>
                <a:ext cx="4973156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22F8370-E817-4066-B28D-C4B377281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326" y="4774776"/>
                <a:ext cx="4973156" cy="1229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516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  <p:bldP spid="4" grpId="0" build="p" autoUpdateAnimBg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20">
                <a:extLst>
                  <a:ext uri="{FF2B5EF4-FFF2-40B4-BE49-F238E27FC236}">
                    <a16:creationId xmlns:a16="http://schemas.microsoft.com/office/drawing/2014/main" id="{7C45D68B-1111-4B71-97C5-52CBC8C9D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385" y="836712"/>
                <a:ext cx="3168352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𝒄</m:t>
                    </m:r>
                  </m:oMath>
                </a14:m>
                <a:r>
                  <a:rPr kumimoji="1" lang="zh-CN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为一常数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则有</a:t>
                </a:r>
              </a:p>
            </p:txBody>
          </p:sp>
        </mc:Choice>
        <mc:Fallback xmlns="">
          <p:sp>
            <p:nvSpPr>
              <p:cNvPr id="2" name="Text Box 20">
                <a:extLst>
                  <a:ext uri="{FF2B5EF4-FFF2-40B4-BE49-F238E27FC236}">
                    <a16:creationId xmlns:a16="http://schemas.microsoft.com/office/drawing/2014/main" id="{7C45D68B-1111-4B71-97C5-52CBC8C9D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5" y="836712"/>
                <a:ext cx="3168352" cy="519113"/>
              </a:xfrm>
              <a:prstGeom prst="rect">
                <a:avLst/>
              </a:prstGeom>
              <a:blipFill>
                <a:blip r:embed="rId2"/>
                <a:stretch>
                  <a:fillRect l="-3846" t="-14118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614A5B3-02C4-4F5E-9B15-0DAC40D50A37}"/>
                  </a:ext>
                </a:extLst>
              </p:cNvPr>
              <p:cNvSpPr txBox="1"/>
              <p:nvPr/>
            </p:nvSpPr>
            <p:spPr>
              <a:xfrm>
                <a:off x="2159029" y="1536911"/>
                <a:ext cx="7471661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𝒄𝒌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nary>
                            <m:naryPr>
                              <m:chr m:val="∑"/>
                              <m:ctrlP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      (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614A5B3-02C4-4F5E-9B15-0DAC40D50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29" y="1536911"/>
                <a:ext cx="7471661" cy="1229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0">
            <a:extLst>
              <a:ext uri="{FF2B5EF4-FFF2-40B4-BE49-F238E27FC236}">
                <a16:creationId xmlns:a16="http://schemas.microsoft.com/office/drawing/2014/main" id="{ACADC730-1483-4800-B45F-654D95843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5" y="3018076"/>
            <a:ext cx="1512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就是说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D526DAE-1DD2-4201-8D9D-494DE4C4D4AF}"/>
                  </a:ext>
                </a:extLst>
              </p:cNvPr>
              <p:cNvSpPr txBox="1"/>
              <p:nvPr/>
            </p:nvSpPr>
            <p:spPr>
              <a:xfrm>
                <a:off x="4511824" y="3625507"/>
                <a:ext cx="2033121" cy="1655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𝒄𝒌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D526DAE-1DD2-4201-8D9D-494DE4C4D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3625507"/>
                <a:ext cx="2033121" cy="1655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0">
            <a:extLst>
              <a:ext uri="{FF2B5EF4-FFF2-40B4-BE49-F238E27FC236}">
                <a16:creationId xmlns:a16="http://schemas.microsoft.com/office/drawing/2014/main" id="{3C3ACE13-CA3C-4F5D-BD42-4F3A07C1A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175" y="5355327"/>
            <a:ext cx="31214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也是方程组的解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6BF68683-75EF-4416-8233-F5D6342A8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2424" y="5355327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证毕</a:t>
            </a:r>
          </a:p>
        </p:txBody>
      </p:sp>
    </p:spTree>
    <p:extLst>
      <p:ext uri="{BB962C8B-B14F-4D97-AF65-F5344CB8AC3E}">
        <p14:creationId xmlns:p14="http://schemas.microsoft.com/office/powerpoint/2010/main" val="137298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F8A6F4E1-CF6A-44C4-BC0E-4A3D48B26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819234"/>
            <a:ext cx="10369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由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和性质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得到，齐次线性方程组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的有限个解的线性组合</a:t>
            </a:r>
            <a:endParaRPr kumimoji="1"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3F6AB2-37F0-412F-8D81-5F1ED53D31B8}"/>
              </a:ext>
            </a:extLst>
          </p:cNvPr>
          <p:cNvSpPr txBox="1"/>
          <p:nvPr/>
        </p:nvSpPr>
        <p:spPr>
          <a:xfrm>
            <a:off x="479376" y="1502467"/>
            <a:ext cx="2736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还是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的解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  <p:graphicFrame>
        <p:nvGraphicFramePr>
          <p:cNvPr id="6" name="Object 2">
            <a:hlinkClick r:id="" action="ppaction://ole?verb=0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0805719D-55A1-4129-9CCC-FF93ECA82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735219"/>
              </p:ext>
            </p:extLst>
          </p:nvPr>
        </p:nvGraphicFramePr>
        <p:xfrm>
          <a:off x="1276500" y="2473097"/>
          <a:ext cx="43656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演示文稿" r:id="rId2" imgW="4484688" imgH="3363913" progId="PowerPoint.Show.8">
                  <p:embed/>
                </p:oleObj>
              </mc:Choice>
              <mc:Fallback>
                <p:oleObj name="演示文稿" r:id="rId2" imgW="4484688" imgH="3363913" progId="PowerPoint.Show.8">
                  <p:embed/>
                  <p:pic>
                    <p:nvPicPr>
                      <p:cNvPr id="316418" name="Object 2">
                        <a:hlinkClick r:id="" action="ppaction://ole?verb=0" highlightClick="1"/>
                        <a:hlinkHover r:id="" action="ppaction://macro?name=Macro1" highlightClick="1"/>
                        <a:extLst>
                          <a:ext uri="{FF2B5EF4-FFF2-40B4-BE49-F238E27FC236}">
                            <a16:creationId xmlns:a16="http://schemas.microsoft.com/office/drawing/2014/main" id="{7FB334D0-F2A1-4AE4-AB66-C4FDB5DD06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500" t="3224" r="34166" b="88982"/>
                      <a:stretch>
                        <a:fillRect/>
                      </a:stretch>
                    </p:blipFill>
                    <p:spPr bwMode="auto">
                      <a:xfrm>
                        <a:off x="1276500" y="2473097"/>
                        <a:ext cx="43656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1">
            <a:extLst>
              <a:ext uri="{FF2B5EF4-FFF2-40B4-BE49-F238E27FC236}">
                <a16:creationId xmlns:a16="http://schemas.microsoft.com/office/drawing/2014/main" id="{18026658-8AE3-4115-B821-9C8046D90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560" y="2611006"/>
            <a:ext cx="478304" cy="396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3">
            <a:hlinkClick r:id="" action="ppaction://ole?verb=0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BD3FC5E9-9295-4757-BAE5-AA2A05A2F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095126"/>
              </p:ext>
            </p:extLst>
          </p:nvPr>
        </p:nvGraphicFramePr>
        <p:xfrm>
          <a:off x="1297714" y="3286386"/>
          <a:ext cx="43656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5" imgW="4484688" imgH="3363913" progId="PowerPoint.Show.8">
                  <p:embed/>
                </p:oleObj>
              </mc:Choice>
              <mc:Fallback>
                <p:oleObj name="Presentation" r:id="rId5" imgW="4484688" imgH="3363913" progId="PowerPoint.Show.8">
                  <p:embed/>
                  <p:pic>
                    <p:nvPicPr>
                      <p:cNvPr id="316419" name="Object 3">
                        <a:hlinkClick r:id="" action="ppaction://ole?verb=0" highlightClick="1"/>
                        <a:hlinkHover r:id="" action="ppaction://macro?name=Macro1" highlightClick="1"/>
                        <a:extLst>
                          <a:ext uri="{FF2B5EF4-FFF2-40B4-BE49-F238E27FC236}">
                            <a16:creationId xmlns:a16="http://schemas.microsoft.com/office/drawing/2014/main" id="{7F611F35-06C1-4EB9-A99D-42B1EB0DC2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667" t="3224" r="35834" b="88982"/>
                      <a:stretch>
                        <a:fillRect/>
                      </a:stretch>
                    </p:blipFill>
                    <p:spPr bwMode="auto">
                      <a:xfrm>
                        <a:off x="1297714" y="3286386"/>
                        <a:ext cx="43656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2">
            <a:extLst>
              <a:ext uri="{FF2B5EF4-FFF2-40B4-BE49-F238E27FC236}">
                <a16:creationId xmlns:a16="http://schemas.microsoft.com/office/drawing/2014/main" id="{ED77B92A-B148-4B81-A1C2-05AEC6C64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339" y="3429000"/>
            <a:ext cx="504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23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20" name="Text Box 4">
            <a:extLst>
              <a:ext uri="{FF2B5EF4-FFF2-40B4-BE49-F238E27FC236}">
                <a16:creationId xmlns:a16="http://schemas.microsoft.com/office/drawing/2014/main" id="{07F58EF0-C4E4-4AEA-947A-B9E6A9591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498" y="874715"/>
            <a:ext cx="395139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4.  </a:t>
            </a:r>
            <a:r>
              <a:rPr kumimoji="1" lang="zh-CN" altLang="en-US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基础解系的定义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1" name="Text Box 5">
                <a:extLst>
                  <a:ext uri="{FF2B5EF4-FFF2-40B4-BE49-F238E27FC236}">
                    <a16:creationId xmlns:a16="http://schemas.microsoft.com/office/drawing/2014/main" id="{53033E8D-14AE-4838-B07F-E3A0F6DA05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8498" y="1646359"/>
                <a:ext cx="10288102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定义 </a:t>
                </a: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19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齐次线性方程组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的一组解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r>
                      <a:rPr kumimoji="1" lang="en-US" altLang="zh-CN" sz="2800" b="1" i="1" smtClean="0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称为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(1)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的一</a:t>
                </a:r>
                <a:endParaRPr kumimoji="1" lang="en-US" altLang="zh-CN" sz="28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16421" name="Text Box 5">
                <a:extLst>
                  <a:ext uri="{FF2B5EF4-FFF2-40B4-BE49-F238E27FC236}">
                    <a16:creationId xmlns:a16="http://schemas.microsoft.com/office/drawing/2014/main" id="{53033E8D-14AE-4838-B07F-E3A0F6DA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8498" y="1646359"/>
                <a:ext cx="10288102" cy="523220"/>
              </a:xfrm>
              <a:prstGeom prst="rect">
                <a:avLst/>
              </a:prstGeom>
              <a:blipFill>
                <a:blip r:embed="rId2"/>
                <a:stretch>
                  <a:fillRect l="-1244" t="-16279" r="-1303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6426" name="Object 10">
            <a:hlinkClick r:id="" action="ppaction://ole?verb=0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5CFBC536-E438-4EC7-BE1E-77FE56B11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66705"/>
              </p:ext>
            </p:extLst>
          </p:nvPr>
        </p:nvGraphicFramePr>
        <p:xfrm>
          <a:off x="1343472" y="4650834"/>
          <a:ext cx="16843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演示文稿" r:id="rId3" imgW="4484688" imgH="3363913" progId="PowerPoint.Show.8">
                  <p:embed/>
                </p:oleObj>
              </mc:Choice>
              <mc:Fallback>
                <p:oleObj name="演示文稿" r:id="rId3" imgW="4484688" imgH="3363913" progId="PowerPoint.Show.8">
                  <p:embed/>
                  <p:pic>
                    <p:nvPicPr>
                      <p:cNvPr id="316426" name="Object 10">
                        <a:hlinkClick r:id="" action="ppaction://ole?verb=0" highlightClick="1"/>
                        <a:hlinkHover r:id="" action="ppaction://macro?name=Macro1" highlightClick="1"/>
                        <a:extLst>
                          <a:ext uri="{FF2B5EF4-FFF2-40B4-BE49-F238E27FC236}">
                            <a16:creationId xmlns:a16="http://schemas.microsoft.com/office/drawing/2014/main" id="{5CFBC536-E438-4EC7-BE1E-77FE56B11F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333" t="7678" r="63333" b="85641"/>
                      <a:stretch>
                        <a:fillRect/>
                      </a:stretch>
                    </p:blipFill>
                    <p:spPr bwMode="auto">
                      <a:xfrm>
                        <a:off x="1343472" y="4650834"/>
                        <a:ext cx="16843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6429" name="Picture 13">
            <a:extLst>
              <a:ext uri="{FF2B5EF4-FFF2-40B4-BE49-F238E27FC236}">
                <a16:creationId xmlns:a16="http://schemas.microsoft.com/office/drawing/2014/main" id="{0D300CA4-1DD9-4949-9E34-4BABA995D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4774804"/>
            <a:ext cx="504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57E4449-CC51-4BB2-91D8-C1D239EBF009}"/>
              </a:ext>
            </a:extLst>
          </p:cNvPr>
          <p:cNvSpPr txBox="1"/>
          <p:nvPr/>
        </p:nvSpPr>
        <p:spPr>
          <a:xfrm>
            <a:off x="461398" y="2329717"/>
            <a:ext cx="4068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个基础解系，如果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23301D7-F88C-49B7-B332-859CD7BE07B6}"/>
                  </a:ext>
                </a:extLst>
              </p:cNvPr>
              <p:cNvSpPr txBox="1"/>
              <p:nvPr/>
            </p:nvSpPr>
            <p:spPr>
              <a:xfrm>
                <a:off x="1208498" y="3089137"/>
                <a:ext cx="84158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1)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的任一解都能表成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⋯,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𝒕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的线性组合；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23301D7-F88C-49B7-B332-859CD7BE0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498" y="3089137"/>
                <a:ext cx="8415894" cy="523220"/>
              </a:xfrm>
              <a:prstGeom prst="rect">
                <a:avLst/>
              </a:prstGeom>
              <a:blipFill>
                <a:blip r:embed="rId6"/>
                <a:stretch>
                  <a:fillRect l="-1521" t="-17442" r="-290" b="-337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9FD1334-03F8-4D3C-B7C4-5E3DDFD0BF61}"/>
                  </a:ext>
                </a:extLst>
              </p:cNvPr>
              <p:cNvSpPr txBox="1"/>
              <p:nvPr/>
            </p:nvSpPr>
            <p:spPr>
              <a:xfrm>
                <a:off x="1208498" y="3822274"/>
                <a:ext cx="84158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2)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⋯,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𝒕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线性无关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9FD1334-03F8-4D3C-B7C4-5E3DDFD0B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498" y="3822274"/>
                <a:ext cx="8415894" cy="523220"/>
              </a:xfrm>
              <a:prstGeom prst="rect">
                <a:avLst/>
              </a:prstGeom>
              <a:blipFill>
                <a:blip r:embed="rId7"/>
                <a:stretch>
                  <a:fillRect l="-1521" t="-16279" b="-39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6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6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0" grpId="0" build="p" autoUpdateAnimBg="0"/>
      <p:bldP spid="316421" grpId="0" build="p" autoUpdateAnimBg="0"/>
      <p:bldP spid="16" grpId="0"/>
      <p:bldP spid="4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A9D19FBC-22E2-4B33-8426-AFEB9076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498" y="874715"/>
            <a:ext cx="5607582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kumimoji="1" lang="zh-CN" altLang="en-US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基础解系的存在性和求法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3FA5459-008D-4C44-81E5-E0CC128C7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498" y="1628800"/>
            <a:ext cx="935199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齐次线性方程组的基础解系的存在性由下面的定理给出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38709C3-4200-4660-9EBA-1F530A8D0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498" y="2444441"/>
            <a:ext cx="1072015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定理 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在齐次线性方程组有非零解的情形下，它有基础解系，并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F873AB1C-79AE-4EEC-A86D-0EE647CA33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384" y="3169443"/>
                <a:ext cx="11089232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且基础解系所含解的个数等于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kumimoji="1" lang="zh-CN" altLang="en-US" sz="2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kumimoji="1" lang="en-US" altLang="zh-CN" sz="28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表示系数矩阵的秩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F873AB1C-79AE-4EEC-A86D-0EE647CA3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4" y="3169443"/>
                <a:ext cx="11089232" cy="523220"/>
              </a:xfrm>
              <a:prstGeom prst="rect">
                <a:avLst/>
              </a:prstGeom>
              <a:blipFill>
                <a:blip r:embed="rId2"/>
                <a:stretch>
                  <a:fillRect l="-1154" t="-17442" r="-1319" b="-395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49A8755-63A5-461F-AC45-A4C187662C0E}"/>
                  </a:ext>
                </a:extLst>
              </p:cNvPr>
              <p:cNvSpPr txBox="1"/>
              <p:nvPr/>
            </p:nvSpPr>
            <p:spPr>
              <a:xfrm>
                <a:off x="1271464" y="3933056"/>
                <a:ext cx="7200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下面我们将看到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就是自由未知量的个数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49A8755-63A5-461F-AC45-A4C187662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3933056"/>
                <a:ext cx="7200800" cy="523220"/>
              </a:xfrm>
              <a:prstGeom prst="rect">
                <a:avLst/>
              </a:prstGeom>
              <a:blipFill>
                <a:blip r:embed="rId3"/>
                <a:stretch>
                  <a:fillRect l="-1778" t="-13953" r="-4149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6">
            <a:extLst>
              <a:ext uri="{FF2B5EF4-FFF2-40B4-BE49-F238E27FC236}">
                <a16:creationId xmlns:a16="http://schemas.microsoft.com/office/drawing/2014/main" id="{8FF6F58A-13C3-41E8-B3A8-A0864739C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997" y="4705980"/>
            <a:ext cx="9001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定理的证明事实上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提供了一个具体找基础解系的方法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344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  <p:bldP spid="6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3">
                <a:extLst>
                  <a:ext uri="{FF2B5EF4-FFF2-40B4-BE49-F238E27FC236}">
                    <a16:creationId xmlns:a16="http://schemas.microsoft.com/office/drawing/2014/main" id="{0ADEF36A-B562-4DC9-8B38-8B25A25C16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9616" y="874715"/>
                <a:ext cx="907300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设方程组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的系数矩阵的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秩为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，不妨设左上角的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级子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Text Box 3">
                <a:extLst>
                  <a:ext uri="{FF2B5EF4-FFF2-40B4-BE49-F238E27FC236}">
                    <a16:creationId xmlns:a16="http://schemas.microsoft.com/office/drawing/2014/main" id="{0ADEF36A-B562-4DC9-8B38-8B25A25C1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9616" y="874715"/>
                <a:ext cx="9073008" cy="523220"/>
              </a:xfrm>
              <a:prstGeom prst="rect">
                <a:avLst/>
              </a:prstGeom>
              <a:blipFill>
                <a:blip r:embed="rId2"/>
                <a:stretch>
                  <a:fillRect l="-1344" t="-13953" r="-134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4">
            <a:extLst>
              <a:ext uri="{FF2B5EF4-FFF2-40B4-BE49-F238E27FC236}">
                <a16:creationId xmlns:a16="http://schemas.microsoft.com/office/drawing/2014/main" id="{70B07B9A-42A4-4618-AC98-4B3D5E439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498" y="874715"/>
            <a:ext cx="171915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证明：</a:t>
            </a:r>
            <a:endParaRPr kumimoji="1" lang="zh-CN" altLang="en-US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CD8937-D6CE-4AD2-8B75-E190D9D63166}"/>
              </a:ext>
            </a:extLst>
          </p:cNvPr>
          <p:cNvSpPr txBox="1"/>
          <p:nvPr/>
        </p:nvSpPr>
        <p:spPr>
          <a:xfrm>
            <a:off x="479376" y="1628800"/>
            <a:ext cx="2016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式不为零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0CDF7-1920-4CC8-81CE-3AB432FDDE71}"/>
              </a:ext>
            </a:extLst>
          </p:cNvPr>
          <p:cNvSpPr txBox="1"/>
          <p:nvPr/>
        </p:nvSpPr>
        <p:spPr>
          <a:xfrm>
            <a:off x="2351584" y="1628800"/>
            <a:ext cx="8424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于是按照上一节的分析，方程组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可以改写为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84DCD71-0081-4B42-A2B8-882190729499}"/>
                  </a:ext>
                </a:extLst>
              </p:cNvPr>
              <p:cNvSpPr txBox="1"/>
              <p:nvPr/>
            </p:nvSpPr>
            <p:spPr>
              <a:xfrm>
                <a:off x="640405" y="2399145"/>
                <a:ext cx="10353282" cy="1673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⋯−</m:t>
                                </m:r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⋯⋯⋯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𝒓𝒓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𝒏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84DCD71-0081-4B42-A2B8-882190729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05" y="2399145"/>
                <a:ext cx="10353282" cy="1673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>
                <a:extLst>
                  <a:ext uri="{FF2B5EF4-FFF2-40B4-BE49-F238E27FC236}">
                    <a16:creationId xmlns:a16="http://schemas.microsoft.com/office/drawing/2014/main" id="{EE1E1093-6D2D-4340-93BC-EC1A20D79C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1259" y="4344853"/>
                <a:ext cx="103532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那么方程组没有自由未知量，方程组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(2)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右端全为零，</a:t>
                </a:r>
              </a:p>
            </p:txBody>
          </p:sp>
        </mc:Choice>
        <mc:Fallback xmlns="">
          <p:sp>
            <p:nvSpPr>
              <p:cNvPr id="9" name="Text Box 8">
                <a:extLst>
                  <a:ext uri="{FF2B5EF4-FFF2-40B4-BE49-F238E27FC236}">
                    <a16:creationId xmlns:a16="http://schemas.microsoft.com/office/drawing/2014/main" id="{EE1E1093-6D2D-4340-93BC-EC1A20D79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1259" y="4344853"/>
                <a:ext cx="10353282" cy="523220"/>
              </a:xfrm>
              <a:prstGeom prst="rect">
                <a:avLst/>
              </a:prstGeom>
              <a:blipFill>
                <a:blip r:embed="rId4"/>
                <a:stretch>
                  <a:fillRect l="-1237" t="-15116" r="-4594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8">
                <a:extLst>
                  <a:ext uri="{FF2B5EF4-FFF2-40B4-BE49-F238E27FC236}">
                    <a16:creationId xmlns:a16="http://schemas.microsoft.com/office/drawing/2014/main" id="{6E979732-3F13-4E2B-9C51-C2A0A026A4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0405" y="4967590"/>
                <a:ext cx="103532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这时方程组只有零解，当然也就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不存在基础解系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 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以下设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Text Box 8">
                <a:extLst>
                  <a:ext uri="{FF2B5EF4-FFF2-40B4-BE49-F238E27FC236}">
                    <a16:creationId xmlns:a16="http://schemas.microsoft.com/office/drawing/2014/main" id="{6E979732-3F13-4E2B-9C51-C2A0A026A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405" y="4967590"/>
                <a:ext cx="10353282" cy="523220"/>
              </a:xfrm>
              <a:prstGeom prst="rect">
                <a:avLst/>
              </a:prstGeom>
              <a:blipFill>
                <a:blip r:embed="rId5"/>
                <a:stretch>
                  <a:fillRect l="-1178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19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88A43D-EC1E-4534-BE38-4047961AFAA2}"/>
                  </a:ext>
                </a:extLst>
              </p:cNvPr>
              <p:cNvSpPr txBox="1"/>
              <p:nvPr/>
            </p:nvSpPr>
            <p:spPr>
              <a:xfrm>
                <a:off x="1199456" y="980728"/>
                <a:ext cx="102971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我们知道，把自由未知量的一组值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代入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(2)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，就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88A43D-EC1E-4534-BE38-4047961AF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980728"/>
                <a:ext cx="10297144" cy="523220"/>
              </a:xfrm>
              <a:prstGeom prst="rect">
                <a:avLst/>
              </a:prstGeom>
              <a:blipFill>
                <a:blip r:embed="rId2"/>
                <a:stretch>
                  <a:fillRect l="-1243" t="-15116" r="-1007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AD83D804-746B-4465-A8F1-24563F5ACAD4}"/>
              </a:ext>
            </a:extLst>
          </p:cNvPr>
          <p:cNvSpPr txBox="1"/>
          <p:nvPr/>
        </p:nvSpPr>
        <p:spPr>
          <a:xfrm>
            <a:off x="479376" y="1628800"/>
            <a:ext cx="8280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唯一地决定了方程组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也就是方程组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的一个解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A42002-3AA9-45E4-88C2-82B466C7237C}"/>
              </a:ext>
            </a:extLst>
          </p:cNvPr>
          <p:cNvSpPr txBox="1"/>
          <p:nvPr/>
        </p:nvSpPr>
        <p:spPr>
          <a:xfrm>
            <a:off x="8760296" y="1628800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换句话说，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8A73AA-D549-4B2D-8EA9-E87E78364422}"/>
              </a:ext>
            </a:extLst>
          </p:cNvPr>
          <p:cNvSpPr txBox="1"/>
          <p:nvPr/>
        </p:nvSpPr>
        <p:spPr>
          <a:xfrm>
            <a:off x="493112" y="2348880"/>
            <a:ext cx="11219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的任意两个解，只要自由未知量的值一样，这两个解就完全一样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7E8AB7-C503-44F3-9AC8-9EA81775E67B}"/>
              </a:ext>
            </a:extLst>
          </p:cNvPr>
          <p:cNvSpPr txBox="1"/>
          <p:nvPr/>
        </p:nvSpPr>
        <p:spPr>
          <a:xfrm>
            <a:off x="479376" y="3043856"/>
            <a:ext cx="11377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特别地，如果在一个解中自由未知量的值全为零，那么这个解一定是零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598123-7297-4595-8C73-8E591A6BFCC9}"/>
              </a:ext>
            </a:extLst>
          </p:cNvPr>
          <p:cNvSpPr txBox="1"/>
          <p:nvPr/>
        </p:nvSpPr>
        <p:spPr>
          <a:xfrm>
            <a:off x="456671" y="3763936"/>
            <a:ext cx="9588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EAD077E-6ADD-4DBD-8D77-67B5EDD44EDC}"/>
                  </a:ext>
                </a:extLst>
              </p:cNvPr>
              <p:cNvSpPr txBox="1"/>
              <p:nvPr/>
            </p:nvSpPr>
            <p:spPr>
              <a:xfrm>
                <a:off x="1169382" y="4458912"/>
                <a:ext cx="106872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因此，为了求方程组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个不同的解，在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(2)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中，令自由未知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EAD077E-6ADD-4DBD-8D77-67B5EDD44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382" y="4458912"/>
                <a:ext cx="10687258" cy="523220"/>
              </a:xfrm>
              <a:prstGeom prst="rect">
                <a:avLst/>
              </a:prstGeom>
              <a:blipFill>
                <a:blip r:embed="rId3"/>
                <a:stretch>
                  <a:fillRect l="-1198" t="-13953" r="-1027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E499EB2-A399-40C0-8B0E-F389E7A27D9C}"/>
                  </a:ext>
                </a:extLst>
              </p:cNvPr>
              <p:cNvSpPr txBox="1"/>
              <p:nvPr/>
            </p:nvSpPr>
            <p:spPr>
              <a:xfrm>
                <a:off x="516512" y="5190024"/>
                <a:ext cx="106872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取下列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组数：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E499EB2-A399-40C0-8B0E-F389E7A27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12" y="5190024"/>
                <a:ext cx="10687258" cy="523220"/>
              </a:xfrm>
              <a:prstGeom prst="rect">
                <a:avLst/>
              </a:prstGeom>
              <a:blipFill>
                <a:blip r:embed="rId4"/>
                <a:stretch>
                  <a:fillRect l="-1198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19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62D321-9683-421D-A0E1-258557EBE3E0}"/>
                  </a:ext>
                </a:extLst>
              </p:cNvPr>
              <p:cNvSpPr txBox="1"/>
              <p:nvPr/>
            </p:nvSpPr>
            <p:spPr>
              <a:xfrm>
                <a:off x="3143672" y="1549367"/>
                <a:ext cx="7646196" cy="1609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800" b="1" dirty="0"/>
                  <a:t>                       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(3)</a:t>
                </a:r>
                <a:endParaRPr lang="zh-CN" altLang="en-US" sz="2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562D321-9683-421D-A0E1-258557EBE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1549367"/>
                <a:ext cx="7646196" cy="1609480"/>
              </a:xfrm>
              <a:prstGeom prst="rect">
                <a:avLst/>
              </a:prstGeom>
              <a:blipFill>
                <a:blip r:embed="rId2"/>
                <a:stretch>
                  <a:fillRect r="-1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85E7BF9-1431-42D1-8614-6FEC8D0CB147}"/>
                  </a:ext>
                </a:extLst>
              </p:cNvPr>
              <p:cNvSpPr txBox="1"/>
              <p:nvPr/>
            </p:nvSpPr>
            <p:spPr>
              <a:xfrm>
                <a:off x="1055440" y="3429000"/>
                <a:ext cx="89289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于是就得到方程组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(2)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，也就是方程组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个解：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85E7BF9-1431-42D1-8614-6FEC8D0CB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40" y="3429000"/>
                <a:ext cx="8928992" cy="523220"/>
              </a:xfrm>
              <a:prstGeom prst="rect">
                <a:avLst/>
              </a:prstGeom>
              <a:blipFill>
                <a:blip r:embed="rId3"/>
                <a:stretch>
                  <a:fillRect l="-1365" t="-15294" r="-956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E675374-5166-41CB-B25E-649CEC66F27D}"/>
                  </a:ext>
                </a:extLst>
              </p:cNvPr>
              <p:cNvSpPr txBox="1"/>
              <p:nvPr/>
            </p:nvSpPr>
            <p:spPr>
              <a:xfrm>
                <a:off x="2881416" y="4149080"/>
                <a:ext cx="7815858" cy="1644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 smtClean="0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sub>
                                  </m:s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</m:s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</m:s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⋯⋯⋯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800" b="1" i="1">
                                            <a:latin typeface="Cambria Math" panose="02040503050406030204" pitchFamily="18" charset="0"/>
                                          </a:rPr>
                                          <m:t>𝜼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d>
                                      <m:d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,⋯,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,⋯,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</m:d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mr>
                              </m:m>
                            </m:e>
                          </m:eqAr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E675374-5166-41CB-B25E-649CEC66F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416" y="4149080"/>
                <a:ext cx="7815858" cy="16441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152236FA-A1D9-48BA-8041-5F35BD98C6A8}"/>
              </a:ext>
            </a:extLst>
          </p:cNvPr>
          <p:cNvGrpSpPr/>
          <p:nvPr/>
        </p:nvGrpSpPr>
        <p:grpSpPr>
          <a:xfrm>
            <a:off x="5526374" y="305019"/>
            <a:ext cx="6336927" cy="1075872"/>
            <a:chOff x="5526374" y="305019"/>
            <a:chExt cx="6336927" cy="107587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8DF65B3-FD42-4F8F-BBFD-44E7FB79358D}"/>
                </a:ext>
              </a:extLst>
            </p:cNvPr>
            <p:cNvSpPr/>
            <p:nvPr/>
          </p:nvSpPr>
          <p:spPr>
            <a:xfrm>
              <a:off x="5591944" y="305019"/>
              <a:ext cx="5904656" cy="107587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3711A11-58C9-462A-A1BC-703F635C811B}"/>
                    </a:ext>
                  </a:extLst>
                </p:cNvPr>
                <p:cNvSpPr txBox="1"/>
                <p:nvPr/>
              </p:nvSpPr>
              <p:spPr>
                <a:xfrm>
                  <a:off x="5526374" y="305019"/>
                  <a:ext cx="6336927" cy="10758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⋯+</m:t>
                                  </m:r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𝟐𝟏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𝟐𝟐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⋯⋯⋯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𝟐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𝟐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𝒓𝒓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⋯−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𝒏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𝒏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.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3711A11-58C9-462A-A1BC-703F635C81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6374" y="305019"/>
                  <a:ext cx="6336927" cy="10758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4204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9E23DA4-047B-4ED3-9C41-1BFCA51384F9}"/>
                  </a:ext>
                </a:extLst>
              </p:cNvPr>
              <p:cNvSpPr txBox="1"/>
              <p:nvPr/>
            </p:nvSpPr>
            <p:spPr>
              <a:xfrm>
                <a:off x="1165857" y="755122"/>
                <a:ext cx="105131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下面来证明，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(4)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就是一个基础解系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首先证明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线性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9E23DA4-047B-4ED3-9C41-1BFCA5138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57" y="755122"/>
                <a:ext cx="10513168" cy="523220"/>
              </a:xfrm>
              <a:prstGeom prst="rect">
                <a:avLst/>
              </a:prstGeom>
              <a:blipFill>
                <a:blip r:embed="rId2"/>
                <a:stretch>
                  <a:fillRect l="-1159" t="-15116" r="-870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BA7E40E-21AA-4F7D-835E-98DBCF89EA5A}"/>
              </a:ext>
            </a:extLst>
          </p:cNvPr>
          <p:cNvSpPr txBox="1"/>
          <p:nvPr/>
        </p:nvSpPr>
        <p:spPr>
          <a:xfrm>
            <a:off x="551384" y="1456156"/>
            <a:ext cx="1224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无关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932DBC-93E2-48E5-A31E-11FA7D567A59}"/>
              </a:ext>
            </a:extLst>
          </p:cNvPr>
          <p:cNvSpPr txBox="1"/>
          <p:nvPr/>
        </p:nvSpPr>
        <p:spPr>
          <a:xfrm>
            <a:off x="1775520" y="1456156"/>
            <a:ext cx="28083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事实上，如果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E00C81-AEA9-47EE-AFF5-98AEFFFBAF68}"/>
                  </a:ext>
                </a:extLst>
              </p:cNvPr>
              <p:cNvSpPr txBox="1"/>
              <p:nvPr/>
            </p:nvSpPr>
            <p:spPr>
              <a:xfrm>
                <a:off x="3168692" y="2148769"/>
                <a:ext cx="53801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E00C81-AEA9-47EE-AFF5-98AEFFFBA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692" y="2148769"/>
                <a:ext cx="538012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A8C435A-78F2-4E07-B18C-E9A3BC3CF75A}"/>
              </a:ext>
            </a:extLst>
          </p:cNvPr>
          <p:cNvSpPr txBox="1"/>
          <p:nvPr/>
        </p:nvSpPr>
        <p:spPr>
          <a:xfrm>
            <a:off x="553789" y="2655031"/>
            <a:ext cx="1224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F5932D5-DE09-452D-81CD-673F45682F3F}"/>
                  </a:ext>
                </a:extLst>
              </p:cNvPr>
              <p:cNvSpPr txBox="1"/>
              <p:nvPr/>
            </p:nvSpPr>
            <p:spPr>
              <a:xfrm>
                <a:off x="1455819" y="3303565"/>
                <a:ext cx="88058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=(∗,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∗,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F5932D5-DE09-452D-81CD-673F45682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819" y="3303565"/>
                <a:ext cx="880587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72D45F-CD60-4B90-B26B-4795EAB0CB14}"/>
                  </a:ext>
                </a:extLst>
              </p:cNvPr>
              <p:cNvSpPr txBox="1"/>
              <p:nvPr/>
            </p:nvSpPr>
            <p:spPr>
              <a:xfrm>
                <a:off x="6096737" y="3906238"/>
                <a:ext cx="33756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72D45F-CD60-4B90-B26B-4795EAB0C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737" y="3906238"/>
                <a:ext cx="337560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4DF1D3D-D306-4FC7-B6A4-5E94EF054C8B}"/>
                  </a:ext>
                </a:extLst>
              </p:cNvPr>
              <p:cNvSpPr txBox="1"/>
              <p:nvPr/>
            </p:nvSpPr>
            <p:spPr>
              <a:xfrm>
                <a:off x="666414" y="4458361"/>
                <a:ext cx="50045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比较最后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个分量，得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4DF1D3D-D306-4FC7-B6A4-5E94EF054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14" y="4458361"/>
                <a:ext cx="5004556" cy="523220"/>
              </a:xfrm>
              <a:prstGeom prst="rect">
                <a:avLst/>
              </a:prstGeom>
              <a:blipFill>
                <a:blip r:embed="rId6"/>
                <a:stretch>
                  <a:fillRect l="-2436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97DFBF7-0A73-4B93-BF54-1706B59B2423}"/>
                  </a:ext>
                </a:extLst>
              </p:cNvPr>
              <p:cNvSpPr txBox="1"/>
              <p:nvPr/>
            </p:nvSpPr>
            <p:spPr>
              <a:xfrm>
                <a:off x="3575720" y="5040073"/>
                <a:ext cx="323530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97DFBF7-0A73-4B93-BF54-1706B59B2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0" y="5040073"/>
                <a:ext cx="323530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81E5C1-C18C-4C05-BEDD-BB1AE8ADE7AA}"/>
                  </a:ext>
                </a:extLst>
              </p:cNvPr>
              <p:cNvSpPr txBox="1"/>
              <p:nvPr/>
            </p:nvSpPr>
            <p:spPr>
              <a:xfrm>
                <a:off x="677398" y="5636385"/>
                <a:ext cx="50045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线性无关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81E5C1-C18C-4C05-BEDD-BB1AE8ADE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98" y="5636385"/>
                <a:ext cx="5004556" cy="523220"/>
              </a:xfrm>
              <a:prstGeom prst="rect">
                <a:avLst/>
              </a:prstGeom>
              <a:blipFill>
                <a:blip r:embed="rId8"/>
                <a:stretch>
                  <a:fillRect l="-2436" t="-15294" b="-3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63ADFD-6D2D-476E-B0A0-6F7D22AC5D38}"/>
              </a:ext>
            </a:extLst>
          </p:cNvPr>
          <p:cNvGrpSpPr/>
          <p:nvPr/>
        </p:nvGrpSpPr>
        <p:grpSpPr>
          <a:xfrm>
            <a:off x="7784539" y="4841103"/>
            <a:ext cx="3938899" cy="1108177"/>
            <a:chOff x="7784539" y="4841103"/>
            <a:chExt cx="3938899" cy="110817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CDE32DD-4A8C-45D6-8C98-AAA28F95198E}"/>
                </a:ext>
              </a:extLst>
            </p:cNvPr>
            <p:cNvSpPr/>
            <p:nvPr/>
          </p:nvSpPr>
          <p:spPr>
            <a:xfrm>
              <a:off x="7784539" y="4841103"/>
              <a:ext cx="3894486" cy="110817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48F3E5E-99F2-45BB-8524-5BF21D0ED62B}"/>
                    </a:ext>
                  </a:extLst>
                </p:cNvPr>
                <p:cNvSpPr txBox="1"/>
                <p:nvPr/>
              </p:nvSpPr>
              <p:spPr>
                <a:xfrm>
                  <a:off x="7784539" y="4841103"/>
                  <a:ext cx="3938899" cy="10568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1" i="1" smtClean="0">
                                        <a:latin typeface="Cambria Math" panose="020405030504060302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,⋯,</m:t>
                                    </m:r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sub>
                                    </m:s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,⋯,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1" i="1">
                                        <a:latin typeface="Cambria Math" panose="020405030504060302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,⋯,</m:t>
                                    </m:r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sub>
                                    </m:sSub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,⋯,</m:t>
                                    </m:r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⋯⋯⋯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b="1" i="1">
                                              <a:latin typeface="Cambria Math" panose="02040503050406030204" pitchFamily="18" charset="0"/>
                                            </a:rPr>
                                            <m:t>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sub>
                                      </m:s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𝒄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𝒏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,⋯,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𝒄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𝒏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  <m:r>
                                                <a:rPr lang="en-US" altLang="zh-C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,⋯,</m:t>
                                          </m:r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d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.</m:t>
                                      </m:r>
                                    </m:e>
                                  </m:mr>
                                </m:m>
                              </m:e>
                            </m:eqAr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</m:e>
                        </m:d>
                      </m:oMath>
                    </m:oMathPara>
                  </a14:m>
                  <a:endParaRPr lang="zh-CN" altLang="en-US" b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48F3E5E-99F2-45BB-8524-5BF21D0ED6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539" y="4841103"/>
                  <a:ext cx="3938899" cy="105689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979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3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EC60C4-C717-4666-9798-8BD9D219C35D}"/>
                  </a:ext>
                </a:extLst>
              </p:cNvPr>
              <p:cNvSpPr txBox="1"/>
              <p:nvPr/>
            </p:nvSpPr>
            <p:spPr>
              <a:xfrm>
                <a:off x="1271464" y="764704"/>
                <a:ext cx="105131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再证明方程组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的任意一个解都可以由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线性表出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EC60C4-C717-4666-9798-8BD9D219C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764704"/>
                <a:ext cx="10513168" cy="523220"/>
              </a:xfrm>
              <a:prstGeom prst="rect">
                <a:avLst/>
              </a:prstGeom>
              <a:blipFill>
                <a:blip r:embed="rId2"/>
                <a:stretch>
                  <a:fillRect l="-1218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5DB7BE2C-6813-4EDA-9AFD-62866632484C}"/>
              </a:ext>
            </a:extLst>
          </p:cNvPr>
          <p:cNvSpPr txBox="1"/>
          <p:nvPr/>
        </p:nvSpPr>
        <p:spPr>
          <a:xfrm>
            <a:off x="657399" y="1412776"/>
            <a:ext cx="576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3BA1625-5CEF-4579-A489-FB867CD351B1}"/>
                  </a:ext>
                </a:extLst>
              </p:cNvPr>
              <p:cNvSpPr txBox="1"/>
              <p:nvPr/>
            </p:nvSpPr>
            <p:spPr>
              <a:xfrm>
                <a:off x="3431704" y="2060848"/>
                <a:ext cx="77704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/>
                  <a:t>                        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(5)</a:t>
                </a:r>
                <a:endParaRPr lang="zh-CN" alt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3BA1625-5CEF-4579-A489-FB867CD3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2060848"/>
                <a:ext cx="7770461" cy="430887"/>
              </a:xfrm>
              <a:prstGeom prst="rect">
                <a:avLst/>
              </a:prstGeom>
              <a:blipFill>
                <a:blip r:embed="rId3"/>
                <a:stretch>
                  <a:fillRect t="-25352" r="-2588" b="-49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0E7CF50-6597-4733-AE31-B7C7BC24F7D2}"/>
              </a:ext>
            </a:extLst>
          </p:cNvPr>
          <p:cNvSpPr txBox="1"/>
          <p:nvPr/>
        </p:nvSpPr>
        <p:spPr>
          <a:xfrm>
            <a:off x="657399" y="2708920"/>
            <a:ext cx="405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是方程组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的一个解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9D2183D-FE44-4705-A8DD-B58CBC203B36}"/>
                  </a:ext>
                </a:extLst>
              </p:cNvPr>
              <p:cNvSpPr txBox="1"/>
              <p:nvPr/>
            </p:nvSpPr>
            <p:spPr>
              <a:xfrm>
                <a:off x="4295800" y="2693494"/>
                <a:ext cx="7357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是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的解，所以线性组合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9D2183D-FE44-4705-A8DD-B58CBC203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00" y="2693494"/>
                <a:ext cx="7357434" cy="523220"/>
              </a:xfrm>
              <a:prstGeom prst="rect">
                <a:avLst/>
              </a:prstGeom>
              <a:blipFill>
                <a:blip r:embed="rId4"/>
                <a:stretch>
                  <a:fillRect l="-1740" t="-15116" r="-331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494D5F3-8725-4C5A-914C-C6693ACA7687}"/>
                  </a:ext>
                </a:extLst>
              </p:cNvPr>
              <p:cNvSpPr txBox="1"/>
              <p:nvPr/>
            </p:nvSpPr>
            <p:spPr>
              <a:xfrm>
                <a:off x="3215680" y="3410417"/>
                <a:ext cx="79381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b="1" i="0" smtClean="0">
                        <a:latin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494D5F3-8725-4C5A-914C-C6693ACA7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410417"/>
                <a:ext cx="793813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0729A7E6-B146-448F-A01E-2317A143D309}"/>
              </a:ext>
            </a:extLst>
          </p:cNvPr>
          <p:cNvSpPr txBox="1"/>
          <p:nvPr/>
        </p:nvSpPr>
        <p:spPr>
          <a:xfrm>
            <a:off x="657399" y="3989638"/>
            <a:ext cx="4057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的一个解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4AB60FC-C485-4807-B867-C37536EF2079}"/>
                  </a:ext>
                </a:extLst>
              </p:cNvPr>
              <p:cNvSpPr txBox="1"/>
              <p:nvPr/>
            </p:nvSpPr>
            <p:spPr>
              <a:xfrm>
                <a:off x="3719736" y="4035007"/>
                <a:ext cx="79334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比较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(5)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和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(6)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的最后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个分量得知，自由未知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4AB60FC-C485-4807-B867-C37536EF2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035007"/>
                <a:ext cx="7933498" cy="523220"/>
              </a:xfrm>
              <a:prstGeom prst="rect">
                <a:avLst/>
              </a:prstGeom>
              <a:blipFill>
                <a:blip r:embed="rId6"/>
                <a:stretch>
                  <a:fillRect l="-1536" t="-15116" r="-77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A289660B-64E7-478A-A69E-19409DD9D2E7}"/>
              </a:ext>
            </a:extLst>
          </p:cNvPr>
          <p:cNvSpPr txBox="1"/>
          <p:nvPr/>
        </p:nvSpPr>
        <p:spPr>
          <a:xfrm>
            <a:off x="664322" y="4661192"/>
            <a:ext cx="7231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量有相同的值，从而这两个解完全一样，即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49A930-5C03-42A2-A490-0A06F0099C9F}"/>
                  </a:ext>
                </a:extLst>
              </p:cNvPr>
              <p:cNvSpPr txBox="1"/>
              <p:nvPr/>
            </p:nvSpPr>
            <p:spPr>
              <a:xfrm>
                <a:off x="2455087" y="5335920"/>
                <a:ext cx="86987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b="1" i="0" smtClean="0">
                        <a:latin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49A930-5C03-42A2-A490-0A06F009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087" y="5335920"/>
                <a:ext cx="869872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10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516D24A-5972-4EE9-BF99-9A2B6F00ACDA}"/>
                  </a:ext>
                </a:extLst>
              </p:cNvPr>
              <p:cNvSpPr txBox="1"/>
              <p:nvPr/>
            </p:nvSpPr>
            <p:spPr>
              <a:xfrm>
                <a:off x="623392" y="836712"/>
                <a:ext cx="97930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这就是说，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任意一个解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𝜼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都能表成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的线性组合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516D24A-5972-4EE9-BF99-9A2B6F00A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836712"/>
                <a:ext cx="9793088" cy="523220"/>
              </a:xfrm>
              <a:prstGeom prst="rect">
                <a:avLst/>
              </a:prstGeom>
              <a:blipFill>
                <a:blip r:embed="rId2"/>
                <a:stretch>
                  <a:fillRect l="-1245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207C2341-706E-4BFD-A065-CB37D12999D5}"/>
              </a:ext>
            </a:extLst>
          </p:cNvPr>
          <p:cNvSpPr txBox="1"/>
          <p:nvPr/>
        </p:nvSpPr>
        <p:spPr>
          <a:xfrm>
            <a:off x="10344472" y="80877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综合以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69C4EDA-1767-448F-9039-730B78F89F59}"/>
                  </a:ext>
                </a:extLst>
              </p:cNvPr>
              <p:cNvSpPr txBox="1"/>
              <p:nvPr/>
            </p:nvSpPr>
            <p:spPr>
              <a:xfrm>
                <a:off x="602272" y="1484784"/>
                <a:ext cx="110383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上两点，我们就证明了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确为方程组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的一个基础解系，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69C4EDA-1767-448F-9039-730B78F89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72" y="1484784"/>
                <a:ext cx="11038344" cy="523220"/>
              </a:xfrm>
              <a:prstGeom prst="rect">
                <a:avLst/>
              </a:prstGeom>
              <a:blipFill>
                <a:blip r:embed="rId3"/>
                <a:stretch>
                  <a:fillRect l="-1160" t="-15294" r="-4307" b="-3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C5E1962-AA35-4527-ACC4-18B7E53628E9}"/>
              </a:ext>
            </a:extLst>
          </p:cNvPr>
          <p:cNvSpPr txBox="1"/>
          <p:nvPr/>
        </p:nvSpPr>
        <p:spPr>
          <a:xfrm>
            <a:off x="576828" y="2139203"/>
            <a:ext cx="6095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因而齐次线性方程组的确有基础解系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D3F72-5BFB-49B8-B227-E856957B2AFB}"/>
              </a:ext>
            </a:extLst>
          </p:cNvPr>
          <p:cNvSpPr txBox="1"/>
          <p:nvPr/>
        </p:nvSpPr>
        <p:spPr>
          <a:xfrm>
            <a:off x="6528048" y="2132856"/>
            <a:ext cx="5340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证明中具体给出的这个基础解系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49E8F04-CFD7-4F5F-806C-42B5674CDE89}"/>
                  </a:ext>
                </a:extLst>
              </p:cNvPr>
              <p:cNvSpPr txBox="1"/>
              <p:nvPr/>
            </p:nvSpPr>
            <p:spPr>
              <a:xfrm>
                <a:off x="576828" y="2832734"/>
                <a:ext cx="33589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是由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个解组成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49E8F04-CFD7-4F5F-806C-42B5674CD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28" y="2832734"/>
                <a:ext cx="3358932" cy="523220"/>
              </a:xfrm>
              <a:prstGeom prst="rect">
                <a:avLst/>
              </a:prstGeom>
              <a:blipFill>
                <a:blip r:embed="rId4"/>
                <a:stretch>
                  <a:fillRect l="-3811" t="-15116" r="-3267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EBBE633-E5C2-4C09-AA38-9C45F289AEF4}"/>
              </a:ext>
            </a:extLst>
          </p:cNvPr>
          <p:cNvSpPr txBox="1"/>
          <p:nvPr/>
        </p:nvSpPr>
        <p:spPr>
          <a:xfrm>
            <a:off x="4079776" y="2780928"/>
            <a:ext cx="770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至于其他的基础解系，由定义，一定与这个解系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74B83C-B5D3-4BEE-87B1-0D4695D37178}"/>
              </a:ext>
            </a:extLst>
          </p:cNvPr>
          <p:cNvSpPr txBox="1"/>
          <p:nvPr/>
        </p:nvSpPr>
        <p:spPr>
          <a:xfrm>
            <a:off x="598073" y="3526265"/>
            <a:ext cx="974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等价，同时它们又都是线性无关的，因而有相同个数的向量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EEAFCF-9841-4393-BC04-8687BCD3D04E}"/>
              </a:ext>
            </a:extLst>
          </p:cNvPr>
          <p:cNvSpPr txBox="1"/>
          <p:nvPr/>
        </p:nvSpPr>
        <p:spPr>
          <a:xfrm>
            <a:off x="10776520" y="4201925"/>
            <a:ext cx="1362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BD4CBEC-D7ED-4D0F-B2FF-C6B75D5A8B2F}"/>
              </a:ext>
            </a:extLst>
          </p:cNvPr>
          <p:cNvSpPr txBox="1"/>
          <p:nvPr/>
        </p:nvSpPr>
        <p:spPr>
          <a:xfrm>
            <a:off x="1296908" y="5013176"/>
            <a:ext cx="5375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由此可见基础解系不是唯一的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663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8A2A0C-2500-43B1-A5B1-D20A5AFE3F59}"/>
              </a:ext>
            </a:extLst>
          </p:cNvPr>
          <p:cNvSpPr txBox="1"/>
          <p:nvPr/>
        </p:nvSpPr>
        <p:spPr>
          <a:xfrm>
            <a:off x="1343472" y="836712"/>
            <a:ext cx="9793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由基础解系的定义，可得出下面重要结论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A32F6C-C715-43A2-8A4F-ADB7A7E7F072}"/>
              </a:ext>
            </a:extLst>
          </p:cNvPr>
          <p:cNvSpPr txBox="1"/>
          <p:nvPr/>
        </p:nvSpPr>
        <p:spPr>
          <a:xfrm>
            <a:off x="1343472" y="1520788"/>
            <a:ext cx="10375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任意一个线性无关的与某一个基础解系等价的向量组都是基础解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EA9B36-418A-48A5-AF1E-C498D4B2280B}"/>
              </a:ext>
            </a:extLst>
          </p:cNvPr>
          <p:cNvSpPr txBox="1"/>
          <p:nvPr/>
        </p:nvSpPr>
        <p:spPr>
          <a:xfrm>
            <a:off x="767408" y="2204864"/>
            <a:ext cx="7445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</a:t>
            </a: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6" name="Object 5">
            <a:hlinkClick r:id="" action="ppaction://ole?verb=0" highlightClick="1"/>
            <a:hlinkHover r:id="" action="ppaction://macro?name=Macro1" highlightClick="1"/>
            <a:extLst>
              <a:ext uri="{FF2B5EF4-FFF2-40B4-BE49-F238E27FC236}">
                <a16:creationId xmlns:a16="http://schemas.microsoft.com/office/drawing/2014/main" id="{05F999C7-6287-4F4B-82FB-C671B0EA5A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177202"/>
              </p:ext>
            </p:extLst>
          </p:nvPr>
        </p:nvGraphicFramePr>
        <p:xfrm>
          <a:off x="1415480" y="2831371"/>
          <a:ext cx="8413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4484688" imgH="3363913" progId="PowerPoint.Show.8">
                  <p:embed/>
                </p:oleObj>
              </mc:Choice>
              <mc:Fallback>
                <p:oleObj name="Presentation" r:id="rId2" imgW="4484688" imgH="3363913" progId="PowerPoint.Show.8">
                  <p:embed/>
                  <p:pic>
                    <p:nvPicPr>
                      <p:cNvPr id="18437" name="Object 5">
                        <a:hlinkClick r:id="" action="ppaction://ole?verb=0" highlightClick="1"/>
                        <a:hlinkHover r:id="" action="ppaction://macro?name=Macro1" highlightClick="1"/>
                        <a:extLst>
                          <a:ext uri="{FF2B5EF4-FFF2-40B4-BE49-F238E27FC236}">
                            <a16:creationId xmlns:a16="http://schemas.microsoft.com/office/drawing/2014/main" id="{85F9CECD-D3DE-42F4-81A6-CCBB338358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000" t="22153" r="70833" b="71167"/>
                      <a:stretch>
                        <a:fillRect/>
                      </a:stretch>
                    </p:blipFill>
                    <p:spPr bwMode="auto">
                      <a:xfrm>
                        <a:off x="1415480" y="2831371"/>
                        <a:ext cx="8413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2">
            <a:extLst>
              <a:ext uri="{FF2B5EF4-FFF2-40B4-BE49-F238E27FC236}">
                <a16:creationId xmlns:a16="http://schemas.microsoft.com/office/drawing/2014/main" id="{ED3F9940-3B0C-4AF6-AE55-D34DB573D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929796"/>
            <a:ext cx="5048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174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07343EC-7502-47DD-BD41-EDA68061D1CB}"/>
              </a:ext>
            </a:extLst>
          </p:cNvPr>
          <p:cNvSpPr txBox="1"/>
          <p:nvPr/>
        </p:nvSpPr>
        <p:spPr>
          <a:xfrm>
            <a:off x="1343472" y="90872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FB00E2-F1EC-4160-8A15-551EC80C3D27}"/>
                  </a:ext>
                </a:extLst>
              </p:cNvPr>
              <p:cNvSpPr txBox="1"/>
              <p:nvPr/>
            </p:nvSpPr>
            <p:spPr>
              <a:xfrm>
                <a:off x="2567608" y="903040"/>
                <a:ext cx="91003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，则齐次线性方程组</a:t>
                </a:r>
                <a:r>
                  <a:rPr lang="en-US" altLang="zh-CN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只有零解，从而没有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BFB00E2-F1EC-4160-8A15-551EC80C3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903040"/>
                <a:ext cx="9100329" cy="523220"/>
              </a:xfrm>
              <a:prstGeom prst="rect">
                <a:avLst/>
              </a:prstGeom>
              <a:blipFill>
                <a:blip r:embed="rId2"/>
                <a:stretch>
                  <a:fillRect l="-1340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54FD802-E389-4D15-9753-E5741AFF3C81}"/>
              </a:ext>
            </a:extLst>
          </p:cNvPr>
          <p:cNvSpPr txBox="1"/>
          <p:nvPr/>
        </p:nvSpPr>
        <p:spPr>
          <a:xfrm>
            <a:off x="613840" y="1583334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基础解系；</a:t>
            </a:r>
            <a:endParaRPr lang="zh-CN" alt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2709938-89E6-41E4-954A-05ECAE056E3C}"/>
                  </a:ext>
                </a:extLst>
              </p:cNvPr>
              <p:cNvSpPr txBox="1"/>
              <p:nvPr/>
            </p:nvSpPr>
            <p:spPr>
              <a:xfrm>
                <a:off x="2477831" y="1583334"/>
                <a:ext cx="91003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</m:t>
                    </m:r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，则方程组</a:t>
                </a:r>
                <a:r>
                  <a:rPr lang="en-US" altLang="zh-CN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有包含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个解向量的基础解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2709938-89E6-41E4-954A-05ECAE056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831" y="1583334"/>
                <a:ext cx="9100329" cy="523220"/>
              </a:xfrm>
              <a:prstGeom prst="rect">
                <a:avLst/>
              </a:prstGeom>
              <a:blipFill>
                <a:blip r:embed="rId3"/>
                <a:stretch>
                  <a:fillRect l="-1340" t="-15116" r="-804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5DD684C-30F1-4781-9F8A-5F6B6E0FB5A2}"/>
              </a:ext>
            </a:extLst>
          </p:cNvPr>
          <p:cNvSpPr txBox="1"/>
          <p:nvPr/>
        </p:nvSpPr>
        <p:spPr>
          <a:xfrm>
            <a:off x="623392" y="2257948"/>
            <a:ext cx="72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</a:t>
            </a: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933BC1-862A-43AF-A9AE-2893D4F6D350}"/>
                  </a:ext>
                </a:extLst>
              </p:cNvPr>
              <p:cNvSpPr txBox="1"/>
              <p:nvPr/>
            </p:nvSpPr>
            <p:spPr>
              <a:xfrm>
                <a:off x="1312369" y="2257948"/>
                <a:ext cx="10225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是齐次线性方程组</a:t>
                </a:r>
                <a:r>
                  <a:rPr lang="en-US" altLang="zh-CN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的一个基础解系，则</a:t>
                </a:r>
                <a:r>
                  <a:rPr lang="en-US" altLang="zh-CN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933BC1-862A-43AF-A9AE-2893D4F6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369" y="2257948"/>
                <a:ext cx="10225136" cy="523220"/>
              </a:xfrm>
              <a:prstGeom prst="rect">
                <a:avLst/>
              </a:prstGeom>
              <a:blipFill>
                <a:blip r:embed="rId4"/>
                <a:stretch>
                  <a:fillRect l="-1192" t="-13953" r="-107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252E5339-ECCB-4D49-B2A9-EAF3F0B0BA77}"/>
              </a:ext>
            </a:extLst>
          </p:cNvPr>
          <p:cNvSpPr txBox="1"/>
          <p:nvPr/>
        </p:nvSpPr>
        <p:spPr>
          <a:xfrm>
            <a:off x="618386" y="2905780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任一解可表示为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AEA3BD-47ED-46C6-AF10-73D7373B9556}"/>
                  </a:ext>
                </a:extLst>
              </p:cNvPr>
              <p:cNvSpPr txBox="1"/>
              <p:nvPr/>
            </p:nvSpPr>
            <p:spPr>
              <a:xfrm>
                <a:off x="3302586" y="3541929"/>
                <a:ext cx="88894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zh-CN" altLang="en-US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b>
                    </m:sSub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dirty="0"/>
                  <a:t>                        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(*)</a:t>
                </a:r>
                <a:endParaRPr lang="zh-CN" altLang="en-US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AEA3BD-47ED-46C6-AF10-73D7373B9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586" y="3541929"/>
                <a:ext cx="8889414" cy="523220"/>
              </a:xfrm>
              <a:prstGeom prst="rect">
                <a:avLst/>
              </a:prstGeom>
              <a:blipFill>
                <a:blip r:embed="rId5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74DF397-F21B-4B84-803F-2913B97FDE54}"/>
                  </a:ext>
                </a:extLst>
              </p:cNvPr>
              <p:cNvSpPr txBox="1"/>
              <p:nvPr/>
            </p:nvSpPr>
            <p:spPr>
              <a:xfrm>
                <a:off x="657484" y="4301676"/>
                <a:ext cx="10225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chemeClr val="tx2">
                        <a:lumMod val="7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是任意常数，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(*)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式称为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的一般解或通解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solidFill>
                    <a:schemeClr val="tx2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74DF397-F21B-4B84-803F-2913B97FD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84" y="4301676"/>
                <a:ext cx="10225136" cy="523220"/>
              </a:xfrm>
              <a:prstGeom prst="rect">
                <a:avLst/>
              </a:prstGeom>
              <a:blipFill>
                <a:blip r:embed="rId6"/>
                <a:stretch>
                  <a:fillRect l="-1252" t="-16471" r="-298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85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744C20-B3C2-4D04-83EF-FA1FF2D2C0EA}"/>
              </a:ext>
            </a:extLst>
          </p:cNvPr>
          <p:cNvSpPr txBox="1"/>
          <p:nvPr/>
        </p:nvSpPr>
        <p:spPr>
          <a:xfrm>
            <a:off x="1343472" y="90872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lang="en-US" altLang="zh-CN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09D219-D2F7-4B1C-A667-B7952FD48F6D}"/>
              </a:ext>
            </a:extLst>
          </p:cNvPr>
          <p:cNvSpPr txBox="1"/>
          <p:nvPr/>
        </p:nvSpPr>
        <p:spPr>
          <a:xfrm>
            <a:off x="2654980" y="908720"/>
            <a:ext cx="3410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求解齐次线性方程组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1C04406-52EF-43B6-AF94-3FB358A63172}"/>
                  </a:ext>
                </a:extLst>
              </p:cNvPr>
              <p:cNvSpPr txBox="1"/>
              <p:nvPr/>
            </p:nvSpPr>
            <p:spPr>
              <a:xfrm>
                <a:off x="3503712" y="1556792"/>
                <a:ext cx="4650889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1C04406-52EF-43B6-AF94-3FB358A63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1556792"/>
                <a:ext cx="4650889" cy="1375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42985CCB-C90F-4996-B64F-8A3AB8BF79BD}"/>
              </a:ext>
            </a:extLst>
          </p:cNvPr>
          <p:cNvSpPr txBox="1"/>
          <p:nvPr/>
        </p:nvSpPr>
        <p:spPr>
          <a:xfrm>
            <a:off x="695400" y="3167390"/>
            <a:ext cx="3410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的基础解系与通解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5F9B36-0C54-4D5C-912F-FF574134B86F}"/>
              </a:ext>
            </a:extLst>
          </p:cNvPr>
          <p:cNvSpPr txBox="1"/>
          <p:nvPr/>
        </p:nvSpPr>
        <p:spPr>
          <a:xfrm>
            <a:off x="1415481" y="3861048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A3A7D91-DB0F-44DA-BAB2-3E37ADCA6AB9}"/>
                  </a:ext>
                </a:extLst>
              </p:cNvPr>
              <p:cNvSpPr txBox="1"/>
              <p:nvPr/>
            </p:nvSpPr>
            <p:spPr>
              <a:xfrm>
                <a:off x="2279576" y="3861048"/>
                <a:ext cx="80648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对系数矩阵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作初等行变换，变为行最简矩阵，有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A3A7D91-DB0F-44DA-BAB2-3E37ADCA6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3861048"/>
                <a:ext cx="8064896" cy="523220"/>
              </a:xfrm>
              <a:prstGeom prst="rect">
                <a:avLst/>
              </a:prstGeom>
              <a:blipFill>
                <a:blip r:embed="rId3"/>
                <a:stretch>
                  <a:fillRect l="-1587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519E03-6B14-4220-86BD-17BC7FB20514}"/>
                  </a:ext>
                </a:extLst>
              </p:cNvPr>
              <p:cNvSpPr txBox="1"/>
              <p:nvPr/>
            </p:nvSpPr>
            <p:spPr>
              <a:xfrm>
                <a:off x="1455459" y="4688288"/>
                <a:ext cx="4096506" cy="1183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     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     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519E03-6B14-4220-86BD-17BC7FB20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459" y="4688288"/>
                <a:ext cx="4096506" cy="11835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6B2A976-4488-4426-BFCC-7874E54FBCA5}"/>
              </a:ext>
            </a:extLst>
          </p:cNvPr>
          <p:cNvCxnSpPr>
            <a:stCxn id="8" idx="3"/>
          </p:cNvCxnSpPr>
          <p:nvPr/>
        </p:nvCxnSpPr>
        <p:spPr>
          <a:xfrm flipV="1">
            <a:off x="5551965" y="5280052"/>
            <a:ext cx="4000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8140BF3-1499-4855-8937-0323C6CD38E8}"/>
                  </a:ext>
                </a:extLst>
              </p:cNvPr>
              <p:cNvSpPr txBox="1"/>
              <p:nvPr/>
            </p:nvSpPr>
            <p:spPr>
              <a:xfrm>
                <a:off x="6065689" y="4688288"/>
                <a:ext cx="3869714" cy="1199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     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8140BF3-1499-4855-8937-0323C6CD3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689" y="4688288"/>
                <a:ext cx="3869714" cy="1199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73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155B0A7-7EA0-4DEA-8950-0DF2252D9838}"/>
              </a:ext>
            </a:extLst>
          </p:cNvPr>
          <p:cNvSpPr txBox="1"/>
          <p:nvPr/>
        </p:nvSpPr>
        <p:spPr>
          <a:xfrm>
            <a:off x="623392" y="1402313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便得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A989F31-B9E9-4CC0-A323-F71C2A17F57C}"/>
                  </a:ext>
                </a:extLst>
              </p:cNvPr>
              <p:cNvSpPr txBox="1"/>
              <p:nvPr/>
            </p:nvSpPr>
            <p:spPr>
              <a:xfrm>
                <a:off x="2135560" y="692696"/>
                <a:ext cx="2998963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A989F31-B9E9-4CC0-A323-F71C2A17F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692696"/>
                <a:ext cx="2998963" cy="1942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58B5F67-1E43-49E6-B24E-5B5C73A60DE4}"/>
              </a:ext>
            </a:extLst>
          </p:cNvPr>
          <p:cNvSpPr txBox="1"/>
          <p:nvPr/>
        </p:nvSpPr>
        <p:spPr>
          <a:xfrm>
            <a:off x="639506" y="306896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B52312F-B2BA-4D4F-9D69-7E8F5FB2C8B2}"/>
                  </a:ext>
                </a:extLst>
              </p:cNvPr>
              <p:cNvSpPr txBox="1"/>
              <p:nvPr/>
            </p:nvSpPr>
            <p:spPr>
              <a:xfrm>
                <a:off x="1454928" y="2846495"/>
                <a:ext cx="3488944" cy="9681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B52312F-B2BA-4D4F-9D69-7E8F5FB2C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928" y="2846495"/>
                <a:ext cx="3488944" cy="968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346BC3D1-E79B-49DD-A207-20B8D0921917}"/>
              </a:ext>
            </a:extLst>
          </p:cNvPr>
          <p:cNvSpPr txBox="1"/>
          <p:nvPr/>
        </p:nvSpPr>
        <p:spPr>
          <a:xfrm>
            <a:off x="5134523" y="306896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对应有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8CF25D-72C1-4038-AC9F-A23B722131BC}"/>
                  </a:ext>
                </a:extLst>
              </p:cNvPr>
              <p:cNvSpPr txBox="1"/>
              <p:nvPr/>
            </p:nvSpPr>
            <p:spPr>
              <a:xfrm>
                <a:off x="6384032" y="2849922"/>
                <a:ext cx="4009114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8CF25D-72C1-4038-AC9F-A23B72213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2849922"/>
                <a:ext cx="4009114" cy="1060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B624A807-148F-4659-ACD9-ED06BB8E89CC}"/>
              </a:ext>
            </a:extLst>
          </p:cNvPr>
          <p:cNvSpPr txBox="1"/>
          <p:nvPr/>
        </p:nvSpPr>
        <p:spPr>
          <a:xfrm>
            <a:off x="675628" y="4718739"/>
            <a:ext cx="2504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即得基础解系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1277D0E-78FF-4311-8B61-C11605807F2D}"/>
                  </a:ext>
                </a:extLst>
              </p:cNvPr>
              <p:cNvSpPr txBox="1"/>
              <p:nvPr/>
            </p:nvSpPr>
            <p:spPr>
              <a:xfrm>
                <a:off x="3218281" y="4129443"/>
                <a:ext cx="5112568" cy="1729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1277D0E-78FF-4311-8B61-C11605807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281" y="4129443"/>
                <a:ext cx="5112568" cy="1729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42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9" grpId="0"/>
      <p:bldP spid="10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5BDA1A-A54A-4479-A123-5B054C904F09}"/>
              </a:ext>
            </a:extLst>
          </p:cNvPr>
          <p:cNvSpPr txBox="1"/>
          <p:nvPr/>
        </p:nvSpPr>
        <p:spPr>
          <a:xfrm>
            <a:off x="623392" y="1402313"/>
            <a:ext cx="3312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并由此得到通解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070AEB2-BFD1-4A45-8FAC-B0C78B1537E4}"/>
                  </a:ext>
                </a:extLst>
              </p:cNvPr>
              <p:cNvSpPr txBox="1"/>
              <p:nvPr/>
            </p:nvSpPr>
            <p:spPr>
              <a:xfrm>
                <a:off x="1631504" y="2204864"/>
                <a:ext cx="8809425" cy="1701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070AEB2-BFD1-4A45-8FAC-B0C78B153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2204864"/>
                <a:ext cx="8809425" cy="17018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07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52C83CCA-56C7-41B4-84E2-8D5A21091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692696"/>
            <a:ext cx="708660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二、非齐次线性方程组解的结构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011FB94-5D63-4D29-8DBE-683807460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392" y="1454508"/>
            <a:ext cx="63246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1.  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非齐次线性方程组与其导出组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7897BAE-D564-4791-B43B-981E582B6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324" y="2180265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设有非齐次线性方程组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B192EB-DD69-45D7-B24D-479A4C4F9C59}"/>
                  </a:ext>
                </a:extLst>
              </p:cNvPr>
              <p:cNvSpPr txBox="1"/>
              <p:nvPr/>
            </p:nvSpPr>
            <p:spPr>
              <a:xfrm>
                <a:off x="1847528" y="2955107"/>
                <a:ext cx="7728462" cy="1644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⋯+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⋯⋯⋯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𝒔</m:t>
                                                </m:r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𝒔</m:t>
                                                </m:r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𝒂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𝒔𝒏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𝒏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𝒔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B192EB-DD69-45D7-B24D-479A4C4F9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2955107"/>
                <a:ext cx="7728462" cy="16448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AE957E03-797A-4003-AAF6-F0AB153DF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400" y="4795385"/>
                <a:ext cx="856895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若令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⋯=</m:t>
                    </m:r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，就得到齐次方程组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(1).</a:t>
                </a:r>
                <a:endPara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AE957E03-797A-4003-AAF6-F0AB153D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400" y="4795385"/>
                <a:ext cx="8568952" cy="523220"/>
              </a:xfrm>
              <a:prstGeom prst="rect">
                <a:avLst/>
              </a:prstGeom>
              <a:blipFill>
                <a:blip r:embed="rId3"/>
                <a:stretch>
                  <a:fillRect l="-1422" t="-15294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5">
            <a:extLst>
              <a:ext uri="{FF2B5EF4-FFF2-40B4-BE49-F238E27FC236}">
                <a16:creationId xmlns:a16="http://schemas.microsoft.com/office/drawing/2014/main" id="{F3A25686-1173-4DED-80CC-D0CD994CA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5490866"/>
            <a:ext cx="85689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称为方程组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1"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2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9" name="Text Box 3">
            <a:extLst>
              <a:ext uri="{FF2B5EF4-FFF2-40B4-BE49-F238E27FC236}">
                <a16:creationId xmlns:a16="http://schemas.microsoft.com/office/drawing/2014/main" id="{31AE74DC-9543-4217-8CC4-DBE79A160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111" y="793204"/>
            <a:ext cx="88058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  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非齐次线性方程组的解与其导出组的解之间的关系</a:t>
            </a:r>
            <a:endParaRPr kumimoji="1" lang="zh-CN" altLang="en-US" sz="2800" b="1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6662" name="Text Box 6">
            <a:extLst>
              <a:ext uri="{FF2B5EF4-FFF2-40B4-BE49-F238E27FC236}">
                <a16:creationId xmlns:a16="http://schemas.microsoft.com/office/drawing/2014/main" id="{201A0025-8CAE-484E-888D-9F1411085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111" y="1517103"/>
            <a:ext cx="9737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的解与它的导出组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的解之间有密切的关系：</a:t>
            </a:r>
          </a:p>
        </p:txBody>
      </p:sp>
      <p:sp>
        <p:nvSpPr>
          <p:cNvPr id="326664" name="Text Box 8">
            <a:extLst>
              <a:ext uri="{FF2B5EF4-FFF2-40B4-BE49-F238E27FC236}">
                <a16:creationId xmlns:a16="http://schemas.microsoft.com/office/drawing/2014/main" id="{B7F41BE6-6987-4A96-B6A4-BDD444553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110" y="2280432"/>
            <a:ext cx="967740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性质 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线性方程组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的两个解的差是它的导出组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的解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2F1234-0A18-4BD6-82F9-451ED6BCE438}"/>
              </a:ext>
            </a:extLst>
          </p:cNvPr>
          <p:cNvSpPr txBox="1"/>
          <p:nvPr/>
        </p:nvSpPr>
        <p:spPr>
          <a:xfrm>
            <a:off x="1099110" y="3003676"/>
            <a:ext cx="1320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证明： 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7A8F68-CFBE-4D6E-8BAF-EA20CF20381D}"/>
              </a:ext>
            </a:extLst>
          </p:cNvPr>
          <p:cNvSpPr txBox="1"/>
          <p:nvPr/>
        </p:nvSpPr>
        <p:spPr>
          <a:xfrm>
            <a:off x="2567608" y="3003676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4DA7A07-0B64-4DD6-B84A-BF5DD7CCE17C}"/>
                  </a:ext>
                </a:extLst>
              </p:cNvPr>
              <p:cNvSpPr txBox="1"/>
              <p:nvPr/>
            </p:nvSpPr>
            <p:spPr>
              <a:xfrm>
                <a:off x="1749534" y="3593046"/>
                <a:ext cx="3024336" cy="1747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4DA7A07-0B64-4DD6-B84A-BF5DD7CCE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534" y="3593046"/>
                <a:ext cx="3024336" cy="17478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07391E13-C3F5-46F6-B8B6-08FE353FFFE6}"/>
              </a:ext>
            </a:extLst>
          </p:cNvPr>
          <p:cNvSpPr txBox="1"/>
          <p:nvPr/>
        </p:nvSpPr>
        <p:spPr>
          <a:xfrm>
            <a:off x="4655840" y="4205361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B211ECA-8628-4CF6-9ECC-64851C7A328B}"/>
                  </a:ext>
                </a:extLst>
              </p:cNvPr>
              <p:cNvSpPr txBox="1"/>
              <p:nvPr/>
            </p:nvSpPr>
            <p:spPr>
              <a:xfrm>
                <a:off x="5303912" y="3605805"/>
                <a:ext cx="3024336" cy="1776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B211ECA-8628-4CF6-9ECC-64851C7A3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2" y="3605805"/>
                <a:ext cx="3024336" cy="1776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6">
            <a:extLst>
              <a:ext uri="{FF2B5EF4-FFF2-40B4-BE49-F238E27FC236}">
                <a16:creationId xmlns:a16="http://schemas.microsoft.com/office/drawing/2014/main" id="{EB0A5BAE-A1F2-4989-AB8B-3EE1F16CE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5484678"/>
            <a:ext cx="540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的两个解，则有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/>
      <p:bldP spid="326662" grpId="0"/>
      <p:bldP spid="326664" grpId="0"/>
      <p:bldP spid="11" grpId="0"/>
      <p:bldP spid="3" grpId="0"/>
      <p:bldP spid="14" grpId="0"/>
      <p:bldP spid="15" grpId="0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2CF21B0-11D8-43F7-8ACD-99CB23EDB4A7}"/>
                  </a:ext>
                </a:extLst>
              </p:cNvPr>
              <p:cNvSpPr txBox="1"/>
              <p:nvPr/>
            </p:nvSpPr>
            <p:spPr>
              <a:xfrm>
                <a:off x="2711624" y="980728"/>
                <a:ext cx="5231689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2CF21B0-11D8-43F7-8ACD-99CB23EDB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980728"/>
                <a:ext cx="5231689" cy="1229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DA4182F-C673-4074-8B70-10FD99DA980F}"/>
                  </a:ext>
                </a:extLst>
              </p:cNvPr>
              <p:cNvSpPr txBox="1"/>
              <p:nvPr/>
            </p:nvSpPr>
            <p:spPr>
              <a:xfrm>
                <a:off x="2711623" y="2348880"/>
                <a:ext cx="5002460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DA4182F-C673-4074-8B70-10FD99DA9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3" y="2348880"/>
                <a:ext cx="5002460" cy="1229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>
            <a:extLst>
              <a:ext uri="{FF2B5EF4-FFF2-40B4-BE49-F238E27FC236}">
                <a16:creationId xmlns:a16="http://schemas.microsoft.com/office/drawing/2014/main" id="{01E9C092-19F6-435A-ACFC-7A03AFA02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3751834"/>
            <a:ext cx="32403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这两式两边相减得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1D482D8-7652-47E9-BA7E-CE50EC1CE96C}"/>
                  </a:ext>
                </a:extLst>
              </p:cNvPr>
              <p:cNvSpPr txBox="1"/>
              <p:nvPr/>
            </p:nvSpPr>
            <p:spPr>
              <a:xfrm>
                <a:off x="2461747" y="4275054"/>
                <a:ext cx="7266798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1D482D8-7652-47E9-BA7E-CE50EC1CE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747" y="4275054"/>
                <a:ext cx="7266798" cy="1229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17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D05F6094-0FD1-4FC9-B64F-0C8194B48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53" y="3391327"/>
            <a:ext cx="32403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是导出组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FA835DC-F7EA-49E6-BFA8-67AC8542E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53" y="692696"/>
            <a:ext cx="32403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这说明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012326-FF83-45ED-BEA5-0EA0852D4772}"/>
                  </a:ext>
                </a:extLst>
              </p:cNvPr>
              <p:cNvSpPr txBox="1"/>
              <p:nvPr/>
            </p:nvSpPr>
            <p:spPr>
              <a:xfrm>
                <a:off x="2495600" y="1420365"/>
                <a:ext cx="6094428" cy="1776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E012326-FF83-45ED-BEA5-0EA0852D4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1420365"/>
                <a:ext cx="6094428" cy="17760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79984F6-6D19-4080-B135-ED23834409E7}"/>
              </a:ext>
            </a:extLst>
          </p:cNvPr>
          <p:cNvSpPr txBox="1"/>
          <p:nvPr/>
        </p:nvSpPr>
        <p:spPr>
          <a:xfrm>
            <a:off x="9984432" y="4221088"/>
            <a:ext cx="1362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</a:p>
        </p:txBody>
      </p:sp>
    </p:spTree>
    <p:extLst>
      <p:ext uri="{BB962C8B-B14F-4D97-AF65-F5344CB8AC3E}">
        <p14:creationId xmlns:p14="http://schemas.microsoft.com/office/powerpoint/2010/main" val="240940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utoUpdateAnimBg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9" name="Text Box 5">
            <a:extLst>
              <a:ext uri="{FF2B5EF4-FFF2-40B4-BE49-F238E27FC236}">
                <a16:creationId xmlns:a16="http://schemas.microsoft.com/office/drawing/2014/main" id="{8F01359D-7B81-49A9-A6AA-4BA5B71B8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721092"/>
            <a:ext cx="1087320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性质 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线性方程组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的一个解与它的导出组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的一个解之和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8710" name="Text Box 6">
            <a:extLst>
              <a:ext uri="{FF2B5EF4-FFF2-40B4-BE49-F238E27FC236}">
                <a16:creationId xmlns:a16="http://schemas.microsoft.com/office/drawing/2014/main" id="{B4068ED9-4264-4C8B-A627-1473BA56E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375276"/>
            <a:ext cx="8374063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还是这个线性方程组的一个解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28711" name="Text Box 7">
            <a:extLst>
              <a:ext uri="{FF2B5EF4-FFF2-40B4-BE49-F238E27FC236}">
                <a16:creationId xmlns:a16="http://schemas.microsoft.com/office/drawing/2014/main" id="{00450742-7B8D-4BF8-BFA8-D71E1687A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2025352"/>
            <a:ext cx="11430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证明：</a:t>
            </a:r>
          </a:p>
        </p:txBody>
      </p:sp>
      <p:sp>
        <p:nvSpPr>
          <p:cNvPr id="328712" name="Rectangle 8">
            <a:extLst>
              <a:ext uri="{FF2B5EF4-FFF2-40B4-BE49-F238E27FC236}">
                <a16:creationId xmlns:a16="http://schemas.microsoft.com/office/drawing/2014/main" id="{0460D6AC-A852-43D4-A28E-371F75026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626" y="2029459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设 </a:t>
            </a:r>
          </a:p>
        </p:txBody>
      </p:sp>
      <p:sp>
        <p:nvSpPr>
          <p:cNvPr id="328716" name="Text Box 12">
            <a:extLst>
              <a:ext uri="{FF2B5EF4-FFF2-40B4-BE49-F238E27FC236}">
                <a16:creationId xmlns:a16="http://schemas.microsoft.com/office/drawing/2014/main" id="{66208916-EEF3-4268-9B0D-1927BECE6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4499934"/>
            <a:ext cx="446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的一个解，</a:t>
            </a:r>
          </a:p>
        </p:txBody>
      </p:sp>
      <p:sp>
        <p:nvSpPr>
          <p:cNvPr id="328717" name="Text Box 13">
            <a:extLst>
              <a:ext uri="{FF2B5EF4-FFF2-40B4-BE49-F238E27FC236}">
                <a16:creationId xmlns:a16="http://schemas.microsoft.com/office/drawing/2014/main" id="{ADF63E3F-2CE3-45F6-833C-F3DF2CAD4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4499934"/>
            <a:ext cx="100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0CBCD4E-7338-471C-9CAE-84CA3C243EC6}"/>
                  </a:ext>
                </a:extLst>
              </p:cNvPr>
              <p:cNvSpPr txBox="1"/>
              <p:nvPr/>
            </p:nvSpPr>
            <p:spPr>
              <a:xfrm>
                <a:off x="4223792" y="2614017"/>
                <a:ext cx="3024336" cy="1747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0CBCD4E-7338-471C-9CAE-84CA3C243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2614017"/>
                <a:ext cx="3024336" cy="17478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9" grpId="0" build="p" autoUpdateAnimBg="0"/>
      <p:bldP spid="328710" grpId="0"/>
      <p:bldP spid="328711" grpId="0"/>
      <p:bldP spid="328712" grpId="0"/>
      <p:bldP spid="328716" grpId="0"/>
      <p:bldP spid="328717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498250-6A9E-41AF-95BE-7E31AF9562C6}"/>
                  </a:ext>
                </a:extLst>
              </p:cNvPr>
              <p:cNvSpPr txBox="1"/>
              <p:nvPr/>
            </p:nvSpPr>
            <p:spPr>
              <a:xfrm>
                <a:off x="3174121" y="464474"/>
                <a:ext cx="3024336" cy="1776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2498250-6A9E-41AF-95BE-7E31AF95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121" y="464474"/>
                <a:ext cx="3024336" cy="17760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6">
            <a:extLst>
              <a:ext uri="{FF2B5EF4-FFF2-40B4-BE49-F238E27FC236}">
                <a16:creationId xmlns:a16="http://schemas.microsoft.com/office/drawing/2014/main" id="{35774958-26F4-43EB-AE91-90C9956A9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41" y="2286165"/>
            <a:ext cx="40324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是导出组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的解，则有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5A3BD91-A57E-4009-8AEB-42E814CEEA23}"/>
                  </a:ext>
                </a:extLst>
              </p:cNvPr>
              <p:cNvSpPr txBox="1"/>
              <p:nvPr/>
            </p:nvSpPr>
            <p:spPr>
              <a:xfrm>
                <a:off x="2567608" y="2866297"/>
                <a:ext cx="6796156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ctrlP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5A3BD91-A57E-4009-8AEB-42E814CEE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2866297"/>
                <a:ext cx="6796156" cy="1229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>
            <a:extLst>
              <a:ext uri="{FF2B5EF4-FFF2-40B4-BE49-F238E27FC236}">
                <a16:creationId xmlns:a16="http://schemas.microsoft.com/office/drawing/2014/main" id="{99B133A8-12D2-4942-8F92-BA753AAC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41" y="4198275"/>
            <a:ext cx="40324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这两式两边相加得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54F8BA6-3F9C-4318-A2BF-F997E5AAA744}"/>
                  </a:ext>
                </a:extLst>
              </p:cNvPr>
              <p:cNvSpPr txBox="1"/>
              <p:nvPr/>
            </p:nvSpPr>
            <p:spPr>
              <a:xfrm>
                <a:off x="2999656" y="4880946"/>
                <a:ext cx="5512663" cy="12294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54F8BA6-3F9C-4318-A2BF-F997E5AAA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56" y="4880946"/>
                <a:ext cx="5512663" cy="1229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8FCBAF1F-E87A-4B42-B8CA-B45053CCCC22}"/>
              </a:ext>
            </a:extLst>
          </p:cNvPr>
          <p:cNvSpPr txBox="1"/>
          <p:nvPr/>
        </p:nvSpPr>
        <p:spPr>
          <a:xfrm>
            <a:off x="9984432" y="5373216"/>
            <a:ext cx="1362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</a:p>
        </p:txBody>
      </p:sp>
    </p:spTree>
    <p:extLst>
      <p:ext uri="{BB962C8B-B14F-4D97-AF65-F5344CB8AC3E}">
        <p14:creationId xmlns:p14="http://schemas.microsoft.com/office/powerpoint/2010/main" val="255437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Text Box 2">
            <a:extLst>
              <a:ext uri="{FF2B5EF4-FFF2-40B4-BE49-F238E27FC236}">
                <a16:creationId xmlns:a16="http://schemas.microsoft.com/office/drawing/2014/main" id="{C538B80A-2E1D-4FDC-9D73-71435B3A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436" y="733921"/>
            <a:ext cx="60198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非齐次线性方程组解的结构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0755" name="Text Box 3">
                <a:extLst>
                  <a:ext uri="{FF2B5EF4-FFF2-40B4-BE49-F238E27FC236}">
                    <a16:creationId xmlns:a16="http://schemas.microsoft.com/office/drawing/2014/main" id="{D5E29D8B-FD9A-40B4-A7A4-E1E221365E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638" y="1453164"/>
                <a:ext cx="1047697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定理 </a:t>
                </a: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9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 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𝜸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是方程组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(8)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的一个特解，那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么方程组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(8)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的任一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0755" name="Text Box 3">
                <a:extLst>
                  <a:ext uri="{FF2B5EF4-FFF2-40B4-BE49-F238E27FC236}">
                    <a16:creationId xmlns:a16="http://schemas.microsoft.com/office/drawing/2014/main" id="{D5E29D8B-FD9A-40B4-A7A4-E1E221365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3638" y="1453164"/>
                <a:ext cx="10476978" cy="523220"/>
              </a:xfrm>
              <a:prstGeom prst="rect">
                <a:avLst/>
              </a:prstGeom>
              <a:blipFill>
                <a:blip r:embed="rId2"/>
                <a:stretch>
                  <a:fillRect l="-1280" t="-16279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756" name="Text Box 4">
                <a:extLst>
                  <a:ext uri="{FF2B5EF4-FFF2-40B4-BE49-F238E27FC236}">
                    <a16:creationId xmlns:a16="http://schemas.microsoft.com/office/drawing/2014/main" id="{ED4D4D0B-9266-47B2-AE81-FA0B0FD08A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376" y="2092324"/>
                <a:ext cx="3240360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个解</a:t>
                </a:r>
                <a14:m>
                  <m:oMath xmlns:m="http://schemas.openxmlformats.org/officeDocument/2006/math">
                    <m:r>
                      <a:rPr kumimoji="1" lang="zh-CN" altLang="en-US" sz="2800" b="1" i="1" smtClean="0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𝜸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都可以表成</a:t>
                </a:r>
              </a:p>
            </p:txBody>
          </p:sp>
        </mc:Choice>
        <mc:Fallback xmlns="">
          <p:sp>
            <p:nvSpPr>
              <p:cNvPr id="330756" name="Text Box 4">
                <a:extLst>
                  <a:ext uri="{FF2B5EF4-FFF2-40B4-BE49-F238E27FC236}">
                    <a16:creationId xmlns:a16="http://schemas.microsoft.com/office/drawing/2014/main" id="{ED4D4D0B-9266-47B2-AE81-FA0B0FD08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376" y="2092324"/>
                <a:ext cx="3240360" cy="519113"/>
              </a:xfrm>
              <a:prstGeom prst="rect">
                <a:avLst/>
              </a:prstGeom>
              <a:blipFill>
                <a:blip r:embed="rId3"/>
                <a:stretch>
                  <a:fillRect l="-4143" t="-16471" b="-36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758" name="Text Box 6">
                <a:extLst>
                  <a:ext uri="{FF2B5EF4-FFF2-40B4-BE49-F238E27FC236}">
                    <a16:creationId xmlns:a16="http://schemas.microsoft.com/office/drawing/2014/main" id="{A128927C-C98C-403B-A96E-7529ACAE0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992" y="3381397"/>
                <a:ext cx="495300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𝜼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是导出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组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(1)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的一个解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en-US" altLang="zh-CN" sz="2800" b="1" i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30758" name="Text Box 6">
                <a:extLst>
                  <a:ext uri="{FF2B5EF4-FFF2-40B4-BE49-F238E27FC236}">
                    <a16:creationId xmlns:a16="http://schemas.microsoft.com/office/drawing/2014/main" id="{A128927C-C98C-403B-A96E-7529ACAE0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992" y="3381397"/>
                <a:ext cx="4953000" cy="519112"/>
              </a:xfrm>
              <a:prstGeom prst="rect">
                <a:avLst/>
              </a:prstGeom>
              <a:blipFill>
                <a:blip r:embed="rId4"/>
                <a:stretch>
                  <a:fillRect l="-2709" t="-17647" b="-4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759" name="Text Box 7">
                <a:extLst>
                  <a:ext uri="{FF2B5EF4-FFF2-40B4-BE49-F238E27FC236}">
                    <a16:creationId xmlns:a16="http://schemas.microsoft.com/office/drawing/2014/main" id="{EA88B83C-34F8-4762-976C-BD45076E42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1904" y="3370778"/>
                <a:ext cx="6264696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因此，对于方程组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(8)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的任一个特解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𝜸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，</a:t>
                </a:r>
                <a:endParaRPr kumimoji="1" lang="zh-CN" altLang="en-US" sz="28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0759" name="Text Box 7">
                <a:extLst>
                  <a:ext uri="{FF2B5EF4-FFF2-40B4-BE49-F238E27FC236}">
                    <a16:creationId xmlns:a16="http://schemas.microsoft.com/office/drawing/2014/main" id="{EA88B83C-34F8-4762-976C-BD45076E4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1904" y="3370778"/>
                <a:ext cx="6264696" cy="523220"/>
              </a:xfrm>
              <a:prstGeom prst="rect">
                <a:avLst/>
              </a:prstGeom>
              <a:blipFill>
                <a:blip r:embed="rId5"/>
                <a:stretch>
                  <a:fillRect l="-2043" t="-17442" r="-8171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0760" name="Text Box 8">
                <a:extLst>
                  <a:ext uri="{FF2B5EF4-FFF2-40B4-BE49-F238E27FC236}">
                    <a16:creationId xmlns:a16="http://schemas.microsoft.com/office/drawing/2014/main" id="{ABA3D625-D4D9-4ECB-B823-60AF43A69D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992" y="4123331"/>
                <a:ext cx="10351536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𝜼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取遍它的导出组的全部解时，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(9)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就给出方程组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(8)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的全部解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30760" name="Text Box 8">
                <a:extLst>
                  <a:ext uri="{FF2B5EF4-FFF2-40B4-BE49-F238E27FC236}">
                    <a16:creationId xmlns:a16="http://schemas.microsoft.com/office/drawing/2014/main" id="{ABA3D625-D4D9-4ECB-B823-60AF43A69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992" y="4123331"/>
                <a:ext cx="10351536" cy="523220"/>
              </a:xfrm>
              <a:prstGeom prst="rect">
                <a:avLst/>
              </a:prstGeom>
              <a:blipFill>
                <a:blip r:embed="rId6"/>
                <a:stretch>
                  <a:fillRect l="-1296" t="-15116" r="-294" b="-360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EF670E-0358-4EAC-ADA8-5D557BC98EA6}"/>
                  </a:ext>
                </a:extLst>
              </p:cNvPr>
              <p:cNvSpPr txBox="1"/>
              <p:nvPr/>
            </p:nvSpPr>
            <p:spPr>
              <a:xfrm>
                <a:off x="4281628" y="2710558"/>
                <a:ext cx="71161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b="1" smtClean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𝜸</m:t>
                      </m:r>
                      <m:r>
                        <a:rPr kumimoji="1" lang="en-US" altLang="zh-CN" sz="2800" b="1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0066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rgbClr val="0066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𝜸</m:t>
                          </m:r>
                        </m:e>
                        <m:sub>
                          <m:r>
                            <a:rPr kumimoji="1" lang="en-US" altLang="zh-CN" sz="2800" b="1">
                              <a:solidFill>
                                <a:srgbClr val="0066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kumimoji="1" lang="en-US" altLang="zh-CN" sz="2800" b="1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 b="1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𝜼</m:t>
                      </m:r>
                      <m:r>
                        <a:rPr kumimoji="1" lang="en-US" altLang="zh-CN" sz="2800" b="1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                                     </m:t>
                      </m:r>
                      <m:r>
                        <a:rPr kumimoji="1" lang="en-US" altLang="zh-CN" sz="2800" b="1" i="0" smtClean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      </m:t>
                      </m:r>
                      <m:r>
                        <a:rPr kumimoji="1" lang="en-US" altLang="zh-CN" sz="2800" b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en-US" altLang="zh-CN" sz="2800" b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𝟗</m:t>
                      </m:r>
                      <m:r>
                        <a:rPr kumimoji="1" lang="en-US" altLang="zh-CN" sz="2800" b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EF670E-0358-4EAC-ADA8-5D557BC98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628" y="2710558"/>
                <a:ext cx="7116179" cy="430887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4" grpId="0" build="p" autoUpdateAnimBg="0"/>
      <p:bldP spid="330755" grpId="0"/>
      <p:bldP spid="330756" grpId="0"/>
      <p:bldP spid="330758" grpId="0"/>
      <p:bldP spid="330759" grpId="0"/>
      <p:bldP spid="330760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1781" name="Text Box 5">
                <a:extLst>
                  <a:ext uri="{FF2B5EF4-FFF2-40B4-BE49-F238E27FC236}">
                    <a16:creationId xmlns:a16="http://schemas.microsoft.com/office/drawing/2014/main" id="{4E6DD74B-72CA-4490-93F1-1CBC66EB4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376" y="2173564"/>
                <a:ext cx="8153400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由上面的性质，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是导出组 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(1)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的一个解，令</a:t>
                </a:r>
                <a:endParaRPr kumimoji="1" lang="zh-CN" altLang="en-US" sz="28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31781" name="Text Box 5">
                <a:extLst>
                  <a:ext uri="{FF2B5EF4-FFF2-40B4-BE49-F238E27FC236}">
                    <a16:creationId xmlns:a16="http://schemas.microsoft.com/office/drawing/2014/main" id="{4E6DD74B-72CA-4490-93F1-1CBC66EB4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376" y="2173564"/>
                <a:ext cx="8153400" cy="519113"/>
              </a:xfrm>
              <a:prstGeom prst="rect">
                <a:avLst/>
              </a:prstGeom>
              <a:blipFill>
                <a:blip r:embed="rId2"/>
                <a:stretch>
                  <a:fillRect l="-1571" t="-16471" b="-294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1783" name="Text Box 7">
            <a:extLst>
              <a:ext uri="{FF2B5EF4-FFF2-40B4-BE49-F238E27FC236}">
                <a16:creationId xmlns:a16="http://schemas.microsoft.com/office/drawing/2014/main" id="{49080F59-2349-4E72-AF9D-7106B2687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3375542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就得到定理的结论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31784" name="Text Box 8">
            <a:extLst>
              <a:ext uri="{FF2B5EF4-FFF2-40B4-BE49-F238E27FC236}">
                <a16:creationId xmlns:a16="http://schemas.microsoft.com/office/drawing/2014/main" id="{606BD7A5-9939-4C44-A92A-973C786E2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776" y="3370986"/>
            <a:ext cx="80328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既然方程组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的任一个解都能表成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(9)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的形式，</a:t>
            </a:r>
          </a:p>
        </p:txBody>
      </p:sp>
      <p:sp>
        <p:nvSpPr>
          <p:cNvPr id="331788" name="Text Box 12">
            <a:extLst>
              <a:ext uri="{FF2B5EF4-FFF2-40B4-BE49-F238E27FC236}">
                <a16:creationId xmlns:a16="http://schemas.microsoft.com/office/drawing/2014/main" id="{0AEE3BA2-22B7-48E6-905E-61DB9CF68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6440" y="5219924"/>
            <a:ext cx="12192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证毕</a:t>
            </a:r>
          </a:p>
        </p:txBody>
      </p:sp>
      <p:sp>
        <p:nvSpPr>
          <p:cNvPr id="52236" name="Rectangle 14">
            <a:extLst>
              <a:ext uri="{FF2B5EF4-FFF2-40B4-BE49-F238E27FC236}">
                <a16:creationId xmlns:a16="http://schemas.microsoft.com/office/drawing/2014/main" id="{C386C0B4-85A9-441B-9F65-8E150ED63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03F871F4-6F3B-483F-80A5-B2266ACD3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908720"/>
            <a:ext cx="129614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证明：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A5EFD23-73FD-42E3-BAF3-C4825E3F002C}"/>
                  </a:ext>
                </a:extLst>
              </p:cNvPr>
              <p:cNvSpPr txBox="1"/>
              <p:nvPr/>
            </p:nvSpPr>
            <p:spPr>
              <a:xfrm>
                <a:off x="2438400" y="908720"/>
                <a:ext cx="1981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把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写成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A5EFD23-73FD-42E3-BAF3-C4825E3F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908720"/>
                <a:ext cx="1981200" cy="523220"/>
              </a:xfrm>
              <a:prstGeom prst="rect">
                <a:avLst/>
              </a:prstGeom>
              <a:blipFill>
                <a:blip r:embed="rId3"/>
                <a:stretch>
                  <a:fillRect l="-6154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2A7FAC0-1653-4699-B01D-D15473E890B6}"/>
                  </a:ext>
                </a:extLst>
              </p:cNvPr>
              <p:cNvSpPr txBox="1"/>
              <p:nvPr/>
            </p:nvSpPr>
            <p:spPr>
              <a:xfrm>
                <a:off x="4634727" y="1461700"/>
                <a:ext cx="292881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2A7FAC0-1653-4699-B01D-D15473E89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727" y="1461700"/>
                <a:ext cx="292881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0F67E8B-3CA8-469F-B2F4-595B968CF15C}"/>
                  </a:ext>
                </a:extLst>
              </p:cNvPr>
              <p:cNvSpPr txBox="1"/>
              <p:nvPr/>
            </p:nvSpPr>
            <p:spPr>
              <a:xfrm>
                <a:off x="5015880" y="2762545"/>
                <a:ext cx="18150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𝜼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0F67E8B-3CA8-469F-B2F4-595B968CF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80" y="2762545"/>
                <a:ext cx="181504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7">
                <a:extLst>
                  <a:ext uri="{FF2B5EF4-FFF2-40B4-BE49-F238E27FC236}">
                    <a16:creationId xmlns:a16="http://schemas.microsoft.com/office/drawing/2014/main" id="{673D799F-1B19-4A1C-BB80-9CD932FF71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376" y="4050470"/>
                <a:ext cx="748883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由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性质 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，在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𝜼</m:t>
                    </m:r>
                  </m:oMath>
                </a14:m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取遍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的全部解的时候，</a:t>
                </a:r>
                <a:endParaRPr kumimoji="1"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Text Box 7">
                <a:extLst>
                  <a:ext uri="{FF2B5EF4-FFF2-40B4-BE49-F238E27FC236}">
                    <a16:creationId xmlns:a16="http://schemas.microsoft.com/office/drawing/2014/main" id="{673D799F-1B19-4A1C-BB80-9CD932FF7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376" y="4050470"/>
                <a:ext cx="7488832" cy="523220"/>
              </a:xfrm>
              <a:prstGeom prst="rect">
                <a:avLst/>
              </a:prstGeom>
              <a:blipFill>
                <a:blip r:embed="rId6"/>
                <a:stretch>
                  <a:fillRect l="-1710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F9A1743-02E3-4B36-A9EA-85BB9C1FD3FC}"/>
                  </a:ext>
                </a:extLst>
              </p:cNvPr>
              <p:cNvSpPr txBox="1"/>
              <p:nvPr/>
            </p:nvSpPr>
            <p:spPr>
              <a:xfrm>
                <a:off x="5015879" y="4695418"/>
                <a:ext cx="18150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𝜼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F9A1743-02E3-4B36-A9EA-85BB9C1F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79" y="4695418"/>
                <a:ext cx="181504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7">
            <a:extLst>
              <a:ext uri="{FF2B5EF4-FFF2-40B4-BE49-F238E27FC236}">
                <a16:creationId xmlns:a16="http://schemas.microsoft.com/office/drawing/2014/main" id="{FB151373-CC49-49EB-B96D-9F8644C2D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83" y="5248033"/>
            <a:ext cx="74888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就取遍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的全部解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1" grpId="0"/>
      <p:bldP spid="331783" grpId="0"/>
      <p:bldP spid="331784" grpId="0"/>
      <p:bldP spid="331788" grpId="0"/>
      <p:bldP spid="14" grpId="0"/>
      <p:bldP spid="2" grpId="0"/>
      <p:bldP spid="3" grpId="0"/>
      <p:bldP spid="17" grpId="0"/>
      <p:bldP spid="19" grpId="0"/>
      <p:bldP spid="20" grpId="0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2804" name="Text Box 4">
                <a:extLst>
                  <a:ext uri="{FF2B5EF4-FFF2-40B4-BE49-F238E27FC236}">
                    <a16:creationId xmlns:a16="http://schemas.microsoft.com/office/drawing/2014/main" id="{3782596E-6ED0-4FBA-BDC0-78969769FD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9200" y="1431733"/>
                <a:ext cx="1063744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是非齐次线性方程组的一个特解，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是它的导出</a:t>
                </a:r>
                <a:endPara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32804" name="Text Box 4">
                <a:extLst>
                  <a:ext uri="{FF2B5EF4-FFF2-40B4-BE49-F238E27FC236}">
                    <a16:creationId xmlns:a16="http://schemas.microsoft.com/office/drawing/2014/main" id="{3782596E-6ED0-4FBA-BDC0-78969769F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9200" y="1431733"/>
                <a:ext cx="10637440" cy="523220"/>
              </a:xfrm>
              <a:prstGeom prst="rect">
                <a:avLst/>
              </a:prstGeom>
              <a:blipFill>
                <a:blip r:embed="rId2"/>
                <a:stretch>
                  <a:fillRect l="-1146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805" name="Rectangle 5">
                <a:extLst>
                  <a:ext uri="{FF2B5EF4-FFF2-40B4-BE49-F238E27FC236}">
                    <a16:creationId xmlns:a16="http://schemas.microsoft.com/office/drawing/2014/main" id="{E0D80B37-B61D-4196-BBBE-721472166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384" y="2129545"/>
                <a:ext cx="8229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kumimoji="1" lang="zh-CN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组的一个基础解系，则它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的任一解</a:t>
                </a:r>
                <a14:m>
                  <m:oMath xmlns:m="http://schemas.openxmlformats.org/officeDocument/2006/math">
                    <m:r>
                      <a:rPr kumimoji="1" lang="zh-CN" altLang="en-US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m:t>𝜼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可表示为</a:t>
                </a:r>
              </a:p>
            </p:txBody>
          </p:sp>
        </mc:Choice>
        <mc:Fallback xmlns="">
          <p:sp>
            <p:nvSpPr>
              <p:cNvPr id="332805" name="Rectangle 5">
                <a:extLst>
                  <a:ext uri="{FF2B5EF4-FFF2-40B4-BE49-F238E27FC236}">
                    <a16:creationId xmlns:a16="http://schemas.microsoft.com/office/drawing/2014/main" id="{E0D80B37-B61D-4196-BBBE-7214721666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4" y="2129545"/>
                <a:ext cx="8229600" cy="523220"/>
              </a:xfrm>
              <a:prstGeom prst="rect">
                <a:avLst/>
              </a:prstGeom>
              <a:blipFill>
                <a:blip r:embed="rId3"/>
                <a:stretch>
                  <a:fillRect l="-1481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2807" name="Text Box 7">
            <a:extLst>
              <a:ext uri="{FF2B5EF4-FFF2-40B4-BE49-F238E27FC236}">
                <a16:creationId xmlns:a16="http://schemas.microsoft.com/office/drawing/2014/main" id="{B5445EF7-6243-42D5-9CA0-FBBBC8FD1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3596190"/>
            <a:ext cx="61722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称之为非齐次线性方程组的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一般解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03385CE0-FA24-43D4-9FF8-40B25F078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436" y="733921"/>
            <a:ext cx="60198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非齐次线性方程组的一般解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AAB1224-830B-4DDD-B43C-2FF6010A35FF}"/>
              </a:ext>
            </a:extLst>
          </p:cNvPr>
          <p:cNvGrpSpPr/>
          <p:nvPr/>
        </p:nvGrpSpPr>
        <p:grpSpPr>
          <a:xfrm>
            <a:off x="3276600" y="2874115"/>
            <a:ext cx="6363790" cy="581199"/>
            <a:chOff x="3276600" y="2874115"/>
            <a:chExt cx="6363790" cy="581199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122F411-B6E5-47C6-8715-C147662D9122}"/>
                </a:ext>
              </a:extLst>
            </p:cNvPr>
            <p:cNvSpPr/>
            <p:nvPr/>
          </p:nvSpPr>
          <p:spPr>
            <a:xfrm>
              <a:off x="3276600" y="2874115"/>
              <a:ext cx="6363790" cy="58119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DF3B1ED-FD25-4EE3-96C0-65459C422D54}"/>
                    </a:ext>
                  </a:extLst>
                </p:cNvPr>
                <p:cNvSpPr txBox="1"/>
                <p:nvPr/>
              </p:nvSpPr>
              <p:spPr>
                <a:xfrm>
                  <a:off x="3359696" y="2874115"/>
                  <a:ext cx="628069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DF3B1ED-FD25-4EE3-96C0-65459C422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696" y="2874115"/>
                  <a:ext cx="6280694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/>
      <p:bldP spid="332805" grpId="0"/>
      <p:bldP spid="332807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>
            <a:extLst>
              <a:ext uri="{FF2B5EF4-FFF2-40B4-BE49-F238E27FC236}">
                <a16:creationId xmlns:a16="http://schemas.microsoft.com/office/drawing/2014/main" id="{AC777050-424A-4F8B-8FFD-DA6C83AE1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544" y="683055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由定理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容易得出以下推论：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691BBCAC-D64C-4E0F-9CD7-80F021153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073" y="1244683"/>
            <a:ext cx="1032105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推论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在非齐次线性方程组有解的条件下，解是唯一的当且仅当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0C3F0C-2065-4965-B061-14069342FB84}"/>
              </a:ext>
            </a:extLst>
          </p:cNvPr>
          <p:cNvSpPr txBox="1"/>
          <p:nvPr/>
        </p:nvSpPr>
        <p:spPr>
          <a:xfrm>
            <a:off x="492320" y="1837804"/>
            <a:ext cx="4176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它的导出组只有零解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03237F7-6A9C-45EF-B32F-DFC03E2E5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829" y="2437342"/>
            <a:ext cx="12192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zh-CN" altLang="en-US" sz="28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922CBE2-FFD6-466D-A724-FF9ACD91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029" y="2436206"/>
            <a:ext cx="15240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充分性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2DD4ACAC-5AED-4AF4-946F-048FDB830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4305" y="2410390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如果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有两个不同的解，那么它的差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289563C7-F769-40EC-A16B-AE03A9930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20" y="3062491"/>
            <a:ext cx="4392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就是导出组的一个非零解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82FCFAF4-CB40-43C7-B200-77E19349E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152" y="3035608"/>
            <a:ext cx="66845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因此，如果导出组只有零解，那么方程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3A4375-D25E-41D1-B088-E2A1E6CB7000}"/>
              </a:ext>
            </a:extLst>
          </p:cNvPr>
          <p:cNvSpPr txBox="1"/>
          <p:nvPr/>
        </p:nvSpPr>
        <p:spPr>
          <a:xfrm>
            <a:off x="551384" y="3650901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组有唯一解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7733D96C-9EE2-4A08-987B-106D7D778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829" y="4239271"/>
            <a:ext cx="15240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必要性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80C5ED5C-7E63-4298-A439-DB059F42E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95" y="4232668"/>
            <a:ext cx="942450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如果导出组有非零解，那么这个解与方程组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的一个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323669-A8D4-4691-9414-2613C758480A}"/>
              </a:ext>
            </a:extLst>
          </p:cNvPr>
          <p:cNvSpPr txBox="1"/>
          <p:nvPr/>
        </p:nvSpPr>
        <p:spPr>
          <a:xfrm>
            <a:off x="551384" y="4818315"/>
            <a:ext cx="10788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解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因为它有解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的和就是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的另外一个解，于是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不止一个解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864E17-A781-48BC-AFE2-E50D4BC84A7C}"/>
              </a:ext>
            </a:extLst>
          </p:cNvPr>
          <p:cNvSpPr txBox="1"/>
          <p:nvPr/>
        </p:nvSpPr>
        <p:spPr>
          <a:xfrm>
            <a:off x="565013" y="5401466"/>
            <a:ext cx="10788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因此，如果方程组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(8)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有唯一解，那么它的导出组只有零解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F932CABE-1520-4DEC-BA72-C631CDA17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9790" y="5541249"/>
            <a:ext cx="10668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证毕</a:t>
            </a:r>
          </a:p>
        </p:txBody>
      </p:sp>
    </p:spTree>
    <p:extLst>
      <p:ext uri="{BB962C8B-B14F-4D97-AF65-F5344CB8AC3E}">
        <p14:creationId xmlns:p14="http://schemas.microsoft.com/office/powerpoint/2010/main" val="414826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989FE1-32A6-4193-9F72-9A89A7BC14D7}"/>
              </a:ext>
            </a:extLst>
          </p:cNvPr>
          <p:cNvSpPr txBox="1"/>
          <p:nvPr/>
        </p:nvSpPr>
        <p:spPr>
          <a:xfrm>
            <a:off x="1343472" y="90872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lang="en-US" altLang="zh-CN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FAD262-A18D-4C62-AA09-4E84D22C5C95}"/>
              </a:ext>
            </a:extLst>
          </p:cNvPr>
          <p:cNvSpPr txBox="1"/>
          <p:nvPr/>
        </p:nvSpPr>
        <p:spPr>
          <a:xfrm>
            <a:off x="2654980" y="908720"/>
            <a:ext cx="40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求解非齐次线性方程组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B5839A-7F5E-495E-A5C3-A589E1615728}"/>
                  </a:ext>
                </a:extLst>
              </p:cNvPr>
              <p:cNvSpPr txBox="1"/>
              <p:nvPr/>
            </p:nvSpPr>
            <p:spPr>
              <a:xfrm>
                <a:off x="3215680" y="1772816"/>
                <a:ext cx="4542141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</m:sub>
                                    </m:sSub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B5839A-7F5E-495E-A5C3-A589E1615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772816"/>
                <a:ext cx="4542141" cy="1942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83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41419D-B83D-47AC-930E-36113B351FED}"/>
              </a:ext>
            </a:extLst>
          </p:cNvPr>
          <p:cNvSpPr txBox="1"/>
          <p:nvPr/>
        </p:nvSpPr>
        <p:spPr>
          <a:xfrm>
            <a:off x="1343472" y="90872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DBE91C-E76E-473E-9AD9-EE2F1AE74460}"/>
                  </a:ext>
                </a:extLst>
              </p:cNvPr>
              <p:cNvSpPr txBox="1"/>
              <p:nvPr/>
            </p:nvSpPr>
            <p:spPr>
              <a:xfrm>
                <a:off x="2279576" y="908720"/>
                <a:ext cx="56886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对增广矩阵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施行初等行变换：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DBE91C-E76E-473E-9AD9-EE2F1AE74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908720"/>
                <a:ext cx="5688632" cy="523220"/>
              </a:xfrm>
              <a:prstGeom prst="rect">
                <a:avLst/>
              </a:prstGeom>
              <a:blipFill>
                <a:blip r:embed="rId2"/>
                <a:stretch>
                  <a:fillRect l="-2251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861EF9D9-58DA-41DB-844A-1F3C836512AF}"/>
              </a:ext>
            </a:extLst>
          </p:cNvPr>
          <p:cNvGrpSpPr/>
          <p:nvPr/>
        </p:nvGrpSpPr>
        <p:grpSpPr>
          <a:xfrm>
            <a:off x="2567608" y="1819520"/>
            <a:ext cx="6527043" cy="1609480"/>
            <a:chOff x="2567608" y="1819520"/>
            <a:chExt cx="6527043" cy="16094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FCCB48C-B675-4626-982D-E086AE783984}"/>
                    </a:ext>
                  </a:extLst>
                </p:cNvPr>
                <p:cNvSpPr txBox="1"/>
                <p:nvPr/>
              </p:nvSpPr>
              <p:spPr>
                <a:xfrm>
                  <a:off x="2567608" y="1819520"/>
                  <a:ext cx="6527043" cy="16094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𝟑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𝟑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𝟖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𝟗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𝟕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𝟕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FCCB48C-B675-4626-982D-E086AE7839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7608" y="1819520"/>
                  <a:ext cx="6527043" cy="160948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81F4442-592E-4FA4-B294-DE3D08B9B701}"/>
                </a:ext>
              </a:extLst>
            </p:cNvPr>
            <p:cNvCxnSpPr>
              <a:cxnSpLocks/>
            </p:cNvCxnSpPr>
            <p:nvPr/>
          </p:nvCxnSpPr>
          <p:spPr>
            <a:xfrm>
              <a:off x="7939080" y="1861850"/>
              <a:ext cx="0" cy="15671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49B7EDE-8EF9-45CE-A125-61ACFE8EDCC8}"/>
              </a:ext>
            </a:extLst>
          </p:cNvPr>
          <p:cNvGrpSpPr/>
          <p:nvPr/>
        </p:nvGrpSpPr>
        <p:grpSpPr>
          <a:xfrm>
            <a:off x="3647728" y="3717032"/>
            <a:ext cx="6094428" cy="1701813"/>
            <a:chOff x="3647728" y="3717032"/>
            <a:chExt cx="6094428" cy="1701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469C7F3-2B73-4AE8-ADFD-0BCC7D0D7166}"/>
                    </a:ext>
                  </a:extLst>
                </p:cNvPr>
                <p:cNvSpPr txBox="1"/>
                <p:nvPr/>
              </p:nvSpPr>
              <p:spPr>
                <a:xfrm>
                  <a:off x="3647728" y="3717032"/>
                  <a:ext cx="6094428" cy="17018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𝟕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𝟒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𝟒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 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469C7F3-2B73-4AE8-ADFD-0BCC7D0D7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728" y="3717032"/>
                  <a:ext cx="6094428" cy="17018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B564120-9FC5-46AE-A0C0-F5EC375A1AE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4567938"/>
              <a:ext cx="7920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C448105-AF74-49A0-84D2-BE21640ABF02}"/>
                </a:ext>
              </a:extLst>
            </p:cNvPr>
            <p:cNvCxnSpPr>
              <a:cxnSpLocks/>
            </p:cNvCxnSpPr>
            <p:nvPr/>
          </p:nvCxnSpPr>
          <p:spPr>
            <a:xfrm>
              <a:off x="7824192" y="3784363"/>
              <a:ext cx="0" cy="15671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095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055F65-0A0A-4544-BD36-1A69F408C67F}"/>
              </a:ext>
            </a:extLst>
          </p:cNvPr>
          <p:cNvSpPr txBox="1"/>
          <p:nvPr/>
        </p:nvSpPr>
        <p:spPr>
          <a:xfrm>
            <a:off x="1343472" y="1330305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得到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2ED8136-F051-4788-8177-07DCD0451227}"/>
                  </a:ext>
                </a:extLst>
              </p:cNvPr>
              <p:cNvSpPr txBox="1"/>
              <p:nvPr/>
            </p:nvSpPr>
            <p:spPr>
              <a:xfrm>
                <a:off x="2423592" y="620688"/>
                <a:ext cx="4109587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2ED8136-F051-4788-8177-07DCD0451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620688"/>
                <a:ext cx="4109587" cy="1942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4AFFE227-32E4-4720-8EA9-DB65B25F7F4C}"/>
              </a:ext>
            </a:extLst>
          </p:cNvPr>
          <p:cNvSpPr txBox="1"/>
          <p:nvPr/>
        </p:nvSpPr>
        <p:spPr>
          <a:xfrm>
            <a:off x="1415480" y="2789572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 </a:t>
            </a:r>
            <a:r>
              <a:rPr lang="en-US" altLang="zh-CN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7D9A27-4617-49B8-94DA-6C1BF227B059}"/>
                  </a:ext>
                </a:extLst>
              </p:cNvPr>
              <p:cNvSpPr txBox="1"/>
              <p:nvPr/>
            </p:nvSpPr>
            <p:spPr>
              <a:xfrm>
                <a:off x="2707899" y="2789572"/>
                <a:ext cx="38252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，则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7D9A27-4617-49B8-94DA-6C1BF227B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899" y="2789572"/>
                <a:ext cx="3825280" cy="523220"/>
              </a:xfrm>
              <a:prstGeom prst="rect">
                <a:avLst/>
              </a:prstGeom>
              <a:blipFill>
                <a:blip r:embed="rId3"/>
                <a:stretch>
                  <a:fillRect l="-3185" t="-15294" r="-1592" b="-3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17C83EA-402B-4E0B-93DC-DAB485C0E4F9}"/>
                  </a:ext>
                </a:extLst>
              </p:cNvPr>
              <p:cNvSpPr txBox="1"/>
              <p:nvPr/>
            </p:nvSpPr>
            <p:spPr>
              <a:xfrm>
                <a:off x="2739377" y="3505468"/>
                <a:ext cx="3945567" cy="2598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                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                 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                              </m:t>
                                  </m:r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17C83EA-402B-4E0B-93DC-DAB485C0E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377" y="3505468"/>
                <a:ext cx="3945567" cy="25989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433B23-4754-44C3-989D-01CDCC7B6285}"/>
                  </a:ext>
                </a:extLst>
              </p:cNvPr>
              <p:cNvSpPr txBox="1"/>
              <p:nvPr/>
            </p:nvSpPr>
            <p:spPr>
              <a:xfrm>
                <a:off x="7320136" y="4221088"/>
                <a:ext cx="32403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为任意常数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433B23-4754-44C3-989D-01CDCC7B6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6" y="4221088"/>
                <a:ext cx="3240360" cy="523220"/>
              </a:xfrm>
              <a:prstGeom prst="rect">
                <a:avLst/>
              </a:prstGeom>
              <a:blipFill>
                <a:blip r:embed="rId5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27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3C716A-F165-4F9B-B1E3-B9BD9AAE98F5}"/>
              </a:ext>
            </a:extLst>
          </p:cNvPr>
          <p:cNvSpPr txBox="1"/>
          <p:nvPr/>
        </p:nvSpPr>
        <p:spPr>
          <a:xfrm>
            <a:off x="767408" y="1124744"/>
            <a:ext cx="33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这就是方程的通解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86A7E0-BFA2-4518-A38D-EF5CF0E92AFF}"/>
              </a:ext>
            </a:extLst>
          </p:cNvPr>
          <p:cNvSpPr txBox="1"/>
          <p:nvPr/>
        </p:nvSpPr>
        <p:spPr>
          <a:xfrm>
            <a:off x="4007768" y="1120885"/>
            <a:ext cx="33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它也可以写为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3907074-E47B-4EBC-86AF-96991CBE1D18}"/>
                  </a:ext>
                </a:extLst>
              </p:cNvPr>
              <p:cNvSpPr txBox="1"/>
              <p:nvPr/>
            </p:nvSpPr>
            <p:spPr>
              <a:xfrm>
                <a:off x="1559496" y="1844824"/>
                <a:ext cx="9361040" cy="2493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,          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3907074-E47B-4EBC-86AF-96991CBE1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1844824"/>
                <a:ext cx="9361040" cy="24938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DB7125A7-B5BE-4726-AB9B-1804E3FE2CA3}"/>
              </a:ext>
            </a:extLst>
          </p:cNvPr>
          <p:cNvGrpSpPr/>
          <p:nvPr/>
        </p:nvGrpSpPr>
        <p:grpSpPr>
          <a:xfrm>
            <a:off x="7632733" y="4301459"/>
            <a:ext cx="4055326" cy="1744501"/>
            <a:chOff x="7632733" y="4301459"/>
            <a:chExt cx="4055326" cy="1744501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EFF2F23-7C64-44CD-ABF8-53929EA889C3}"/>
                </a:ext>
              </a:extLst>
            </p:cNvPr>
            <p:cNvSpPr/>
            <p:nvPr/>
          </p:nvSpPr>
          <p:spPr>
            <a:xfrm>
              <a:off x="8256240" y="4301459"/>
              <a:ext cx="2808312" cy="171982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BAC9CBC-207D-428B-AEF4-A0594361BA98}"/>
                    </a:ext>
                  </a:extLst>
                </p:cNvPr>
                <p:cNvSpPr txBox="1"/>
                <p:nvPr/>
              </p:nvSpPr>
              <p:spPr>
                <a:xfrm>
                  <a:off x="7632733" y="4313498"/>
                  <a:ext cx="4055326" cy="17324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CN" sz="1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num>
                                  <m:den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num>
                                  <m:den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=                </m:t>
                                </m:r>
                                <m:sSub>
                                  <m:sSub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                 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                              </m:t>
                                    </m:r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BAC9CBC-207D-428B-AEF4-A0594361B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733" y="4313498"/>
                  <a:ext cx="4055326" cy="17324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5247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3FCF18-1647-4E5F-956F-375579D609B5}"/>
              </a:ext>
            </a:extLst>
          </p:cNvPr>
          <p:cNvSpPr txBox="1"/>
          <p:nvPr/>
        </p:nvSpPr>
        <p:spPr>
          <a:xfrm>
            <a:off x="1271464" y="1073405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 </a:t>
            </a:r>
            <a:r>
              <a:rPr lang="en-US" altLang="zh-CN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29D082-ED8A-45EB-AF4F-215A3FE559AB}"/>
              </a:ext>
            </a:extLst>
          </p:cNvPr>
          <p:cNvSpPr txBox="1"/>
          <p:nvPr/>
        </p:nvSpPr>
        <p:spPr>
          <a:xfrm>
            <a:off x="2495600" y="1073405"/>
            <a:ext cx="1610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8CD377B-FD44-4564-B46B-3303137AF744}"/>
                  </a:ext>
                </a:extLst>
              </p:cNvPr>
              <p:cNvSpPr txBox="1"/>
              <p:nvPr/>
            </p:nvSpPr>
            <p:spPr>
              <a:xfrm>
                <a:off x="2999656" y="363788"/>
                <a:ext cx="4109587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8CD377B-FD44-4564-B46B-3303137A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56" y="363788"/>
                <a:ext cx="4109587" cy="1942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9539CA3-2E09-475C-A09D-4D55F5A5C90A}"/>
                  </a:ext>
                </a:extLst>
              </p:cNvPr>
              <p:cNvSpPr txBox="1"/>
              <p:nvPr/>
            </p:nvSpPr>
            <p:spPr>
              <a:xfrm>
                <a:off x="625957" y="2539234"/>
                <a:ext cx="88569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中令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，得非齐次线性方程组的一个特解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9539CA3-2E09-475C-A09D-4D55F5A5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57" y="2539234"/>
                <a:ext cx="8856984" cy="523220"/>
              </a:xfrm>
              <a:prstGeom prst="rect">
                <a:avLst/>
              </a:prstGeom>
              <a:blipFill>
                <a:blip r:embed="rId3"/>
                <a:stretch>
                  <a:fillRect l="-1445" t="-15294" b="-3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1A3337E-003F-4653-8423-C7D185D8BA9F}"/>
                  </a:ext>
                </a:extLst>
              </p:cNvPr>
              <p:cNvSpPr txBox="1"/>
              <p:nvPr/>
            </p:nvSpPr>
            <p:spPr>
              <a:xfrm>
                <a:off x="1631504" y="3198438"/>
                <a:ext cx="6094428" cy="2586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1A3337E-003F-4653-8423-C7D185D8B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3198438"/>
                <a:ext cx="6094428" cy="2586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73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564A886-3003-4F8F-9040-7D1BA5525254}"/>
              </a:ext>
            </a:extLst>
          </p:cNvPr>
          <p:cNvSpPr txBox="1"/>
          <p:nvPr/>
        </p:nvSpPr>
        <p:spPr>
          <a:xfrm>
            <a:off x="623392" y="692696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又因为原方程组对应的齐次线性方程组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导出组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已化为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69C8286-7939-416F-A9F1-22F0B44D8884}"/>
                  </a:ext>
                </a:extLst>
              </p:cNvPr>
              <p:cNvSpPr txBox="1"/>
              <p:nvPr/>
            </p:nvSpPr>
            <p:spPr>
              <a:xfrm>
                <a:off x="2279576" y="1261293"/>
                <a:ext cx="3500445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 +</m:t>
                              </m:r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69C8286-7939-416F-A9F1-22F0B44D8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1261293"/>
                <a:ext cx="3500445" cy="1942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6237668-1856-4424-924A-310BA6607476}"/>
                  </a:ext>
                </a:extLst>
              </p:cNvPr>
              <p:cNvSpPr txBox="1"/>
              <p:nvPr/>
            </p:nvSpPr>
            <p:spPr>
              <a:xfrm>
                <a:off x="7250519" y="1801900"/>
                <a:ext cx="3384376" cy="815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2800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6237668-1856-4424-924A-310BA6607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519" y="1801900"/>
                <a:ext cx="3384376" cy="815864"/>
              </a:xfrm>
              <a:prstGeom prst="rect">
                <a:avLst/>
              </a:prstGeom>
              <a:blipFill>
                <a:blip r:embed="rId3"/>
                <a:stretch>
                  <a:fillRect l="-3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F769B69-8142-4579-86B1-972FA46FDF32}"/>
              </a:ext>
            </a:extLst>
          </p:cNvPr>
          <p:cNvSpPr txBox="1"/>
          <p:nvPr/>
        </p:nvSpPr>
        <p:spPr>
          <a:xfrm>
            <a:off x="623392" y="4213240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得基础解系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61CAAB4-022A-4FCF-8AB9-8516DBCFC969}"/>
                  </a:ext>
                </a:extLst>
              </p:cNvPr>
              <p:cNvSpPr txBox="1"/>
              <p:nvPr/>
            </p:nvSpPr>
            <p:spPr>
              <a:xfrm>
                <a:off x="2318103" y="3203748"/>
                <a:ext cx="4896544" cy="2586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61CAAB4-022A-4FCF-8AB9-8516DBCFC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103" y="3203748"/>
                <a:ext cx="4896544" cy="2586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50DBF4F3-F934-4C65-897F-67BA3EF22CE3}"/>
              </a:ext>
            </a:extLst>
          </p:cNvPr>
          <p:cNvSpPr txBox="1"/>
          <p:nvPr/>
        </p:nvSpPr>
        <p:spPr>
          <a:xfrm>
            <a:off x="7244318" y="4213240"/>
            <a:ext cx="3820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所以原方程通解为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7348AD-04A4-4E01-A664-24047218F61D}"/>
                  </a:ext>
                </a:extLst>
              </p:cNvPr>
              <p:cNvSpPr txBox="1"/>
              <p:nvPr/>
            </p:nvSpPr>
            <p:spPr>
              <a:xfrm>
                <a:off x="7348371" y="4895353"/>
                <a:ext cx="3723647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altLang="zh-CN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7348AD-04A4-4E01-A664-2404721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371" y="4895353"/>
                <a:ext cx="3723647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29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ACF4C0-13AF-4209-ADBF-AC4C92FC5095}"/>
              </a:ext>
            </a:extLst>
          </p:cNvPr>
          <p:cNvSpPr txBox="1"/>
          <p:nvPr/>
        </p:nvSpPr>
        <p:spPr>
          <a:xfrm>
            <a:off x="1343472" y="90872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lang="en-US" altLang="zh-CN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1FF6-A3F1-4E6A-A924-A98725539A93}"/>
              </a:ext>
            </a:extLst>
          </p:cNvPr>
          <p:cNvSpPr txBox="1"/>
          <p:nvPr/>
        </p:nvSpPr>
        <p:spPr>
          <a:xfrm>
            <a:off x="2654980" y="908720"/>
            <a:ext cx="401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研究方程组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156DD27-9DFF-48B5-BBF4-F549C0778CA8}"/>
                  </a:ext>
                </a:extLst>
              </p:cNvPr>
              <p:cNvSpPr txBox="1"/>
              <p:nvPr/>
            </p:nvSpPr>
            <p:spPr>
              <a:xfrm>
                <a:off x="3359696" y="1628800"/>
                <a:ext cx="4711354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𝒌𝒙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156DD27-9DFF-48B5-BBF4-F549C077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696" y="1628800"/>
                <a:ext cx="4711354" cy="1375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75FA679-8C72-4B05-AE8B-65012ADA4095}"/>
                  </a:ext>
                </a:extLst>
              </p:cNvPr>
              <p:cNvSpPr txBox="1"/>
              <p:nvPr/>
            </p:nvSpPr>
            <p:spPr>
              <a:xfrm>
                <a:off x="629434" y="3330348"/>
                <a:ext cx="109391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问：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取何值时方程组有唯一解；</a:t>
                </a:r>
                <a:r>
                  <a:rPr lang="en-US" altLang="zh-CN" sz="2800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取何值时方程组有无穷多解或无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75FA679-8C72-4B05-AE8B-65012ADA4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34" y="3330348"/>
                <a:ext cx="10939174" cy="523220"/>
              </a:xfrm>
              <a:prstGeom prst="rect">
                <a:avLst/>
              </a:prstGeom>
              <a:blipFill>
                <a:blip r:embed="rId3"/>
                <a:stretch>
                  <a:fillRect l="-1114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9413A95F-1072-4DA9-B8A6-645EA2122D6D}"/>
              </a:ext>
            </a:extLst>
          </p:cNvPr>
          <p:cNvSpPr txBox="1"/>
          <p:nvPr/>
        </p:nvSpPr>
        <p:spPr>
          <a:xfrm>
            <a:off x="629434" y="4077072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解；有无穷多解时求出通解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7790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5E78BB-C4F5-461A-8EF4-3A8A8D3CDBA4}"/>
              </a:ext>
            </a:extLst>
          </p:cNvPr>
          <p:cNvSpPr txBox="1"/>
          <p:nvPr/>
        </p:nvSpPr>
        <p:spPr>
          <a:xfrm>
            <a:off x="1343472" y="908720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A7FAA34-1F36-481A-91F5-D07D0B61D2A8}"/>
                  </a:ext>
                </a:extLst>
              </p:cNvPr>
              <p:cNvSpPr txBox="1"/>
              <p:nvPr/>
            </p:nvSpPr>
            <p:spPr>
              <a:xfrm>
                <a:off x="2279576" y="908720"/>
                <a:ext cx="56886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对增广矩阵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施行初等行变换：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A7FAA34-1F36-481A-91F5-D07D0B61D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908720"/>
                <a:ext cx="5688632" cy="523220"/>
              </a:xfrm>
              <a:prstGeom prst="rect">
                <a:avLst/>
              </a:prstGeom>
              <a:blipFill>
                <a:blip r:embed="rId2"/>
                <a:stretch>
                  <a:fillRect l="-2251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66523C9A-6436-4B9A-B30F-161FE760A72F}"/>
              </a:ext>
            </a:extLst>
          </p:cNvPr>
          <p:cNvGrpSpPr/>
          <p:nvPr/>
        </p:nvGrpSpPr>
        <p:grpSpPr>
          <a:xfrm>
            <a:off x="2277782" y="1839154"/>
            <a:ext cx="5643789" cy="1182631"/>
            <a:chOff x="2277782" y="1839154"/>
            <a:chExt cx="5643789" cy="11826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06E696-AD27-46A3-99CA-E3CAA88593C0}"/>
                    </a:ext>
                  </a:extLst>
                </p:cNvPr>
                <p:cNvSpPr txBox="1"/>
                <p:nvPr/>
              </p:nvSpPr>
              <p:spPr>
                <a:xfrm>
                  <a:off x="2277782" y="1839154"/>
                  <a:ext cx="5643789" cy="11826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𝟏𝟖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06E696-AD27-46A3-99CA-E3CAA8859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7782" y="1839154"/>
                  <a:ext cx="5643789" cy="11826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3B9335E-C8F1-4684-A68B-CF04410D36C0}"/>
                </a:ext>
              </a:extLst>
            </p:cNvPr>
            <p:cNvCxnSpPr/>
            <p:nvPr/>
          </p:nvCxnSpPr>
          <p:spPr>
            <a:xfrm>
              <a:off x="6168008" y="1839154"/>
              <a:ext cx="0" cy="11826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E53E894-6910-4E0E-B9B0-27693F5F8E4F}"/>
              </a:ext>
            </a:extLst>
          </p:cNvPr>
          <p:cNvGrpSpPr/>
          <p:nvPr/>
        </p:nvGrpSpPr>
        <p:grpSpPr>
          <a:xfrm>
            <a:off x="4211309" y="3428999"/>
            <a:ext cx="4056897" cy="1284711"/>
            <a:chOff x="3935760" y="3428999"/>
            <a:chExt cx="4488945" cy="1284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D02B00D-D1EB-4E78-8721-ECFD3E2DF6E7}"/>
                    </a:ext>
                  </a:extLst>
                </p:cNvPr>
                <p:cNvSpPr txBox="1"/>
                <p:nvPr/>
              </p:nvSpPr>
              <p:spPr>
                <a:xfrm>
                  <a:off x="3935760" y="3428999"/>
                  <a:ext cx="4488945" cy="1284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𝟏𝟖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D02B00D-D1EB-4E78-8721-ECFD3E2DF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5760" y="3428999"/>
                  <a:ext cx="4488945" cy="128471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57FDD7E-AACB-4F5A-9B73-24C8301FE8DD}"/>
                </a:ext>
              </a:extLst>
            </p:cNvPr>
            <p:cNvCxnSpPr/>
            <p:nvPr/>
          </p:nvCxnSpPr>
          <p:spPr>
            <a:xfrm>
              <a:off x="6240016" y="3497866"/>
              <a:ext cx="0" cy="11826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26C2EBA-3D05-48FE-9D5A-17004F97125F}"/>
              </a:ext>
            </a:extLst>
          </p:cNvPr>
          <p:cNvCxnSpPr/>
          <p:nvPr/>
        </p:nvCxnSpPr>
        <p:spPr>
          <a:xfrm flipV="1">
            <a:off x="3575720" y="4089181"/>
            <a:ext cx="6209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62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DCBE817-EAE3-4954-A33D-FD9C7A6970CF}"/>
              </a:ext>
            </a:extLst>
          </p:cNvPr>
          <p:cNvCxnSpPr/>
          <p:nvPr/>
        </p:nvCxnSpPr>
        <p:spPr>
          <a:xfrm flipV="1">
            <a:off x="1148733" y="1730061"/>
            <a:ext cx="6209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14E0179-2651-49F9-B848-A32FC740EED9}"/>
              </a:ext>
            </a:extLst>
          </p:cNvPr>
          <p:cNvCxnSpPr/>
          <p:nvPr/>
        </p:nvCxnSpPr>
        <p:spPr>
          <a:xfrm flipV="1">
            <a:off x="1166202" y="3720217"/>
            <a:ext cx="62090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FA74C64-EDBF-4CF5-B8B9-E8138B50E9A1}"/>
              </a:ext>
            </a:extLst>
          </p:cNvPr>
          <p:cNvGrpSpPr/>
          <p:nvPr/>
        </p:nvGrpSpPr>
        <p:grpSpPr>
          <a:xfrm>
            <a:off x="8832304" y="4931364"/>
            <a:ext cx="3034739" cy="864096"/>
            <a:chOff x="8832304" y="4931364"/>
            <a:chExt cx="3034739" cy="86409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FE8B5E5-7234-445C-9C2B-8B8D23705177}"/>
                </a:ext>
              </a:extLst>
            </p:cNvPr>
            <p:cNvSpPr/>
            <p:nvPr/>
          </p:nvSpPr>
          <p:spPr>
            <a:xfrm>
              <a:off x="9048328" y="4931364"/>
              <a:ext cx="2495142" cy="86409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EA98240-D178-4364-8F51-83EA34C10A6E}"/>
                    </a:ext>
                  </a:extLst>
                </p:cNvPr>
                <p:cNvSpPr txBox="1"/>
                <p:nvPr/>
              </p:nvSpPr>
              <p:spPr>
                <a:xfrm>
                  <a:off x="8832304" y="4945862"/>
                  <a:ext cx="3034739" cy="835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1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1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  <m:e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𝟏𝟖</m:t>
                                        </m:r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1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1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</m:t>
                                        </m:r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EA98240-D178-4364-8F51-83EA34C10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2304" y="4945862"/>
                  <a:ext cx="3034739" cy="8351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B445DC4-1B9B-4E56-82E2-286E116D236A}"/>
              </a:ext>
            </a:extLst>
          </p:cNvPr>
          <p:cNvGrpSpPr/>
          <p:nvPr/>
        </p:nvGrpSpPr>
        <p:grpSpPr>
          <a:xfrm>
            <a:off x="1725933" y="828889"/>
            <a:ext cx="9817537" cy="1724190"/>
            <a:chOff x="1725933" y="828889"/>
            <a:chExt cx="9817537" cy="17241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202E1D8D-210B-441D-AEBD-351514789FA7}"/>
                    </a:ext>
                  </a:extLst>
                </p:cNvPr>
                <p:cNvSpPr txBox="1"/>
                <p:nvPr/>
              </p:nvSpPr>
              <p:spPr>
                <a:xfrm>
                  <a:off x="1725933" y="828889"/>
                  <a:ext cx="9817537" cy="1724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𝟏𝟖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𝒌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2800" b="1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𝟒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𝒌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d>
                                          <m:dPr>
                                            <m:ctrlP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𝟏𝟖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𝟓</m:t>
                                            </m:r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𝒌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            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202E1D8D-210B-441D-AEBD-351514789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5933" y="828889"/>
                  <a:ext cx="9817537" cy="17241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9460959-CC3A-4098-A53E-7AE9C3534A31}"/>
                </a:ext>
              </a:extLst>
            </p:cNvPr>
            <p:cNvCxnSpPr/>
            <p:nvPr/>
          </p:nvCxnSpPr>
          <p:spPr>
            <a:xfrm>
              <a:off x="6168008" y="889072"/>
              <a:ext cx="0" cy="166400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3F5414-E911-47D5-8763-7BB27CF649CC}"/>
              </a:ext>
            </a:extLst>
          </p:cNvPr>
          <p:cNvGrpSpPr/>
          <p:nvPr/>
        </p:nvGrpSpPr>
        <p:grpSpPr>
          <a:xfrm>
            <a:off x="839416" y="2892588"/>
            <a:ext cx="9822036" cy="1782667"/>
            <a:chOff x="1779651" y="2860185"/>
            <a:chExt cx="9822036" cy="17826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02413DF-AD7B-417E-9F5B-3BE9E4434B36}"/>
                    </a:ext>
                  </a:extLst>
                </p:cNvPr>
                <p:cNvSpPr txBox="1"/>
                <p:nvPr/>
              </p:nvSpPr>
              <p:spPr>
                <a:xfrm>
                  <a:off x="1779651" y="2860185"/>
                  <a:ext cx="9822036" cy="17826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𝟏𝟖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                                 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𝒌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𝟒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𝟓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𝒌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2800" b="1" i="1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28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𝟏𝟒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2800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02413DF-AD7B-417E-9F5B-3BE9E4434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9651" y="2860185"/>
                  <a:ext cx="9822036" cy="178266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0427597-8C70-46A9-8466-2A54401FD052}"/>
                </a:ext>
              </a:extLst>
            </p:cNvPr>
            <p:cNvCxnSpPr/>
            <p:nvPr/>
          </p:nvCxnSpPr>
          <p:spPr>
            <a:xfrm>
              <a:off x="7320136" y="2888213"/>
              <a:ext cx="0" cy="166400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738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DF8382B-EFC4-41C0-8329-D5BB64F78474}"/>
                  </a:ext>
                </a:extLst>
              </p:cNvPr>
              <p:cNvSpPr txBox="1"/>
              <p:nvPr/>
            </p:nvSpPr>
            <p:spPr>
              <a:xfrm>
                <a:off x="767408" y="980728"/>
                <a:ext cx="11017224" cy="77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m:rPr>
                        <m:brk m:alnAt="7"/>
                      </m:rPr>
                      <a:rPr lang="en-US" altLang="zh-CN" sz="28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800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𝟑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DF8382B-EFC4-41C0-8329-D5BB64F78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980728"/>
                <a:ext cx="11017224" cy="778996"/>
              </a:xfrm>
              <a:prstGeom prst="rect">
                <a:avLst/>
              </a:prstGeom>
              <a:blipFill>
                <a:blip r:embed="rId2"/>
                <a:stretch>
                  <a:fillRect l="-1162" b="-5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CB5AB62E-2593-4E2B-9755-AF267680FA83}"/>
              </a:ext>
            </a:extLst>
          </p:cNvPr>
          <p:cNvSpPr txBox="1"/>
          <p:nvPr/>
        </p:nvSpPr>
        <p:spPr>
          <a:xfrm>
            <a:off x="1271464" y="19105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有唯一解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9C139A-29F4-4602-859F-F8709FC3C9D2}"/>
                  </a:ext>
                </a:extLst>
              </p:cNvPr>
              <p:cNvSpPr txBox="1"/>
              <p:nvPr/>
            </p:nvSpPr>
            <p:spPr>
              <a:xfrm>
                <a:off x="751780" y="2601949"/>
                <a:ext cx="84249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(2)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𝟑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有无穷多解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9C139A-29F4-4602-859F-F8709FC3C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80" y="2601949"/>
                <a:ext cx="8424936" cy="523220"/>
              </a:xfrm>
              <a:prstGeom prst="rect">
                <a:avLst/>
              </a:prstGeom>
              <a:blipFill>
                <a:blip r:embed="rId3"/>
                <a:stretch>
                  <a:fillRect l="-1447" t="-15116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A794102-5F5D-4E53-9488-076C51B8446C}"/>
                  </a:ext>
                </a:extLst>
              </p:cNvPr>
              <p:cNvSpPr txBox="1"/>
              <p:nvPr/>
            </p:nvSpPr>
            <p:spPr>
              <a:xfrm>
                <a:off x="782174" y="3282277"/>
                <a:ext cx="60944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(3)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lang="zh-CN" altLang="en-US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无解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A794102-5F5D-4E53-9488-076C51B84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74" y="3282277"/>
                <a:ext cx="6094428" cy="523220"/>
              </a:xfrm>
              <a:prstGeom prst="rect">
                <a:avLst/>
              </a:prstGeom>
              <a:blipFill>
                <a:blip r:embed="rId4"/>
                <a:stretch>
                  <a:fillRect l="-2000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E5779842-D5A0-4A60-8635-261E23C9ACFA}"/>
              </a:ext>
            </a:extLst>
          </p:cNvPr>
          <p:cNvGrpSpPr/>
          <p:nvPr/>
        </p:nvGrpSpPr>
        <p:grpSpPr>
          <a:xfrm>
            <a:off x="5447928" y="4293096"/>
            <a:ext cx="5950412" cy="1368152"/>
            <a:chOff x="5447928" y="4293096"/>
            <a:chExt cx="5950412" cy="136815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85ACA4F-2AF5-438D-8C06-0C64426D2FA3}"/>
                </a:ext>
              </a:extLst>
            </p:cNvPr>
            <p:cNvSpPr/>
            <p:nvPr/>
          </p:nvSpPr>
          <p:spPr>
            <a:xfrm>
              <a:off x="6023992" y="4293096"/>
              <a:ext cx="4824536" cy="136815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497CB28-052E-4E78-9892-332AEEF28E3D}"/>
                    </a:ext>
                  </a:extLst>
                </p:cNvPr>
                <p:cNvSpPr txBox="1"/>
                <p:nvPr/>
              </p:nvSpPr>
              <p:spPr>
                <a:xfrm>
                  <a:off x="5447928" y="4365104"/>
                  <a:ext cx="5950412" cy="11671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</m:e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                          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𝟏𝟖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                                      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    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US" altLang="zh-CN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b="1" i="1">
                                                    <a:latin typeface="Cambria Math" panose="02040503050406030204" pitchFamily="18" charset="0"/>
                                                  </a:rPr>
                                                  <m:t>𝒌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b="1" i="1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𝟒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𝟓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zh-CN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b="1" i="1">
                                                    <a:latin typeface="Cambria Math" panose="02040503050406030204" pitchFamily="18" charset="0"/>
                                                  </a:rPr>
                                                  <m:t>𝒌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b="1" i="1"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𝟏𝟒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b="1" i="1"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</m:den>
                                        </m:f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497CB28-052E-4E78-9892-332AEEF28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7928" y="4365104"/>
                  <a:ext cx="5950412" cy="116711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57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E7F848-417B-4703-A937-DAF623310F46}"/>
              </a:ext>
            </a:extLst>
          </p:cNvPr>
          <p:cNvSpPr txBox="1"/>
          <p:nvPr/>
        </p:nvSpPr>
        <p:spPr>
          <a:xfrm>
            <a:off x="1343472" y="620688"/>
            <a:ext cx="1341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 </a:t>
            </a:r>
            <a:r>
              <a:rPr lang="en-US" altLang="zh-CN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956350-1E90-4965-B996-467679D2F515}"/>
              </a:ext>
            </a:extLst>
          </p:cNvPr>
          <p:cNvSpPr txBox="1"/>
          <p:nvPr/>
        </p:nvSpPr>
        <p:spPr>
          <a:xfrm>
            <a:off x="2811824" y="620688"/>
            <a:ext cx="5688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利用克拉默法则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7132A-9429-4073-9D59-80B983EFCC0D}"/>
                  </a:ext>
                </a:extLst>
              </p:cNvPr>
              <p:cNvSpPr txBox="1"/>
              <p:nvPr/>
            </p:nvSpPr>
            <p:spPr>
              <a:xfrm>
                <a:off x="2999656" y="1268051"/>
                <a:ext cx="5500800" cy="11483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=−(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7132A-9429-4073-9D59-80B983EFC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56" y="1268051"/>
                <a:ext cx="5500800" cy="11483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DFA3A67-241F-4E9D-968A-3A7E6B69D76B}"/>
                  </a:ext>
                </a:extLst>
              </p:cNvPr>
              <p:cNvSpPr txBox="1"/>
              <p:nvPr/>
            </p:nvSpPr>
            <p:spPr>
              <a:xfrm>
                <a:off x="597748" y="2534913"/>
                <a:ext cx="85689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𝑫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时，即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时，方程组有唯一解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DFA3A67-241F-4E9D-968A-3A7E6B69D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48" y="2534913"/>
                <a:ext cx="8568952" cy="523220"/>
              </a:xfrm>
              <a:prstGeom prst="rect">
                <a:avLst/>
              </a:prstGeom>
              <a:blipFill>
                <a:blip r:embed="rId3"/>
                <a:stretch>
                  <a:fillRect l="-1422" t="-15116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42A9D0C-F32F-40F2-BF9D-475507A00773}"/>
                  </a:ext>
                </a:extLst>
              </p:cNvPr>
              <p:cNvSpPr txBox="1"/>
              <p:nvPr/>
            </p:nvSpPr>
            <p:spPr>
              <a:xfrm>
                <a:off x="590017" y="3132740"/>
                <a:ext cx="22140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42A9D0C-F32F-40F2-BF9D-475507A00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17" y="3132740"/>
                <a:ext cx="2214076" cy="523220"/>
              </a:xfrm>
              <a:prstGeom prst="rect">
                <a:avLst/>
              </a:prstGeom>
              <a:blipFill>
                <a:blip r:embed="rId4"/>
                <a:stretch>
                  <a:fillRect l="-5785" t="-15116" r="-2479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11CB674-464F-4722-84F0-6F930C673511}"/>
              </a:ext>
            </a:extLst>
          </p:cNvPr>
          <p:cNvCxnSpPr>
            <a:cxnSpLocks/>
          </p:cNvCxnSpPr>
          <p:nvPr/>
        </p:nvCxnSpPr>
        <p:spPr>
          <a:xfrm>
            <a:off x="6319562" y="4233554"/>
            <a:ext cx="5846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40BF649-13B2-4D26-8E9A-8E66086A4EFE}"/>
              </a:ext>
            </a:extLst>
          </p:cNvPr>
          <p:cNvSpPr txBox="1"/>
          <p:nvPr/>
        </p:nvSpPr>
        <p:spPr>
          <a:xfrm>
            <a:off x="695400" y="5147365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有无穷多个解，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35AE133-852E-4B5B-888B-0180B681C2C8}"/>
                  </a:ext>
                </a:extLst>
              </p:cNvPr>
              <p:cNvSpPr txBox="1"/>
              <p:nvPr/>
            </p:nvSpPr>
            <p:spPr>
              <a:xfrm>
                <a:off x="3287688" y="4937036"/>
                <a:ext cx="2443169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35AE133-852E-4B5B-888B-0180B681C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88" y="4937036"/>
                <a:ext cx="2443169" cy="9611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6EB36FC9-3CB0-43FE-B648-4F425A82C2D9}"/>
              </a:ext>
            </a:extLst>
          </p:cNvPr>
          <p:cNvSpPr txBox="1"/>
          <p:nvPr/>
        </p:nvSpPr>
        <p:spPr>
          <a:xfrm>
            <a:off x="5879976" y="5147365"/>
            <a:ext cx="66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AEB0642-BA76-4CB7-B00A-B9575C05CD50}"/>
                  </a:ext>
                </a:extLst>
              </p:cNvPr>
              <p:cNvSpPr txBox="1"/>
              <p:nvPr/>
            </p:nvSpPr>
            <p:spPr>
              <a:xfrm>
                <a:off x="6496415" y="4925000"/>
                <a:ext cx="3757503" cy="1146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AEB0642-BA76-4CB7-B00A-B9575C05C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415" y="4925000"/>
                <a:ext cx="3757503" cy="11465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573F6DD0-3E13-445F-8931-10D1D2C5CFB1}"/>
              </a:ext>
            </a:extLst>
          </p:cNvPr>
          <p:cNvGrpSpPr/>
          <p:nvPr/>
        </p:nvGrpSpPr>
        <p:grpSpPr>
          <a:xfrm>
            <a:off x="1431622" y="3655960"/>
            <a:ext cx="4887940" cy="1155188"/>
            <a:chOff x="1431622" y="3655960"/>
            <a:chExt cx="4887940" cy="11551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5D392BA-B580-4393-9558-C6429DDAF3D1}"/>
                    </a:ext>
                  </a:extLst>
                </p:cNvPr>
                <p:cNvSpPr txBox="1"/>
                <p:nvPr/>
              </p:nvSpPr>
              <p:spPr>
                <a:xfrm>
                  <a:off x="1431622" y="3655960"/>
                  <a:ext cx="4887940" cy="11551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𝟏𝟑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5D392BA-B580-4393-9558-C6429DDAF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1622" y="3655960"/>
                  <a:ext cx="4887940" cy="115518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3D97A43-E274-455B-B2E2-AA0D4A497DDB}"/>
                </a:ext>
              </a:extLst>
            </p:cNvPr>
            <p:cNvCxnSpPr/>
            <p:nvPr/>
          </p:nvCxnSpPr>
          <p:spPr>
            <a:xfrm>
              <a:off x="5447928" y="3655960"/>
              <a:ext cx="0" cy="11551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C59083-4470-4D87-8A48-37CAB9089B24}"/>
              </a:ext>
            </a:extLst>
          </p:cNvPr>
          <p:cNvGrpSpPr/>
          <p:nvPr/>
        </p:nvGrpSpPr>
        <p:grpSpPr>
          <a:xfrm>
            <a:off x="6904230" y="3591198"/>
            <a:ext cx="2808312" cy="1284711"/>
            <a:chOff x="6904230" y="3591198"/>
            <a:chExt cx="2808312" cy="1284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D4DCE5C-7F15-4157-9F9E-DD300ED681A6}"/>
                    </a:ext>
                  </a:extLst>
                </p:cNvPr>
                <p:cNvSpPr txBox="1"/>
                <p:nvPr/>
              </p:nvSpPr>
              <p:spPr>
                <a:xfrm>
                  <a:off x="6904230" y="3591198"/>
                  <a:ext cx="2808312" cy="1284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D4DCE5C-7F15-4157-9F9E-DD300ED681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4230" y="3591198"/>
                  <a:ext cx="2808312" cy="128471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12232FC-B15E-474C-A522-283C19EFAB82}"/>
                </a:ext>
              </a:extLst>
            </p:cNvPr>
            <p:cNvCxnSpPr/>
            <p:nvPr/>
          </p:nvCxnSpPr>
          <p:spPr>
            <a:xfrm>
              <a:off x="8976320" y="3655960"/>
              <a:ext cx="0" cy="11551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954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14" grpId="0"/>
      <p:bldP spid="15" grpId="0"/>
      <p:bldP spid="16" grpId="0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C0BBCC-9200-4C7A-BF56-3DA97CB89404}"/>
                  </a:ext>
                </a:extLst>
              </p:cNvPr>
              <p:cNvSpPr txBox="1"/>
              <p:nvPr/>
            </p:nvSpPr>
            <p:spPr>
              <a:xfrm>
                <a:off x="623392" y="980728"/>
                <a:ext cx="22140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C0BBCC-9200-4C7A-BF56-3DA97CB89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980728"/>
                <a:ext cx="2214076" cy="523220"/>
              </a:xfrm>
              <a:prstGeom prst="rect">
                <a:avLst/>
              </a:prstGeom>
              <a:blipFill>
                <a:blip r:embed="rId2"/>
                <a:stretch>
                  <a:fillRect l="-5510" t="-15116" r="-2755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2204E3B-5266-4822-83C2-B0093509EBE3}"/>
              </a:ext>
            </a:extLst>
          </p:cNvPr>
          <p:cNvCxnSpPr>
            <a:cxnSpLocks/>
          </p:cNvCxnSpPr>
          <p:nvPr/>
        </p:nvCxnSpPr>
        <p:spPr>
          <a:xfrm>
            <a:off x="6096000" y="2204864"/>
            <a:ext cx="5846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66E41D9-89F3-4301-8664-A9714A9476E7}"/>
                  </a:ext>
                </a:extLst>
              </p:cNvPr>
              <p:cNvSpPr txBox="1"/>
              <p:nvPr/>
            </p:nvSpPr>
            <p:spPr>
              <a:xfrm>
                <a:off x="729707" y="3244334"/>
                <a:ext cx="60944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，所以方程组无解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66E41D9-89F3-4301-8664-A9714A947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07" y="3244334"/>
                <a:ext cx="6094428" cy="523220"/>
              </a:xfrm>
              <a:prstGeom prst="rect">
                <a:avLst/>
              </a:prstGeom>
              <a:blipFill>
                <a:blip r:embed="rId5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BAECE67A-D7FA-4F77-947A-9B9938E932FB}"/>
              </a:ext>
            </a:extLst>
          </p:cNvPr>
          <p:cNvGrpSpPr/>
          <p:nvPr/>
        </p:nvGrpSpPr>
        <p:grpSpPr>
          <a:xfrm>
            <a:off x="1237717" y="1628800"/>
            <a:ext cx="4714816" cy="1155188"/>
            <a:chOff x="1237717" y="1628800"/>
            <a:chExt cx="4714816" cy="11551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CCA65262-94E6-477F-AF83-3B1B7825CA00}"/>
                    </a:ext>
                  </a:extLst>
                </p:cNvPr>
                <p:cNvSpPr txBox="1"/>
                <p:nvPr/>
              </p:nvSpPr>
              <p:spPr>
                <a:xfrm>
                  <a:off x="1237717" y="1628800"/>
                  <a:ext cx="4714816" cy="11551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CCA65262-94E6-477F-AF83-3B1B7825C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7717" y="1628800"/>
                  <a:ext cx="4714816" cy="115518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6A5C57F-FFCE-46F8-8558-7020814FCAFC}"/>
                </a:ext>
              </a:extLst>
            </p:cNvPr>
            <p:cNvCxnSpPr/>
            <p:nvPr/>
          </p:nvCxnSpPr>
          <p:spPr>
            <a:xfrm>
              <a:off x="5159896" y="1628800"/>
              <a:ext cx="0" cy="11551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9D41907-A9A0-43EE-832B-EE64C34B1814}"/>
              </a:ext>
            </a:extLst>
          </p:cNvPr>
          <p:cNvGrpSpPr/>
          <p:nvPr/>
        </p:nvGrpSpPr>
        <p:grpSpPr>
          <a:xfrm>
            <a:off x="6824135" y="1562508"/>
            <a:ext cx="2808312" cy="1284711"/>
            <a:chOff x="6824135" y="1562508"/>
            <a:chExt cx="2808312" cy="1284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6B72C03-BA44-4BA0-81D6-A36D98F04D72}"/>
                    </a:ext>
                  </a:extLst>
                </p:cNvPr>
                <p:cNvSpPr txBox="1"/>
                <p:nvPr/>
              </p:nvSpPr>
              <p:spPr>
                <a:xfrm>
                  <a:off x="6824135" y="1562508"/>
                  <a:ext cx="2808312" cy="1284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𝟒</m:t>
                                        </m:r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6B72C03-BA44-4BA0-81D6-A36D98F04D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4135" y="1562508"/>
                  <a:ext cx="2808312" cy="128471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F9353F4-D0BA-4B58-9FC5-BD88DA0C47D1}"/>
                </a:ext>
              </a:extLst>
            </p:cNvPr>
            <p:cNvCxnSpPr/>
            <p:nvPr/>
          </p:nvCxnSpPr>
          <p:spPr>
            <a:xfrm>
              <a:off x="8832304" y="1628800"/>
              <a:ext cx="0" cy="11551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941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1479BDC3-0A16-4CDB-A717-C91852EE1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52" y="639764"/>
            <a:ext cx="592613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三、直线平面间的位置关系的判断</a:t>
            </a:r>
            <a:endParaRPr kumimoji="1" lang="zh-CN" altLang="en-US" sz="32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6899" name="Text Box 3">
            <a:extLst>
              <a:ext uri="{FF2B5EF4-FFF2-40B4-BE49-F238E27FC236}">
                <a16:creationId xmlns:a16="http://schemas.microsoft.com/office/drawing/2014/main" id="{693AD914-0EFC-4AE3-B048-D8F8B0C85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1373188"/>
            <a:ext cx="102251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平面和直线之间的位置关系是指平面与平面、平面与直线、直线</a:t>
            </a:r>
          </a:p>
        </p:txBody>
      </p:sp>
      <p:sp>
        <p:nvSpPr>
          <p:cNvPr id="336900" name="Text Box 4">
            <a:extLst>
              <a:ext uri="{FF2B5EF4-FFF2-40B4-BE49-F238E27FC236}">
                <a16:creationId xmlns:a16="http://schemas.microsoft.com/office/drawing/2014/main" id="{F5515391-5562-48E1-8CC9-C71EC2209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52" y="2106613"/>
            <a:ext cx="395977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与直线之间的位置关系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36901" name="Text Box 5">
            <a:extLst>
              <a:ext uri="{FF2B5EF4-FFF2-40B4-BE49-F238E27FC236}">
                <a16:creationId xmlns:a16="http://schemas.microsoft.com/office/drawing/2014/main" id="{F2641174-633D-4B4B-B39F-EF4F188BD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2072948"/>
            <a:ext cx="698477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由于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平面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直线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在直角坐标系下的方程，是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902" name="Text Box 6">
                <a:extLst>
                  <a:ext uri="{FF2B5EF4-FFF2-40B4-BE49-F238E27FC236}">
                    <a16:creationId xmlns:a16="http://schemas.microsoft.com/office/drawing/2014/main" id="{BD11B0C2-1143-4FA0-9A79-1000FDAAF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052" y="2815104"/>
                <a:ext cx="1094454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三元线性方程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𝒃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和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由两个三元线性方程组成的</a:t>
                </a:r>
              </a:p>
            </p:txBody>
          </p:sp>
        </mc:Choice>
        <mc:Fallback xmlns="">
          <p:sp>
            <p:nvSpPr>
              <p:cNvPr id="336902" name="Text Box 6">
                <a:extLst>
                  <a:ext uri="{FF2B5EF4-FFF2-40B4-BE49-F238E27FC236}">
                    <a16:creationId xmlns:a16="http://schemas.microsoft.com/office/drawing/2014/main" id="{BD11B0C2-1143-4FA0-9A79-1000FDAAF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052" y="2815104"/>
                <a:ext cx="10944548" cy="523220"/>
              </a:xfrm>
              <a:prstGeom prst="rect">
                <a:avLst/>
              </a:prstGeom>
              <a:blipFill>
                <a:blip r:embed="rId2"/>
                <a:stretch>
                  <a:fillRect l="-1170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904" name="Text Box 8">
            <a:extLst>
              <a:ext uri="{FF2B5EF4-FFF2-40B4-BE49-F238E27FC236}">
                <a16:creationId xmlns:a16="http://schemas.microsoft.com/office/drawing/2014/main" id="{CCF31F1D-42CF-4115-A0C0-3BB87B55C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28" y="3608205"/>
            <a:ext cx="114849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方程组，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因此，讨论它们之间的位置关系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如平行、重合、相交等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336905" name="Text Box 9">
            <a:extLst>
              <a:ext uri="{FF2B5EF4-FFF2-40B4-BE49-F238E27FC236}">
                <a16:creationId xmlns:a16="http://schemas.microsoft.com/office/drawing/2014/main" id="{3141A624-E8E4-46AD-A9B2-44092FD20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28" y="4348948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可用线性方程组的解的理论阐明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6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/>
      <p:bldP spid="336899" grpId="0"/>
      <p:bldP spid="336901" grpId="0"/>
      <p:bldP spid="336902" grpId="0"/>
      <p:bldP spid="336904" grpId="0"/>
      <p:bldP spid="33690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Text Box 2">
            <a:extLst>
              <a:ext uri="{FF2B5EF4-FFF2-40B4-BE49-F238E27FC236}">
                <a16:creationId xmlns:a16="http://schemas.microsoft.com/office/drawing/2014/main" id="{E106E1BF-F280-4892-AC19-01BF77712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762" y="556420"/>
            <a:ext cx="44958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两个平面间的位置关系</a:t>
            </a:r>
          </a:p>
        </p:txBody>
      </p:sp>
      <p:sp>
        <p:nvSpPr>
          <p:cNvPr id="337923" name="Text Box 3">
            <a:extLst>
              <a:ext uri="{FF2B5EF4-FFF2-40B4-BE49-F238E27FC236}">
                <a16:creationId xmlns:a16="http://schemas.microsoft.com/office/drawing/2014/main" id="{08E14E40-5987-4D4A-A727-79AB49D04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315" y="1297181"/>
            <a:ext cx="928903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两个平面间的位置关系有：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平行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重合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相交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三种情况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25" name="Text Box 5">
                <a:extLst>
                  <a:ext uri="{FF2B5EF4-FFF2-40B4-BE49-F238E27FC236}">
                    <a16:creationId xmlns:a16="http://schemas.microsoft.com/office/drawing/2014/main" id="{BF3F696C-F301-4DC1-AC32-7296891CF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955" y="1916307"/>
                <a:ext cx="6172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个平面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𝝅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𝝅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，其方程如下：</a:t>
                </a:r>
              </a:p>
            </p:txBody>
          </p:sp>
        </mc:Choice>
        <mc:Fallback xmlns="">
          <p:sp>
            <p:nvSpPr>
              <p:cNvPr id="337925" name="Text Box 5">
                <a:extLst>
                  <a:ext uri="{FF2B5EF4-FFF2-40B4-BE49-F238E27FC236}">
                    <a16:creationId xmlns:a16="http://schemas.microsoft.com/office/drawing/2014/main" id="{BF3F696C-F301-4DC1-AC32-7296891CF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955" y="1916307"/>
                <a:ext cx="6172200" cy="523220"/>
              </a:xfrm>
              <a:prstGeom prst="rect">
                <a:avLst/>
              </a:prstGeom>
              <a:blipFill>
                <a:blip r:embed="rId2"/>
                <a:stretch>
                  <a:fillRect l="-1974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928" name="Text Box 8">
                <a:extLst>
                  <a:ext uri="{FF2B5EF4-FFF2-40B4-BE49-F238E27FC236}">
                    <a16:creationId xmlns:a16="http://schemas.microsoft.com/office/drawing/2014/main" id="{6309FF0C-581E-47EB-A4F3-9AFC98E2A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955" y="3627200"/>
                <a:ext cx="7315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则平面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𝝅</m:t>
                        </m:r>
                      </m:e>
                      <m:sub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𝝅</m:t>
                        </m:r>
                      </m:e>
                      <m:sub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间的位置关系可由线性方程组</a:t>
                </a:r>
              </a:p>
            </p:txBody>
          </p:sp>
        </mc:Choice>
        <mc:Fallback xmlns="">
          <p:sp>
            <p:nvSpPr>
              <p:cNvPr id="337928" name="Text Box 8">
                <a:extLst>
                  <a:ext uri="{FF2B5EF4-FFF2-40B4-BE49-F238E27FC236}">
                    <a16:creationId xmlns:a16="http://schemas.microsoft.com/office/drawing/2014/main" id="{6309FF0C-581E-47EB-A4F3-9AFC98E2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955" y="3627200"/>
                <a:ext cx="7315200" cy="519113"/>
              </a:xfrm>
              <a:prstGeom prst="rect">
                <a:avLst/>
              </a:prstGeom>
              <a:blipFill>
                <a:blip r:embed="rId3"/>
                <a:stretch>
                  <a:fillRect l="-1667" t="-15294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30" name="Text Box 10">
            <a:extLst>
              <a:ext uri="{FF2B5EF4-FFF2-40B4-BE49-F238E27FC236}">
                <a16:creationId xmlns:a16="http://schemas.microsoft.com/office/drawing/2014/main" id="{9B0F411D-2B64-44ED-9CCE-57DB85A5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5370386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的解的情况来确定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A7EEAF-D679-4B30-86AA-6F6AA6F4A3E9}"/>
              </a:ext>
            </a:extLst>
          </p:cNvPr>
          <p:cNvSpPr txBox="1"/>
          <p:nvPr/>
        </p:nvSpPr>
        <p:spPr>
          <a:xfrm>
            <a:off x="10200456" y="1266206"/>
            <a:ext cx="1868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设有两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3766E31-D53A-405A-978A-BE88C5283601}"/>
                  </a:ext>
                </a:extLst>
              </p:cNvPr>
              <p:cNvSpPr txBox="1"/>
              <p:nvPr/>
            </p:nvSpPr>
            <p:spPr>
              <a:xfrm>
                <a:off x="3331443" y="2491874"/>
                <a:ext cx="54166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3766E31-D53A-405A-978A-BE88C5283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443" y="2491874"/>
                <a:ext cx="541667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1A834E9-FC4B-4496-9F1E-D253BF4AA33A}"/>
                  </a:ext>
                </a:extLst>
              </p:cNvPr>
              <p:cNvSpPr txBox="1"/>
              <p:nvPr/>
            </p:nvSpPr>
            <p:spPr>
              <a:xfrm>
                <a:off x="3333292" y="3064857"/>
                <a:ext cx="54166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1A834E9-FC4B-4496-9F1E-D253BF4AA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292" y="3064857"/>
                <a:ext cx="541667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2F2728B-9E63-4E93-8AA5-8347B2A34240}"/>
                  </a:ext>
                </a:extLst>
              </p:cNvPr>
              <p:cNvSpPr txBox="1"/>
              <p:nvPr/>
            </p:nvSpPr>
            <p:spPr>
              <a:xfrm>
                <a:off x="3476489" y="4277769"/>
                <a:ext cx="4781822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2F2728B-9E63-4E93-8AA5-8347B2A34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489" y="4277769"/>
                <a:ext cx="4781822" cy="9611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2" grpId="0" build="p" autoUpdateAnimBg="0"/>
      <p:bldP spid="337923" grpId="0"/>
      <p:bldP spid="337925" grpId="0"/>
      <p:bldP spid="337928" grpId="0"/>
      <p:bldP spid="337930" grpId="0"/>
      <p:bldP spid="2" grpId="0"/>
      <p:bldP spid="3" grpId="0"/>
      <p:bldP spid="14" grpId="0"/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8946" name="Text Box 2">
                <a:extLst>
                  <a:ext uri="{FF2B5EF4-FFF2-40B4-BE49-F238E27FC236}">
                    <a16:creationId xmlns:a16="http://schemas.microsoft.com/office/drawing/2014/main" id="{2156F35D-E713-46C8-B70C-6581C2732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9456" y="787155"/>
                <a:ext cx="1033116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为方便起见，用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表示所讨论的方程组的系数矩阵，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表示所讨论</a:t>
                </a:r>
              </a:p>
            </p:txBody>
          </p:sp>
        </mc:Choice>
        <mc:Fallback xmlns="">
          <p:sp>
            <p:nvSpPr>
              <p:cNvPr id="338946" name="Text Box 2">
                <a:extLst>
                  <a:ext uri="{FF2B5EF4-FFF2-40B4-BE49-F238E27FC236}">
                    <a16:creationId xmlns:a16="http://schemas.microsoft.com/office/drawing/2014/main" id="{2156F35D-E713-46C8-B70C-6581C2732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9456" y="787155"/>
                <a:ext cx="10331160" cy="523220"/>
              </a:xfrm>
              <a:prstGeom prst="rect">
                <a:avLst/>
              </a:prstGeom>
              <a:blipFill>
                <a:blip r:embed="rId2"/>
                <a:stretch>
                  <a:fillRect l="-1239" t="-15116" r="-885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947" name="Text Box 3">
                <a:extLst>
                  <a:ext uri="{FF2B5EF4-FFF2-40B4-BE49-F238E27FC236}">
                    <a16:creationId xmlns:a16="http://schemas.microsoft.com/office/drawing/2014/main" id="{90C0C086-8F78-4B6D-8527-D12FA087D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392" y="1449268"/>
                <a:ext cx="8229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方程组的增广矩阵，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表示矩阵的秩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8947" name="Text Box 3">
                <a:extLst>
                  <a:ext uri="{FF2B5EF4-FFF2-40B4-BE49-F238E27FC236}">
                    <a16:creationId xmlns:a16="http://schemas.microsoft.com/office/drawing/2014/main" id="{90C0C086-8F78-4B6D-8527-D12FA087D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1449268"/>
                <a:ext cx="8229600" cy="523220"/>
              </a:xfrm>
              <a:prstGeom prst="rect">
                <a:avLst/>
              </a:prstGeom>
              <a:blipFill>
                <a:blip r:embed="rId3"/>
                <a:stretch>
                  <a:fillRect l="-1481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949" name="Text Box 5">
                <a:extLst>
                  <a:ext uri="{FF2B5EF4-FFF2-40B4-BE49-F238E27FC236}">
                    <a16:creationId xmlns:a16="http://schemas.microsoft.com/office/drawing/2014/main" id="{0D8BC951-8CBF-4143-A2A4-5A21C4B30D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9456" y="2173289"/>
                <a:ext cx="617220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1)</a:t>
                </a:r>
                <a:r>
                  <a:rPr kumimoji="1" lang="en-US" altLang="zh-CN" sz="2800" b="1" dirty="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相交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的条件是：</a:t>
                </a:r>
                <a:r>
                  <a:rPr kumimoji="1" lang="en-US" altLang="zh-CN" sz="2800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zh-CN" altLang="en-US" sz="2800" b="1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𝟐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8949" name="Text Box 5">
                <a:extLst>
                  <a:ext uri="{FF2B5EF4-FFF2-40B4-BE49-F238E27FC236}">
                    <a16:creationId xmlns:a16="http://schemas.microsoft.com/office/drawing/2014/main" id="{0D8BC951-8CBF-4143-A2A4-5A21C4B30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9456" y="2173289"/>
                <a:ext cx="6172200" cy="519112"/>
              </a:xfrm>
              <a:prstGeom prst="rect">
                <a:avLst/>
              </a:prstGeom>
              <a:blipFill>
                <a:blip r:embed="rId4"/>
                <a:stretch>
                  <a:fillRect l="-2174" t="-17647" b="-352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950" name="Text Box 6">
            <a:extLst>
              <a:ext uri="{FF2B5EF4-FFF2-40B4-BE49-F238E27FC236}">
                <a16:creationId xmlns:a16="http://schemas.microsoft.com/office/drawing/2014/main" id="{FA0DADB2-6C7C-46E0-8BEB-C29D97972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456" y="2853560"/>
            <a:ext cx="103311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这时方程组有无穷多组解，其一般解中含有一个任意常数，即两</a:t>
            </a:r>
          </a:p>
        </p:txBody>
      </p:sp>
      <p:sp>
        <p:nvSpPr>
          <p:cNvPr id="338951" name="Text Box 7">
            <a:extLst>
              <a:ext uri="{FF2B5EF4-FFF2-40B4-BE49-F238E27FC236}">
                <a16:creationId xmlns:a16="http://schemas.microsoft.com/office/drawing/2014/main" id="{FDAFF5E4-5549-4B71-9AC1-389CF6ECB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3515673"/>
            <a:ext cx="662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平面相交为一直线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952" name="Text Box 8">
                <a:extLst>
                  <a:ext uri="{FF2B5EF4-FFF2-40B4-BE49-F238E27FC236}">
                    <a16:creationId xmlns:a16="http://schemas.microsoft.com/office/drawing/2014/main" id="{B143EA6B-9184-4D53-BD9E-AD0D0D56D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5656" y="4180041"/>
                <a:ext cx="6096000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2)</a:t>
                </a:r>
                <a:r>
                  <a:rPr kumimoji="1" lang="en-US" altLang="zh-CN" sz="2800" b="1" dirty="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重合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的条件是： 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zh-CN" altLang="en-US" sz="2800" b="1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8952" name="Text Box 8">
                <a:extLst>
                  <a:ext uri="{FF2B5EF4-FFF2-40B4-BE49-F238E27FC236}">
                    <a16:creationId xmlns:a16="http://schemas.microsoft.com/office/drawing/2014/main" id="{B143EA6B-9184-4D53-BD9E-AD0D0D56D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5656" y="4180041"/>
                <a:ext cx="6096000" cy="519113"/>
              </a:xfrm>
              <a:prstGeom prst="rect">
                <a:avLst/>
              </a:prstGeom>
              <a:blipFill>
                <a:blip r:embed="rId5"/>
                <a:stretch>
                  <a:fillRect l="-2100" t="-17647" b="-352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953" name="Text Box 9">
            <a:extLst>
              <a:ext uri="{FF2B5EF4-FFF2-40B4-BE49-F238E27FC236}">
                <a16:creationId xmlns:a16="http://schemas.microsoft.com/office/drawing/2014/main" id="{8DA402AD-7964-48B1-9B0B-794A2AB3A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61" y="4889619"/>
            <a:ext cx="94133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这时增广矩阵的两个行向量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成比例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，故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两个平面是重合的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6" grpId="0" build="p" autoUpdateAnimBg="0"/>
      <p:bldP spid="338947" grpId="0"/>
      <p:bldP spid="338949" grpId="0"/>
      <p:bldP spid="338950" grpId="0"/>
      <p:bldP spid="338951" grpId="0"/>
      <p:bldP spid="338952" grpId="0"/>
      <p:bldP spid="33895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9970" name="Text Box 2">
                <a:extLst>
                  <a:ext uri="{FF2B5EF4-FFF2-40B4-BE49-F238E27FC236}">
                    <a16:creationId xmlns:a16="http://schemas.microsoft.com/office/drawing/2014/main" id="{6F3B7679-B3B5-4502-A0E9-00536DABE7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9456" y="617538"/>
                <a:ext cx="6477000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3)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平行</a:t>
                </a:r>
                <a:r>
                  <a:rPr kumimoji="1" lang="zh-CN" altLang="en-US" sz="28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条件是：</a:t>
                </a:r>
                <a:r>
                  <a:rPr kumimoji="1" lang="en-US" altLang="zh-CN" sz="2800" b="1" dirty="0">
                    <a:solidFill>
                      <a:srgbClr val="3333FF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zh-CN" altLang="en-US" sz="2800" b="1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𝟐</m:t>
                    </m:r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9970" name="Text Box 2">
                <a:extLst>
                  <a:ext uri="{FF2B5EF4-FFF2-40B4-BE49-F238E27FC236}">
                    <a16:creationId xmlns:a16="http://schemas.microsoft.com/office/drawing/2014/main" id="{6F3B7679-B3B5-4502-A0E9-00536DABE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9456" y="617538"/>
                <a:ext cx="6477000" cy="523220"/>
              </a:xfrm>
              <a:prstGeom prst="rect">
                <a:avLst/>
              </a:prstGeom>
              <a:blipFill>
                <a:blip r:embed="rId2"/>
                <a:stretch>
                  <a:fillRect l="-2072" t="-16279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971" name="Text Box 3">
            <a:extLst>
              <a:ext uri="{FF2B5EF4-FFF2-40B4-BE49-F238E27FC236}">
                <a16:creationId xmlns:a16="http://schemas.microsoft.com/office/drawing/2014/main" id="{3A3508F6-91C7-4EE1-80C8-74F6433BC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456" y="1324415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这时方程组无解，即两个平面平行，且不重合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39972" name="Text Box 4">
            <a:extLst>
              <a:ext uri="{FF2B5EF4-FFF2-40B4-BE49-F238E27FC236}">
                <a16:creationId xmlns:a16="http://schemas.microsoft.com/office/drawing/2014/main" id="{34A15CDB-45C7-4CA8-9B86-EEF24AC6D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2915" y="2037499"/>
            <a:ext cx="5181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  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平面与直线间的位置关系</a:t>
            </a:r>
          </a:p>
        </p:txBody>
      </p:sp>
      <p:sp>
        <p:nvSpPr>
          <p:cNvPr id="339973" name="Text Box 5">
            <a:extLst>
              <a:ext uri="{FF2B5EF4-FFF2-40B4-BE49-F238E27FC236}">
                <a16:creationId xmlns:a16="http://schemas.microsoft.com/office/drawing/2014/main" id="{C080525D-A665-4BAA-B1AC-3B905C9A6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456" y="2787721"/>
            <a:ext cx="1040316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平面与直线间的位置关系有：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直线平行于平面，直线在平面上，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9974" name="Text Box 6">
            <a:extLst>
              <a:ext uri="{FF2B5EF4-FFF2-40B4-BE49-F238E27FC236}">
                <a16:creationId xmlns:a16="http://schemas.microsoft.com/office/drawing/2014/main" id="{226B635A-46FD-4511-ADE8-82753FF8B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56" y="3406575"/>
            <a:ext cx="81534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直线与平面相交于一点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三种情况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9975" name="Text Box 7">
                <a:extLst>
                  <a:ext uri="{FF2B5EF4-FFF2-40B4-BE49-F238E27FC236}">
                    <a16:creationId xmlns:a16="http://schemas.microsoft.com/office/drawing/2014/main" id="{C02D3995-F537-414A-A33E-146113045D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5656" y="4042711"/>
                <a:ext cx="3657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设平面</a:t>
                </a:r>
                <a14:m>
                  <m:oMath xmlns:m="http://schemas.openxmlformats.org/officeDocument/2006/math">
                    <m:r>
                      <a:rPr kumimoji="1" lang="en-US" altLang="zh-CN" sz="28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的方程为</a:t>
                </a:r>
              </a:p>
            </p:txBody>
          </p:sp>
        </mc:Choice>
        <mc:Fallback xmlns="">
          <p:sp>
            <p:nvSpPr>
              <p:cNvPr id="339975" name="Text Box 7">
                <a:extLst>
                  <a:ext uri="{FF2B5EF4-FFF2-40B4-BE49-F238E27FC236}">
                    <a16:creationId xmlns:a16="http://schemas.microsoft.com/office/drawing/2014/main" id="{C02D3995-F537-414A-A33E-146113045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5656" y="4042711"/>
                <a:ext cx="3657600" cy="523220"/>
              </a:xfrm>
              <a:prstGeom prst="rect">
                <a:avLst/>
              </a:prstGeom>
              <a:blipFill>
                <a:blip r:embed="rId3"/>
                <a:stretch>
                  <a:fillRect l="-3333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AFBF35F-611D-45B3-A0A1-141FBC5926DE}"/>
                  </a:ext>
                </a:extLst>
              </p:cNvPr>
              <p:cNvSpPr txBox="1"/>
              <p:nvPr/>
            </p:nvSpPr>
            <p:spPr>
              <a:xfrm>
                <a:off x="2930462" y="4682954"/>
                <a:ext cx="51613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𝝅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AFBF35F-611D-45B3-A0A1-141FBC592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462" y="4682954"/>
                <a:ext cx="516134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9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 build="p" autoUpdateAnimBg="0"/>
      <p:bldP spid="339971" grpId="0"/>
      <p:bldP spid="339972" grpId="0"/>
      <p:bldP spid="339973" grpId="0"/>
      <p:bldP spid="339974" grpId="0"/>
      <p:bldP spid="339975" grpId="0"/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0995" name="Text Box 3">
                <a:extLst>
                  <a:ext uri="{FF2B5EF4-FFF2-40B4-BE49-F238E27FC236}">
                    <a16:creationId xmlns:a16="http://schemas.microsoft.com/office/drawing/2014/main" id="{D3AC7A8E-1E1A-4635-9CFE-971EFBFCDC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4759" y="2644906"/>
                <a:ext cx="8077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则平面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与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的位置关系由下面的方程组</a:t>
                </a:r>
              </a:p>
            </p:txBody>
          </p:sp>
        </mc:Choice>
        <mc:Fallback xmlns="">
          <p:sp>
            <p:nvSpPr>
              <p:cNvPr id="340995" name="Text Box 3">
                <a:extLst>
                  <a:ext uri="{FF2B5EF4-FFF2-40B4-BE49-F238E27FC236}">
                    <a16:creationId xmlns:a16="http://schemas.microsoft.com/office/drawing/2014/main" id="{D3AC7A8E-1E1A-4635-9CFE-971EFBFCD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4759" y="2644906"/>
                <a:ext cx="8077200" cy="519113"/>
              </a:xfrm>
              <a:prstGeom prst="rect">
                <a:avLst/>
              </a:prstGeom>
              <a:blipFill>
                <a:blip r:embed="rId2"/>
                <a:stretch>
                  <a:fillRect l="-1585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997" name="Text Box 5">
            <a:extLst>
              <a:ext uri="{FF2B5EF4-FFF2-40B4-BE49-F238E27FC236}">
                <a16:creationId xmlns:a16="http://schemas.microsoft.com/office/drawing/2014/main" id="{63B09D7B-B67B-4C2A-B4E4-BB27AE9CE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759" y="4863201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的解的情况确定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049D4DE1-7623-4C59-AB49-837B3F6DDE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8854" y="779463"/>
                <a:ext cx="3124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的方程为</a:t>
                </a:r>
              </a:p>
            </p:txBody>
          </p:sp>
        </mc:Choice>
        <mc:Fallback xmlns="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049D4DE1-7623-4C59-AB49-837B3F6DD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8854" y="779463"/>
                <a:ext cx="3124200" cy="523220"/>
              </a:xfrm>
              <a:prstGeom prst="rect">
                <a:avLst/>
              </a:prstGeom>
              <a:blipFill>
                <a:blip r:embed="rId3"/>
                <a:stretch>
                  <a:fillRect l="-4102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8CFE75D-8EF5-4D3E-9A30-37E932247A54}"/>
                  </a:ext>
                </a:extLst>
              </p:cNvPr>
              <p:cNvSpPr txBox="1"/>
              <p:nvPr/>
            </p:nvSpPr>
            <p:spPr>
              <a:xfrm>
                <a:off x="3431704" y="1475686"/>
                <a:ext cx="5380255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8CFE75D-8EF5-4D3E-9A30-37E93224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1475686"/>
                <a:ext cx="5380255" cy="961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904CC0E-D572-4560-8AC4-CC3B3C8A4739}"/>
                  </a:ext>
                </a:extLst>
              </p:cNvPr>
              <p:cNvSpPr txBox="1"/>
              <p:nvPr/>
            </p:nvSpPr>
            <p:spPr>
              <a:xfrm>
                <a:off x="3414936" y="3218293"/>
                <a:ext cx="5056961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904CC0E-D572-4560-8AC4-CC3B3C8A4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936" y="3218293"/>
                <a:ext cx="5056961" cy="13756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/>
      <p:bldP spid="340997" grpId="0"/>
      <p:bldP spid="7" grpId="0" build="p" autoUpdateAnimBg="0"/>
      <p:bldP spid="8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2019" name="Text Box 3">
                <a:extLst>
                  <a:ext uri="{FF2B5EF4-FFF2-40B4-BE49-F238E27FC236}">
                    <a16:creationId xmlns:a16="http://schemas.microsoft.com/office/drawing/2014/main" id="{388738D8-4963-4C4B-B8DF-33E5F4C43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2992" y="967560"/>
                <a:ext cx="581312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1)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与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平面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  <m:r>
                      <a:rPr kumimoji="1" lang="en-US" altLang="zh-CN" sz="2800" b="1" i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相交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的条件是：</a:t>
                </a:r>
              </a:p>
            </p:txBody>
          </p:sp>
        </mc:Choice>
        <mc:Fallback xmlns="">
          <p:sp>
            <p:nvSpPr>
              <p:cNvPr id="342019" name="Text Box 3">
                <a:extLst>
                  <a:ext uri="{FF2B5EF4-FFF2-40B4-BE49-F238E27FC236}">
                    <a16:creationId xmlns:a16="http://schemas.microsoft.com/office/drawing/2014/main" id="{388738D8-4963-4C4B-B8DF-33E5F4C43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2992" y="967560"/>
                <a:ext cx="5813128" cy="523220"/>
              </a:xfrm>
              <a:prstGeom prst="rect">
                <a:avLst/>
              </a:prstGeom>
              <a:blipFill>
                <a:blip r:embed="rId2"/>
                <a:stretch>
                  <a:fillRect l="-2308" t="-16279" r="-1364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020" name="Text Box 4">
                <a:extLst>
                  <a:ext uri="{FF2B5EF4-FFF2-40B4-BE49-F238E27FC236}">
                    <a16:creationId xmlns:a16="http://schemas.microsoft.com/office/drawing/2014/main" id="{59F6FAB2-0027-453E-BEBA-199AED73A6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2464" y="1695029"/>
                <a:ext cx="10061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这时方程组有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唯一解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即</a:t>
                </a:r>
                <a:r>
                  <a:rPr kumimoji="1" lang="zh-CN" altLang="en-US" sz="2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  <m:r>
                      <a:rPr kumimoji="1"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与</a:t>
                </a:r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平面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相交于一点，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且因为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2020" name="Text Box 4">
                <a:extLst>
                  <a:ext uri="{FF2B5EF4-FFF2-40B4-BE49-F238E27FC236}">
                    <a16:creationId xmlns:a16="http://schemas.microsoft.com/office/drawing/2014/main" id="{59F6FAB2-0027-453E-BEBA-199AED73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2464" y="1695029"/>
                <a:ext cx="10061600" cy="523220"/>
              </a:xfrm>
              <a:prstGeom prst="rect">
                <a:avLst/>
              </a:prstGeom>
              <a:blipFill>
                <a:blip r:embed="rId3"/>
                <a:stretch>
                  <a:fillRect l="-1273" t="-16279" b="-348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2025" name="Text Box 9">
            <a:extLst>
              <a:ext uri="{FF2B5EF4-FFF2-40B4-BE49-F238E27FC236}">
                <a16:creationId xmlns:a16="http://schemas.microsoft.com/office/drawing/2014/main" id="{5E51C33F-03F6-4D56-B380-A82607B06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464" y="3951882"/>
            <a:ext cx="1006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这时方程组有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无穷多解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求解时有一个自由未知量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，解集的图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2026" name="Text Box 10">
                <a:extLst>
                  <a:ext uri="{FF2B5EF4-FFF2-40B4-BE49-F238E27FC236}">
                    <a16:creationId xmlns:a16="http://schemas.microsoft.com/office/drawing/2014/main" id="{649B8A2F-B54F-4279-AF46-0302AD021D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400" y="4643859"/>
                <a:ext cx="6624736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形是一条直线，</a:t>
                </a:r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即</a:t>
                </a:r>
                <a:r>
                  <a:rPr kumimoji="1" lang="zh-CN" altLang="en-US" sz="2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  <m:r>
                      <a:rPr kumimoji="1"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位于平面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上</a:t>
                </a:r>
                <a:r>
                  <a:rPr kumimoji="1" lang="en-US" altLang="zh-CN" sz="2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2026" name="Text Box 10">
                <a:extLst>
                  <a:ext uri="{FF2B5EF4-FFF2-40B4-BE49-F238E27FC236}">
                    <a16:creationId xmlns:a16="http://schemas.microsoft.com/office/drawing/2014/main" id="{649B8A2F-B54F-4279-AF46-0302AD02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400" y="4643859"/>
                <a:ext cx="6624736" cy="519112"/>
              </a:xfrm>
              <a:prstGeom prst="rect">
                <a:avLst/>
              </a:prstGeom>
              <a:blipFill>
                <a:blip r:embed="rId4"/>
                <a:stretch>
                  <a:fillRect l="-1840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A4380A6-4CBE-4EFD-A7F8-4C85F59D56BC}"/>
                  </a:ext>
                </a:extLst>
              </p:cNvPr>
              <p:cNvSpPr txBox="1"/>
              <p:nvPr/>
            </p:nvSpPr>
            <p:spPr>
              <a:xfrm>
                <a:off x="551384" y="2460407"/>
                <a:ext cx="87849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，所以三个平面的法向量线性无关，即不共面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A4380A6-4CBE-4EFD-A7F8-4C85F59D5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2460407"/>
                <a:ext cx="8784976" cy="523220"/>
              </a:xfrm>
              <a:prstGeom prst="rect">
                <a:avLst/>
              </a:prstGeom>
              <a:blipFill>
                <a:blip r:embed="rId5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3">
                <a:extLst>
                  <a:ext uri="{FF2B5EF4-FFF2-40B4-BE49-F238E27FC236}">
                    <a16:creationId xmlns:a16="http://schemas.microsoft.com/office/drawing/2014/main" id="{CDD7CA15-DB46-4623-A03D-1F68703A4C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2464" y="3241336"/>
                <a:ext cx="5525096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2)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在平面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  <m:r>
                      <a:rPr kumimoji="1" lang="en-US" altLang="zh-CN" sz="2800" b="1" i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上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的条件是：</a:t>
                </a:r>
              </a:p>
            </p:txBody>
          </p:sp>
        </mc:Choice>
        <mc:Fallback xmlns="">
          <p:sp>
            <p:nvSpPr>
              <p:cNvPr id="14" name="Text Box 3">
                <a:extLst>
                  <a:ext uri="{FF2B5EF4-FFF2-40B4-BE49-F238E27FC236}">
                    <a16:creationId xmlns:a16="http://schemas.microsoft.com/office/drawing/2014/main" id="{CDD7CA15-DB46-4623-A03D-1F68703A4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2464" y="3241336"/>
                <a:ext cx="5525096" cy="523220"/>
              </a:xfrm>
              <a:prstGeom prst="rect">
                <a:avLst/>
              </a:prstGeom>
              <a:blipFill>
                <a:blip r:embed="rId6"/>
                <a:stretch>
                  <a:fillRect l="-2428" t="-16279" r="-221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A183ED9-0682-4AA3-9B33-E0E154EC6389}"/>
                  </a:ext>
                </a:extLst>
              </p:cNvPr>
              <p:cNvSpPr txBox="1"/>
              <p:nvPr/>
            </p:nvSpPr>
            <p:spPr>
              <a:xfrm>
                <a:off x="6744072" y="952620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zh-CN" altLang="en-US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𝟑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A183ED9-0682-4AA3-9B33-E0E154EC6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2" y="952620"/>
                <a:ext cx="352839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3E9829-97E6-44AF-98B9-3339139EB96B}"/>
                  </a:ext>
                </a:extLst>
              </p:cNvPr>
              <p:cNvSpPr txBox="1"/>
              <p:nvPr/>
            </p:nvSpPr>
            <p:spPr>
              <a:xfrm>
                <a:off x="6393264" y="3213860"/>
                <a:ext cx="36004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zh-CN" altLang="en-US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𝟐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3E9829-97E6-44AF-98B9-3339139EB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264" y="3213860"/>
                <a:ext cx="36004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build="p" autoUpdateAnimBg="0"/>
      <p:bldP spid="342020" grpId="0"/>
      <p:bldP spid="342025" grpId="0"/>
      <p:bldP spid="342026" grpId="0"/>
      <p:bldP spid="2" grpId="0"/>
      <p:bldP spid="14" grpId="0"/>
      <p:bldP spid="16" grpId="0"/>
      <p:bldP spid="1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3044" name="Text Box 4">
                <a:extLst>
                  <a:ext uri="{FF2B5EF4-FFF2-40B4-BE49-F238E27FC236}">
                    <a16:creationId xmlns:a16="http://schemas.microsoft.com/office/drawing/2014/main" id="{4377369D-E74A-41D4-B7BE-8133CDD809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9553" y="1741997"/>
                <a:ext cx="8780903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这时方程组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无解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</m:oMath>
                </a14:m>
                <a:r>
                  <a:rPr kumimoji="1" lang="en-US" altLang="zh-CN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平行于</a:t>
                </a:r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平面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  <m:r>
                      <a:rPr kumimoji="1" lang="en-US" altLang="zh-CN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，但不在</a:t>
                </a:r>
                <a14:m>
                  <m:oMath xmlns:m="http://schemas.openxmlformats.org/officeDocument/2006/math">
                    <m:r>
                      <a:rPr kumimoji="1" lang="en-US" altLang="zh-CN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</a:t>
                </a:r>
                <a:r>
                  <a:rPr kumimoji="1" lang="en-US" altLang="zh-CN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3044" name="Text Box 4">
                <a:extLst>
                  <a:ext uri="{FF2B5EF4-FFF2-40B4-BE49-F238E27FC236}">
                    <a16:creationId xmlns:a16="http://schemas.microsoft.com/office/drawing/2014/main" id="{4377369D-E74A-41D4-B7BE-8133CDD80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9553" y="1741997"/>
                <a:ext cx="8780903" cy="519113"/>
              </a:xfrm>
              <a:prstGeom prst="rect">
                <a:avLst/>
              </a:prstGeom>
              <a:blipFill>
                <a:blip r:embed="rId2"/>
                <a:stretch>
                  <a:fillRect l="-1458" t="-16471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3046" name="Text Box 6">
            <a:extLst>
              <a:ext uri="{FF2B5EF4-FFF2-40B4-BE49-F238E27FC236}">
                <a16:creationId xmlns:a16="http://schemas.microsoft.com/office/drawing/2014/main" id="{84E1A686-2BA9-43BB-9159-E6C714DCD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8130" y="2527252"/>
            <a:ext cx="4267200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两直线间的位置关系</a:t>
            </a:r>
          </a:p>
        </p:txBody>
      </p:sp>
      <p:sp>
        <p:nvSpPr>
          <p:cNvPr id="343047" name="Text Box 7">
            <a:extLst>
              <a:ext uri="{FF2B5EF4-FFF2-40B4-BE49-F238E27FC236}">
                <a16:creationId xmlns:a16="http://schemas.microsoft.com/office/drawing/2014/main" id="{DB449D12-2C2B-4F86-82DE-05BC63791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796" y="3297582"/>
            <a:ext cx="1022681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两条直线间的位置关系有：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相交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平行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不共面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即交叉不相交</a:t>
            </a:r>
            <a:r>
              <a:rPr kumimoji="1"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3048" name="Text Box 8">
            <a:extLst>
              <a:ext uri="{FF2B5EF4-FFF2-40B4-BE49-F238E27FC236}">
                <a16:creationId xmlns:a16="http://schemas.microsoft.com/office/drawing/2014/main" id="{6BBA2AEB-50A4-4561-BB01-F80196C52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4045589"/>
            <a:ext cx="2145432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三种情况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A5352338-FC29-476E-8A84-828CC34BF3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2992" y="967560"/>
                <a:ext cx="581312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3)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𝑳</m:t>
                    </m:r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与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平面</a:t>
                </a:r>
                <a14:m>
                  <m:oMath xmlns:m="http://schemas.openxmlformats.org/officeDocument/2006/math">
                    <m:r>
                      <a:rPr kumimoji="1" lang="en-US" altLang="zh-CN" sz="2800" b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𝝅</m:t>
                    </m:r>
                    <m:r>
                      <a:rPr kumimoji="1" lang="en-US" altLang="zh-CN" sz="2800" b="1" i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平行</a:t>
                </a:r>
                <a:r>
                  <a:rPr kumimoji="1"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的条件是：</a:t>
                </a:r>
              </a:p>
            </p:txBody>
          </p:sp>
        </mc:Choice>
        <mc:Fallback xmlns=""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A5352338-FC29-476E-8A84-828CC34BF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2992" y="967560"/>
                <a:ext cx="5813128" cy="523220"/>
              </a:xfrm>
              <a:prstGeom prst="rect">
                <a:avLst/>
              </a:prstGeom>
              <a:blipFill>
                <a:blip r:embed="rId3"/>
                <a:stretch>
                  <a:fillRect l="-2308" t="-16279" r="-1364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2B0E43-A3E3-44C8-BA97-B9A8EFA3D938}"/>
                  </a:ext>
                </a:extLst>
              </p:cNvPr>
              <p:cNvSpPr txBox="1"/>
              <p:nvPr/>
            </p:nvSpPr>
            <p:spPr>
              <a:xfrm>
                <a:off x="6987208" y="952635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𝟐</m:t>
                      </m:r>
                      <m:r>
                        <a:rPr kumimoji="1" lang="zh-CN" altLang="en-US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，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zh-CN" altLang="en-US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𝟑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2B0E43-A3E3-44C8-BA97-B9A8EFA3D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208" y="952635"/>
                <a:ext cx="352839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4" grpId="0"/>
      <p:bldP spid="343046" grpId="0"/>
      <p:bldP spid="343047" grpId="0"/>
      <p:bldP spid="343048" grpId="0"/>
      <p:bldP spid="10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9">
                <a:extLst>
                  <a:ext uri="{FF2B5EF4-FFF2-40B4-BE49-F238E27FC236}">
                    <a16:creationId xmlns:a16="http://schemas.microsoft.com/office/drawing/2014/main" id="{0EF69FB6-E121-43BF-BD12-37B2E3061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2992" y="693078"/>
                <a:ext cx="5105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设直线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的方程分别为</a:t>
                </a:r>
              </a:p>
            </p:txBody>
          </p:sp>
        </mc:Choice>
        <mc:Fallback xmlns="">
          <p:sp>
            <p:nvSpPr>
              <p:cNvPr id="2" name="Text Box 9">
                <a:extLst>
                  <a:ext uri="{FF2B5EF4-FFF2-40B4-BE49-F238E27FC236}">
                    <a16:creationId xmlns:a16="http://schemas.microsoft.com/office/drawing/2014/main" id="{0EF69FB6-E121-43BF-BD12-37B2E3061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2992" y="693078"/>
                <a:ext cx="5105400" cy="523220"/>
              </a:xfrm>
              <a:prstGeom prst="rect">
                <a:avLst/>
              </a:prstGeom>
              <a:blipFill>
                <a:blip r:embed="rId2"/>
                <a:stretch>
                  <a:fillRect l="-2509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5CD4B7-0858-4DA8-B92D-432DAC5C65CC}"/>
                  </a:ext>
                </a:extLst>
              </p:cNvPr>
              <p:cNvSpPr txBox="1"/>
              <p:nvPr/>
            </p:nvSpPr>
            <p:spPr>
              <a:xfrm>
                <a:off x="2801484" y="1263985"/>
                <a:ext cx="5678862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5CD4B7-0858-4DA8-B92D-432DAC5C6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484" y="1263985"/>
                <a:ext cx="5678862" cy="961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C58F2AC-DEE9-49E1-9CC8-756B22C549C8}"/>
                  </a:ext>
                </a:extLst>
              </p:cNvPr>
              <p:cNvSpPr txBox="1"/>
              <p:nvPr/>
            </p:nvSpPr>
            <p:spPr>
              <a:xfrm>
                <a:off x="2801484" y="2368981"/>
                <a:ext cx="5678862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C58F2AC-DEE9-49E1-9CC8-756B22C54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484" y="2368981"/>
                <a:ext cx="5678862" cy="961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3F143061-E37C-4026-88C9-FE42BA9DCC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400" y="3403785"/>
                <a:ext cx="80772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的位置关系由下面的方程组</a:t>
                </a:r>
              </a:p>
            </p:txBody>
          </p:sp>
        </mc:Choice>
        <mc:Fallback xmlns="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3F143061-E37C-4026-88C9-FE42BA9DC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400" y="3403785"/>
                <a:ext cx="8077200" cy="519112"/>
              </a:xfrm>
              <a:prstGeom prst="rect">
                <a:avLst/>
              </a:prstGeom>
              <a:blipFill>
                <a:blip r:embed="rId5"/>
                <a:stretch>
                  <a:fillRect l="-1509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56E185F-DD5A-4E99-8779-5EB1565DEEA6}"/>
                  </a:ext>
                </a:extLst>
              </p:cNvPr>
              <p:cNvSpPr txBox="1"/>
              <p:nvPr/>
            </p:nvSpPr>
            <p:spPr>
              <a:xfrm>
                <a:off x="3631519" y="3967835"/>
                <a:ext cx="4848827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56E185F-DD5A-4E99-8779-5EB1565DE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519" y="3967835"/>
                <a:ext cx="4848827" cy="19424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80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/>
      <p:bldP spid="4" grpId="0"/>
      <p:bldP spid="5" grpId="0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5090" name="Text Box 2">
                <a:extLst>
                  <a:ext uri="{FF2B5EF4-FFF2-40B4-BE49-F238E27FC236}">
                    <a16:creationId xmlns:a16="http://schemas.microsoft.com/office/drawing/2014/main" id="{3C742145-C5D6-482C-9B26-06232F323D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5083" y="1263034"/>
                <a:ext cx="617220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1)</a:t>
                </a:r>
                <a:r>
                  <a:rPr kumimoji="1" lang="en-US" altLang="zh-CN" sz="2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相交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的条件是：</a:t>
                </a:r>
              </a:p>
            </p:txBody>
          </p:sp>
        </mc:Choice>
        <mc:Fallback xmlns="">
          <p:sp>
            <p:nvSpPr>
              <p:cNvPr id="345090" name="Text Box 2">
                <a:extLst>
                  <a:ext uri="{FF2B5EF4-FFF2-40B4-BE49-F238E27FC236}">
                    <a16:creationId xmlns:a16="http://schemas.microsoft.com/office/drawing/2014/main" id="{3C742145-C5D6-482C-9B26-06232F323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5083" y="1263034"/>
                <a:ext cx="6172200" cy="519112"/>
              </a:xfrm>
              <a:prstGeom prst="rect">
                <a:avLst/>
              </a:prstGeom>
              <a:blipFill>
                <a:blip r:embed="rId2"/>
                <a:stretch>
                  <a:fillRect l="-2174" t="-16471" b="-36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5092" name="Text Box 4">
            <a:extLst>
              <a:ext uri="{FF2B5EF4-FFF2-40B4-BE49-F238E27FC236}">
                <a16:creationId xmlns:a16="http://schemas.microsoft.com/office/drawing/2014/main" id="{137E3D6C-508E-43AA-95C2-47BE5CBA7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083" y="1951777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这时方程组有唯一解，两直线交于一点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45095" name="Text Box 7">
            <a:extLst>
              <a:ext uri="{FF2B5EF4-FFF2-40B4-BE49-F238E27FC236}">
                <a16:creationId xmlns:a16="http://schemas.microsoft.com/office/drawing/2014/main" id="{CDAB3FE1-8AE1-4D99-B297-FFDBBA609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468" y="3295948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这时方程组有无穷多解，两条直线重合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5096" name="Text Box 8">
                <a:extLst>
                  <a:ext uri="{FF2B5EF4-FFF2-40B4-BE49-F238E27FC236}">
                    <a16:creationId xmlns:a16="http://schemas.microsoft.com/office/drawing/2014/main" id="{85CCF9E4-B3F3-4D0B-A9D1-CBA9ED4B1E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1468" y="3963571"/>
                <a:ext cx="6553200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3)</a:t>
                </a:r>
                <a:r>
                  <a:rPr kumimoji="1" lang="en-US" altLang="zh-CN" sz="2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平行不相交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的条件是：</a:t>
                </a:r>
              </a:p>
            </p:txBody>
          </p:sp>
        </mc:Choice>
        <mc:Fallback xmlns="">
          <p:sp>
            <p:nvSpPr>
              <p:cNvPr id="345096" name="Text Box 8">
                <a:extLst>
                  <a:ext uri="{FF2B5EF4-FFF2-40B4-BE49-F238E27FC236}">
                    <a16:creationId xmlns:a16="http://schemas.microsoft.com/office/drawing/2014/main" id="{85CCF9E4-B3F3-4D0B-A9D1-CBA9ED4B1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1468" y="3963571"/>
                <a:ext cx="6553200" cy="519113"/>
              </a:xfrm>
              <a:prstGeom prst="rect">
                <a:avLst/>
              </a:prstGeom>
              <a:blipFill>
                <a:blip r:embed="rId3"/>
                <a:stretch>
                  <a:fillRect l="-2047" t="-16471" b="-36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5098" name="Text Box 10">
            <a:extLst>
              <a:ext uri="{FF2B5EF4-FFF2-40B4-BE49-F238E27FC236}">
                <a16:creationId xmlns:a16="http://schemas.microsoft.com/office/drawing/2014/main" id="{C96A1543-7175-451E-9C6F-C0A0088BD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4634340"/>
            <a:ext cx="98491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这时方程组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无解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，四个平面的法向量构成的向量组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线性相关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098F068C-E593-41A2-8B1D-4A9CB8C00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692696"/>
            <a:ext cx="510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的解的情况决定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C864022-9C9B-41CE-8D86-8BAA25B1438B}"/>
                  </a:ext>
                </a:extLst>
              </p:cNvPr>
              <p:cNvSpPr txBox="1"/>
              <p:nvPr/>
            </p:nvSpPr>
            <p:spPr>
              <a:xfrm>
                <a:off x="6491314" y="1235074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zh-CN" altLang="en-US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𝟑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C864022-9C9B-41CE-8D86-8BAA25B14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314" y="1235074"/>
                <a:ext cx="352839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">
                <a:extLst>
                  <a:ext uri="{FF2B5EF4-FFF2-40B4-BE49-F238E27FC236}">
                    <a16:creationId xmlns:a16="http://schemas.microsoft.com/office/drawing/2014/main" id="{56E82D30-5C73-4747-9EE3-52D85CEA33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1468" y="2633563"/>
                <a:ext cx="617220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2)</a:t>
                </a:r>
                <a:r>
                  <a:rPr kumimoji="1" lang="en-US" altLang="zh-CN" sz="2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重合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的条件是：</a:t>
                </a:r>
              </a:p>
            </p:txBody>
          </p:sp>
        </mc:Choice>
        <mc:Fallback xmlns="">
          <p:sp>
            <p:nvSpPr>
              <p:cNvPr id="13" name="Text Box 2">
                <a:extLst>
                  <a:ext uri="{FF2B5EF4-FFF2-40B4-BE49-F238E27FC236}">
                    <a16:creationId xmlns:a16="http://schemas.microsoft.com/office/drawing/2014/main" id="{56E82D30-5C73-4747-9EE3-52D85CEA3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1468" y="2633563"/>
                <a:ext cx="6172200" cy="519112"/>
              </a:xfrm>
              <a:prstGeom prst="rect">
                <a:avLst/>
              </a:prstGeom>
              <a:blipFill>
                <a:blip r:embed="rId5"/>
                <a:stretch>
                  <a:fillRect l="-2174" t="-16471" b="-36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41F4E93-0885-47C1-A2C6-587C2791C79F}"/>
                  </a:ext>
                </a:extLst>
              </p:cNvPr>
              <p:cNvSpPr txBox="1"/>
              <p:nvPr/>
            </p:nvSpPr>
            <p:spPr>
              <a:xfrm>
                <a:off x="6491314" y="2621809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zh-CN" altLang="en-US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𝟐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41F4E93-0885-47C1-A2C6-587C2791C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314" y="2621809"/>
                <a:ext cx="352839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7C32C9B-DD5F-4A7B-95FD-03200D49496A}"/>
                  </a:ext>
                </a:extLst>
              </p:cNvPr>
              <p:cNvSpPr txBox="1"/>
              <p:nvPr/>
            </p:nvSpPr>
            <p:spPr>
              <a:xfrm>
                <a:off x="7752183" y="3959464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𝟐</m:t>
                      </m:r>
                      <m:r>
                        <a:rPr kumimoji="1" lang="zh-CN" altLang="en-US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，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zh-CN" altLang="en-US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𝟑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7C32C9B-DD5F-4A7B-95FD-03200D494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3" y="3959464"/>
                <a:ext cx="352839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3F06A71-6891-4B8E-9C81-63C39D7F4F54}"/>
                  </a:ext>
                </a:extLst>
              </p:cNvPr>
              <p:cNvSpPr txBox="1"/>
              <p:nvPr/>
            </p:nvSpPr>
            <p:spPr>
              <a:xfrm>
                <a:off x="839416" y="5309216"/>
                <a:ext cx="107291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即它们的</a:t>
                </a:r>
                <a:r>
                  <a:rPr kumimoji="1"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法向量共面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，从而两条直线的方向向量平行，但直线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3F06A71-6891-4B8E-9C81-63C39D7F4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5309216"/>
                <a:ext cx="10729192" cy="523220"/>
              </a:xfrm>
              <a:prstGeom prst="rect">
                <a:avLst/>
              </a:prstGeom>
              <a:blipFill>
                <a:blip r:embed="rId8"/>
                <a:stretch>
                  <a:fillRect l="-1193" t="-15116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0" grpId="0"/>
      <p:bldP spid="345092" grpId="0"/>
      <p:bldP spid="345095" grpId="0"/>
      <p:bldP spid="345096" grpId="0"/>
      <p:bldP spid="345098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9">
                <a:extLst>
                  <a:ext uri="{FF2B5EF4-FFF2-40B4-BE49-F238E27FC236}">
                    <a16:creationId xmlns:a16="http://schemas.microsoft.com/office/drawing/2014/main" id="{D79B79B5-BF29-4260-9560-01D2B78581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392" y="692696"/>
                <a:ext cx="928903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上任意一点都不在直线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平行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但不相交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 Box 9">
                <a:extLst>
                  <a:ext uri="{FF2B5EF4-FFF2-40B4-BE49-F238E27FC236}">
                    <a16:creationId xmlns:a16="http://schemas.microsoft.com/office/drawing/2014/main" id="{D79B79B5-BF29-4260-9560-01D2B7858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392" y="692696"/>
                <a:ext cx="9289032" cy="523220"/>
              </a:xfrm>
              <a:prstGeom prst="rect">
                <a:avLst/>
              </a:prstGeom>
              <a:blipFill>
                <a:blip r:embed="rId2"/>
                <a:stretch>
                  <a:fillRect l="-1312" t="-16471" r="-2297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8">
                <a:extLst>
                  <a:ext uri="{FF2B5EF4-FFF2-40B4-BE49-F238E27FC236}">
                    <a16:creationId xmlns:a16="http://schemas.microsoft.com/office/drawing/2014/main" id="{E627DA0D-BEE6-44BF-A67E-E31A0C176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5480" y="1484784"/>
                <a:ext cx="727280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4)</a:t>
                </a:r>
                <a:r>
                  <a:rPr kumimoji="1" lang="en-US" altLang="zh-CN" sz="2800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800" b="1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不平行也不相交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的条件是：</a:t>
                </a:r>
              </a:p>
            </p:txBody>
          </p:sp>
        </mc:Choice>
        <mc:Fallback xmlns="">
          <p:sp>
            <p:nvSpPr>
              <p:cNvPr id="4" name="Text Box 8">
                <a:extLst>
                  <a:ext uri="{FF2B5EF4-FFF2-40B4-BE49-F238E27FC236}">
                    <a16:creationId xmlns:a16="http://schemas.microsoft.com/office/drawing/2014/main" id="{E627DA0D-BEE6-44BF-A67E-E31A0C176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5480" y="1484784"/>
                <a:ext cx="7272808" cy="523220"/>
              </a:xfrm>
              <a:prstGeom prst="rect">
                <a:avLst/>
              </a:prstGeom>
              <a:blipFill>
                <a:blip r:embed="rId3"/>
                <a:stretch>
                  <a:fillRect l="-1760" t="-17647" b="-352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E0050D-D424-4FC4-B1F1-D99C8262F87A}"/>
                  </a:ext>
                </a:extLst>
              </p:cNvPr>
              <p:cNvSpPr txBox="1"/>
              <p:nvPr/>
            </p:nvSpPr>
            <p:spPr>
              <a:xfrm>
                <a:off x="4151784" y="2192170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𝟑</m:t>
                      </m:r>
                      <m:r>
                        <a:rPr kumimoji="1" lang="zh-CN" altLang="en-US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，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𝑹</m:t>
                      </m:r>
                      <m:d>
                        <m:dPr>
                          <m:ctrlPr>
                            <a:rPr kumimoji="1" lang="en-US" altLang="zh-CN" sz="2800" b="1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zh-CN" altLang="en-US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1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𝟒</m:t>
                      </m:r>
                      <m:r>
                        <a:rPr kumimoji="1" lang="en-US" altLang="zh-CN" sz="2800" b="1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E0050D-D424-4FC4-B1F1-D99C8262F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2192170"/>
                <a:ext cx="352839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>
            <a:extLst>
              <a:ext uri="{FF2B5EF4-FFF2-40B4-BE49-F238E27FC236}">
                <a16:creationId xmlns:a16="http://schemas.microsoft.com/office/drawing/2014/main" id="{3789B3A7-01C3-4677-AE23-36D6858F8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2902540"/>
            <a:ext cx="10297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这时方程组也无解，两直线不平行，也不相交，从而不共面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异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E8C8F0-7228-4431-8047-C843CBDD370F}"/>
              </a:ext>
            </a:extLst>
          </p:cNvPr>
          <p:cNvSpPr txBox="1"/>
          <p:nvPr/>
        </p:nvSpPr>
        <p:spPr>
          <a:xfrm>
            <a:off x="644970" y="356523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面直线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8188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5" grpId="0"/>
      <p:bldP spid="6" grpId="0"/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Text Box 2">
            <a:extLst>
              <a:ext uri="{FF2B5EF4-FFF2-40B4-BE49-F238E27FC236}">
                <a16:creationId xmlns:a16="http://schemas.microsoft.com/office/drawing/2014/main" id="{7DC62553-9FDD-447F-813F-36BD870B6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410" y="2809156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设有三元非齐次线性方程组</a:t>
            </a:r>
          </a:p>
        </p:txBody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E30117B0-0B1A-438A-8410-AD9EB211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685800"/>
            <a:ext cx="691673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四、三元非齐次线性方程组解的几何意义</a:t>
            </a:r>
            <a:endParaRPr kumimoji="1" lang="zh-CN" altLang="en-US" sz="3200" b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7141" name="Rectangle 5">
            <a:extLst>
              <a:ext uri="{FF2B5EF4-FFF2-40B4-BE49-F238E27FC236}">
                <a16:creationId xmlns:a16="http://schemas.microsoft.com/office/drawing/2014/main" id="{DD7B63E6-B54B-40B4-94A6-EC7348FD3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447798"/>
            <a:ext cx="101024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在本节的最后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我们来讨论一下三元非齐次线性方程组解的几何</a:t>
            </a:r>
          </a:p>
        </p:txBody>
      </p:sp>
      <p:sp>
        <p:nvSpPr>
          <p:cNvPr id="347142" name="Rectangle 6">
            <a:extLst>
              <a:ext uri="{FF2B5EF4-FFF2-40B4-BE49-F238E27FC236}">
                <a16:creationId xmlns:a16="http://schemas.microsoft.com/office/drawing/2014/main" id="{B2FDAB9E-CA51-4CA8-853C-6E687EE4E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2067581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意义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4C5A43-1FFC-40D3-BD68-F57D12127215}"/>
                  </a:ext>
                </a:extLst>
              </p:cNvPr>
              <p:cNvSpPr txBox="1"/>
              <p:nvPr/>
            </p:nvSpPr>
            <p:spPr>
              <a:xfrm>
                <a:off x="3935760" y="3588438"/>
                <a:ext cx="7454348" cy="1664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800" b="1" i="1" smtClean="0">
                                  <a:latin typeface="Cambria Math" panose="02040503050406030204" pitchFamily="18" charset="0"/>
                                </a:rPr>
                                <m:t>⋯⋯⋯⋯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eqAr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                        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4C5A43-1FFC-40D3-BD68-F57D12127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760" y="3588438"/>
                <a:ext cx="7454348" cy="16643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/>
      <p:bldP spid="347139" grpId="0"/>
      <p:bldP spid="347141" grpId="0"/>
      <p:bldP spid="347142" grpId="0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62" name="Text Box 2">
                <a:extLst>
                  <a:ext uri="{FF2B5EF4-FFF2-40B4-BE49-F238E27FC236}">
                    <a16:creationId xmlns:a16="http://schemas.microsoft.com/office/drawing/2014/main" id="{4F00B99A-308C-4761-9CAF-59ED7DF459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6535" y="2562240"/>
                <a:ext cx="10009112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2)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有唯一解  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这时方程组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(10)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中的</a:t>
                </a:r>
                <a14:m>
                  <m:oMath xmlns:m="http://schemas.openxmlformats.org/officeDocument/2006/math">
                    <m:r>
                      <a:rPr kumimoji="1" lang="en-US" altLang="zh-CN" sz="28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𝒎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个方程所表示的平面交于</a:t>
                </a:r>
              </a:p>
            </p:txBody>
          </p:sp>
        </mc:Choice>
        <mc:Fallback xmlns="">
          <p:sp>
            <p:nvSpPr>
              <p:cNvPr id="348162" name="Text Box 2">
                <a:extLst>
                  <a:ext uri="{FF2B5EF4-FFF2-40B4-BE49-F238E27FC236}">
                    <a16:creationId xmlns:a16="http://schemas.microsoft.com/office/drawing/2014/main" id="{4F00B99A-308C-4761-9CAF-59ED7DF45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6535" y="2562240"/>
                <a:ext cx="10009112" cy="523220"/>
              </a:xfrm>
              <a:prstGeom prst="rect">
                <a:avLst/>
              </a:prstGeom>
              <a:blipFill>
                <a:blip r:embed="rId2"/>
                <a:stretch>
                  <a:fillRect l="-1340" t="-16279" r="-974" b="-348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164" name="Text Box 4">
            <a:extLst>
              <a:ext uri="{FF2B5EF4-FFF2-40B4-BE49-F238E27FC236}">
                <a16:creationId xmlns:a16="http://schemas.microsoft.com/office/drawing/2014/main" id="{A0144C6C-665C-4425-8F48-FBAF4AECD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" y="54493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该方程组有唯一解</a:t>
            </a:r>
          </a:p>
        </p:txBody>
      </p:sp>
      <p:sp>
        <p:nvSpPr>
          <p:cNvPr id="348166" name="Rectangle 6">
            <a:extLst>
              <a:ext uri="{FF2B5EF4-FFF2-40B4-BE49-F238E27FC236}">
                <a16:creationId xmlns:a16="http://schemas.microsoft.com/office/drawing/2014/main" id="{129A1F42-16AF-47CE-A645-2012C86BA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66" y="659945"/>
            <a:ext cx="57791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(10)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的解有以下三种情况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67" name="Rectangle 7">
                <a:extLst>
                  <a:ext uri="{FF2B5EF4-FFF2-40B4-BE49-F238E27FC236}">
                    <a16:creationId xmlns:a16="http://schemas.microsoft.com/office/drawing/2014/main" id="{B970F93D-0133-4226-A7D8-A27AA8E3E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472" y="1284924"/>
                <a:ext cx="10657184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1) </a:t>
                </a:r>
                <a:r>
                  <a:rPr kumimoji="1" lang="zh-CN" altLang="en-US" sz="2800" b="1" dirty="0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无解  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这时方程组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(10)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中的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𝒎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个方程所表示的平面既不交于</a:t>
                </a:r>
              </a:p>
            </p:txBody>
          </p:sp>
        </mc:Choice>
        <mc:Fallback xmlns="">
          <p:sp>
            <p:nvSpPr>
              <p:cNvPr id="348167" name="Rectangle 7">
                <a:extLst>
                  <a:ext uri="{FF2B5EF4-FFF2-40B4-BE49-F238E27FC236}">
                    <a16:creationId xmlns:a16="http://schemas.microsoft.com/office/drawing/2014/main" id="{B970F93D-0133-4226-A7D8-A27AA8E3E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472" y="1284924"/>
                <a:ext cx="10657184" cy="523220"/>
              </a:xfrm>
              <a:prstGeom prst="rect">
                <a:avLst/>
              </a:prstGeom>
              <a:blipFill>
                <a:blip r:embed="rId3"/>
                <a:stretch>
                  <a:fillRect l="-1201" t="-17442" b="-337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168" name="Rectangle 8">
            <a:extLst>
              <a:ext uri="{FF2B5EF4-FFF2-40B4-BE49-F238E27FC236}">
                <a16:creationId xmlns:a16="http://schemas.microsoft.com/office/drawing/2014/main" id="{628C6F6C-2483-4998-85B3-ABB4185D1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40" y="1942323"/>
            <a:ext cx="394624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一点，也不共线、共面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594D12-5A15-47D8-9416-66338206389E}"/>
              </a:ext>
            </a:extLst>
          </p:cNvPr>
          <p:cNvSpPr txBox="1"/>
          <p:nvPr/>
        </p:nvSpPr>
        <p:spPr>
          <a:xfrm>
            <a:off x="681776" y="3186264"/>
            <a:ext cx="1224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一点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F9905D-5DB6-483D-A6F6-4EC7A32EED46}"/>
              </a:ext>
            </a:extLst>
          </p:cNvPr>
          <p:cNvSpPr txBox="1"/>
          <p:nvPr/>
        </p:nvSpPr>
        <p:spPr>
          <a:xfrm>
            <a:off x="1703512" y="3160783"/>
            <a:ext cx="1224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32B6F4C-F2A8-4E24-BC80-D457BA7211D0}"/>
                  </a:ext>
                </a:extLst>
              </p:cNvPr>
              <p:cNvSpPr txBox="1"/>
              <p:nvPr/>
            </p:nvSpPr>
            <p:spPr>
              <a:xfrm>
                <a:off x="4243338" y="3678581"/>
                <a:ext cx="2960298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32B6F4C-F2A8-4E24-BC80-D457BA721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338" y="3678581"/>
                <a:ext cx="2960298" cy="1375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277C4D-22D3-4BF9-A8A1-957A71BCC4B6}"/>
                  </a:ext>
                </a:extLst>
              </p:cNvPr>
              <p:cNvSpPr txBox="1"/>
              <p:nvPr/>
            </p:nvSpPr>
            <p:spPr>
              <a:xfrm>
                <a:off x="3742872" y="5174104"/>
                <a:ext cx="2546017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𝟏𝟕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277C4D-22D3-4BF9-A8A1-957A71BCC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872" y="5174104"/>
                <a:ext cx="2546017" cy="968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2" grpId="0"/>
      <p:bldP spid="348164" grpId="0"/>
      <p:bldP spid="348166" grpId="0" autoUpdateAnimBg="0"/>
      <p:bldP spid="348167" grpId="0" autoUpdateAnimBg="0"/>
      <p:bldP spid="348168" grpId="0"/>
      <p:bldP spid="12" grpId="0"/>
      <p:bldP spid="13" grpId="0"/>
      <p:bldP spid="3" grpId="0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>
            <a:extLst>
              <a:ext uri="{FF2B5EF4-FFF2-40B4-BE49-F238E27FC236}">
                <a16:creationId xmlns:a16="http://schemas.microsoft.com/office/drawing/2014/main" id="{94CFFBA1-5E64-4BFD-911F-EF32EE296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2" t="22728" r="23529" b="4546"/>
          <a:stretch>
            <a:fillRect/>
          </a:stretch>
        </p:blipFill>
        <p:spPr bwMode="auto">
          <a:xfrm>
            <a:off x="2615938" y="839790"/>
            <a:ext cx="3912110" cy="3321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043" name="Text Box 3">
            <a:extLst>
              <a:ext uri="{FF2B5EF4-FFF2-40B4-BE49-F238E27FC236}">
                <a16:creationId xmlns:a16="http://schemas.microsoft.com/office/drawing/2014/main" id="{6347A546-D83E-43EA-975A-3963FB720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318297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其几何意义如 图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3 - 1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所示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pic>
        <p:nvPicPr>
          <p:cNvPr id="87044" name="Picture 4">
            <a:extLst>
              <a:ext uri="{FF2B5EF4-FFF2-40B4-BE49-F238E27FC236}">
                <a16:creationId xmlns:a16="http://schemas.microsoft.com/office/drawing/2014/main" id="{CE3F225C-CF6E-44C4-9DFF-74A6C4ADE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4" t="22728" r="16176" b="6363"/>
          <a:stretch>
            <a:fillRect/>
          </a:stretch>
        </p:blipFill>
        <p:spPr bwMode="auto">
          <a:xfrm>
            <a:off x="6629400" y="325923"/>
            <a:ext cx="3810000" cy="278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4153B37-A2EB-4988-A238-13C964145869}"/>
              </a:ext>
            </a:extLst>
          </p:cNvPr>
          <p:cNvGrpSpPr/>
          <p:nvPr/>
        </p:nvGrpSpPr>
        <p:grpSpPr>
          <a:xfrm>
            <a:off x="2667000" y="4130951"/>
            <a:ext cx="2124173" cy="519113"/>
            <a:chOff x="2667000" y="4130951"/>
            <a:chExt cx="2124173" cy="519113"/>
          </a:xfrm>
        </p:grpSpPr>
        <p:sp>
          <p:nvSpPr>
            <p:cNvPr id="87045" name="Rectangle 5">
              <a:extLst>
                <a:ext uri="{FF2B5EF4-FFF2-40B4-BE49-F238E27FC236}">
                  <a16:creationId xmlns:a16="http://schemas.microsoft.com/office/drawing/2014/main" id="{EA394BCB-9B4A-4E44-AEDC-3084DA7E4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276208"/>
              <a:ext cx="228600" cy="2286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190" name="Text Box 6">
              <a:extLst>
                <a:ext uri="{FF2B5EF4-FFF2-40B4-BE49-F238E27FC236}">
                  <a16:creationId xmlns:a16="http://schemas.microsoft.com/office/drawing/2014/main" id="{C5709699-A809-4B21-B491-33C45864E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7173" y="4130951"/>
              <a:ext cx="1524000" cy="5191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8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-</a:t>
              </a:r>
              <a:r>
                <a:rPr kumimoji="1" lang="en-US" altLang="zh-CN" sz="28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kumimoji="1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=-3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7A7DB52-5C95-412C-A524-EB2DA154EFF9}"/>
              </a:ext>
            </a:extLst>
          </p:cNvPr>
          <p:cNvGrpSpPr/>
          <p:nvPr/>
        </p:nvGrpSpPr>
        <p:grpSpPr>
          <a:xfrm>
            <a:off x="2676427" y="4663419"/>
            <a:ext cx="2419546" cy="519113"/>
            <a:chOff x="2676427" y="4663419"/>
            <a:chExt cx="2419546" cy="519113"/>
          </a:xfrm>
        </p:grpSpPr>
        <p:sp>
          <p:nvSpPr>
            <p:cNvPr id="87047" name="Rectangle 7">
              <a:extLst>
                <a:ext uri="{FF2B5EF4-FFF2-40B4-BE49-F238E27FC236}">
                  <a16:creationId xmlns:a16="http://schemas.microsoft.com/office/drawing/2014/main" id="{36A2FDA0-06F1-4188-838B-F6310FB91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427" y="4841593"/>
              <a:ext cx="228600" cy="2286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9192" name="Text Box 8">
              <a:extLst>
                <a:ext uri="{FF2B5EF4-FFF2-40B4-BE49-F238E27FC236}">
                  <a16:creationId xmlns:a16="http://schemas.microsoft.com/office/drawing/2014/main" id="{F70A600D-CFB4-412A-95B6-81D4E26AC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7173" y="4663419"/>
              <a:ext cx="1828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8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r>
                <a:rPr kumimoji="1" lang="en-US" altLang="zh-CN" sz="2800" b="1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+2</a:t>
              </a:r>
              <a:r>
                <a:rPr kumimoji="1" lang="en-US" altLang="zh-CN" sz="2800" b="1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z</a:t>
              </a:r>
              <a:r>
                <a:rPr kumimoji="1" lang="en-US" altLang="zh-CN" sz="28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=-1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50E03A7-BF9F-44A1-A34C-F9DCD2FF9FF5}"/>
              </a:ext>
            </a:extLst>
          </p:cNvPr>
          <p:cNvGrpSpPr/>
          <p:nvPr/>
        </p:nvGrpSpPr>
        <p:grpSpPr>
          <a:xfrm>
            <a:off x="2667000" y="5195888"/>
            <a:ext cx="2895600" cy="519112"/>
            <a:chOff x="2667000" y="5195888"/>
            <a:chExt cx="2895600" cy="519112"/>
          </a:xfrm>
        </p:grpSpPr>
        <p:sp>
          <p:nvSpPr>
            <p:cNvPr id="87049" name="Rectangle 9">
              <a:extLst>
                <a:ext uri="{FF2B5EF4-FFF2-40B4-BE49-F238E27FC236}">
                  <a16:creationId xmlns:a16="http://schemas.microsoft.com/office/drawing/2014/main" id="{8549C2EC-4009-49C4-969E-D6C2D3AF3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5340350"/>
              <a:ext cx="228600" cy="228600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zh-CN" altLang="en-US">
                <a:solidFill>
                  <a:srgbClr val="3333FF"/>
                </a:solidFill>
              </a:endParaRPr>
            </a:p>
          </p:txBody>
        </p:sp>
        <p:sp>
          <p:nvSpPr>
            <p:cNvPr id="349194" name="Text Box 10">
              <a:extLst>
                <a:ext uri="{FF2B5EF4-FFF2-40B4-BE49-F238E27FC236}">
                  <a16:creationId xmlns:a16="http://schemas.microsoft.com/office/drawing/2014/main" id="{AA74D813-E3FF-46C6-BB3D-90C7858A0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5195888"/>
              <a:ext cx="2286000" cy="5191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800" b="1" i="1" dirty="0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800" b="1" dirty="0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-3</a:t>
              </a:r>
              <a:r>
                <a:rPr kumimoji="1" lang="en-US" altLang="zh-CN" sz="2800" b="1" i="1" dirty="0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kumimoji="1" lang="en-US" altLang="zh-CN" sz="2800" b="1" dirty="0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+2</a:t>
              </a:r>
              <a:r>
                <a:rPr kumimoji="1" lang="en-US" altLang="zh-CN" sz="2800" b="1" i="1" dirty="0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z</a:t>
              </a:r>
              <a:r>
                <a:rPr kumimoji="1" lang="en-US" altLang="zh-CN" sz="2800" b="1" dirty="0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=4</a:t>
              </a:r>
            </a:p>
          </p:txBody>
        </p:sp>
      </p:grpSp>
      <p:sp>
        <p:nvSpPr>
          <p:cNvPr id="349195" name="Text Box 11">
            <a:extLst>
              <a:ext uri="{FF2B5EF4-FFF2-40B4-BE49-F238E27FC236}">
                <a16:creationId xmlns:a16="http://schemas.microsoft.com/office/drawing/2014/main" id="{4C772327-9609-47C6-B98B-612992D4E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2719" y="5568950"/>
            <a:ext cx="170656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3-1</a:t>
            </a:r>
          </a:p>
        </p:txBody>
      </p:sp>
      <p:pic>
        <p:nvPicPr>
          <p:cNvPr id="87052" name="Picture 12">
            <a:extLst>
              <a:ext uri="{FF2B5EF4-FFF2-40B4-BE49-F238E27FC236}">
                <a16:creationId xmlns:a16="http://schemas.microsoft.com/office/drawing/2014/main" id="{EE7731DB-AF16-4B2F-BFB9-4CD076E53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2" t="15454" r="26471" b="4546"/>
          <a:stretch>
            <a:fillRect/>
          </a:stretch>
        </p:blipFill>
        <p:spPr bwMode="auto">
          <a:xfrm>
            <a:off x="6629400" y="3048001"/>
            <a:ext cx="3810000" cy="307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/>
      <p:bldP spid="34919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1" name="Rectangle 3">
            <a:extLst>
              <a:ext uri="{FF2B5EF4-FFF2-40B4-BE49-F238E27FC236}">
                <a16:creationId xmlns:a16="http://schemas.microsoft.com/office/drawing/2014/main" id="{FED4C799-723F-48CE-BF16-E41EEBA8E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189" y="635000"/>
            <a:ext cx="7938163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3) </a:t>
            </a: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有无穷多组解</a:t>
            </a:r>
            <a:r>
              <a:rPr kumimoji="1"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这时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又可分为两种情形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50212" name="Rectangle 4">
            <a:extLst>
              <a:ext uri="{FF2B5EF4-FFF2-40B4-BE49-F238E27FC236}">
                <a16:creationId xmlns:a16="http://schemas.microsoft.com/office/drawing/2014/main" id="{924B8773-EDE8-4AE6-8F0E-D490C493D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920" y="1400642"/>
            <a:ext cx="1543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情形一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0213" name="Rectangle 5">
            <a:extLst>
              <a:ext uri="{FF2B5EF4-FFF2-40B4-BE49-F238E27FC236}">
                <a16:creationId xmlns:a16="http://schemas.microsoft.com/office/drawing/2014/main" id="{74EB7B11-AF86-4C3E-9440-BF70E6AE7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054612"/>
            <a:ext cx="8115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基础解系中有两个向量，其一般解的形式为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0216" name="Rectangle 8">
                <a:extLst>
                  <a:ext uri="{FF2B5EF4-FFF2-40B4-BE49-F238E27FC236}">
                    <a16:creationId xmlns:a16="http://schemas.microsoft.com/office/drawing/2014/main" id="{E7BB1FE5-F8D4-45EC-AAE1-CED6DD2EF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859" y="3470117"/>
                <a:ext cx="1056936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这时方程组的所有解构成一个平面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, 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而这个平面是由过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𝜸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且分别以</a:t>
                </a:r>
              </a:p>
            </p:txBody>
          </p:sp>
        </mc:Choice>
        <mc:Fallback xmlns="">
          <p:sp>
            <p:nvSpPr>
              <p:cNvPr id="350216" name="Rectangle 8">
                <a:extLst>
                  <a:ext uri="{FF2B5EF4-FFF2-40B4-BE49-F238E27FC236}">
                    <a16:creationId xmlns:a16="http://schemas.microsoft.com/office/drawing/2014/main" id="{E7BB1FE5-F8D4-45EC-AAE1-CED6DD2EF9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859" y="3470117"/>
                <a:ext cx="10569368" cy="523220"/>
              </a:xfrm>
              <a:prstGeom prst="rect">
                <a:avLst/>
              </a:prstGeom>
              <a:blipFill>
                <a:blip r:embed="rId2"/>
                <a:stretch>
                  <a:fillRect l="-1269" t="-16279" r="-692" b="-395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217" name="Rectangle 9">
                <a:extLst>
                  <a:ext uri="{FF2B5EF4-FFF2-40B4-BE49-F238E27FC236}">
                    <a16:creationId xmlns:a16="http://schemas.microsoft.com/office/drawing/2014/main" id="{9F159896-840C-4FFA-8FEE-A6BE7CE3A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885" y="4136211"/>
                <a:ext cx="6886283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𝜼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为方向向量的两条相交直线所确定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zh-CN" altLang="en-US" sz="28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50217" name="Rectangle 9">
                <a:extLst>
                  <a:ext uri="{FF2B5EF4-FFF2-40B4-BE49-F238E27FC236}">
                    <a16:creationId xmlns:a16="http://schemas.microsoft.com/office/drawing/2014/main" id="{9F159896-840C-4FFA-8FEE-A6BE7CE3A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885" y="4136211"/>
                <a:ext cx="6886283" cy="523220"/>
              </a:xfrm>
              <a:prstGeom prst="rect">
                <a:avLst/>
              </a:prstGeom>
              <a:blipFill>
                <a:blip r:embed="rId3"/>
                <a:stretch>
                  <a:fillRect t="-17647" b="-4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0218" name="Group 10">
            <a:extLst>
              <a:ext uri="{FF2B5EF4-FFF2-40B4-BE49-F238E27FC236}">
                <a16:creationId xmlns:a16="http://schemas.microsoft.com/office/drawing/2014/main" id="{FA5EE665-D6AD-4F91-9D74-2D8C5559BAD1}"/>
              </a:ext>
            </a:extLst>
          </p:cNvPr>
          <p:cNvGrpSpPr>
            <a:grpSpLocks/>
          </p:cNvGrpSpPr>
          <p:nvPr/>
        </p:nvGrpSpPr>
        <p:grpSpPr bwMode="auto">
          <a:xfrm>
            <a:off x="3390270" y="1389298"/>
            <a:ext cx="3810000" cy="541337"/>
            <a:chOff x="2016" y="192"/>
            <a:chExt cx="2400" cy="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078" name="Text Box 11">
                  <a:extLst>
                    <a:ext uri="{FF2B5EF4-FFF2-40B4-BE49-F238E27FC236}">
                      <a16:creationId xmlns:a16="http://schemas.microsoft.com/office/drawing/2014/main" id="{41887624-655B-4C18-9C53-82C4598382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192"/>
                  <a:ext cx="960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𝑨</m:t>
                      </m:r>
                    </m:oMath>
                  </a14:m>
                  <a:r>
                    <a:rPr kumimoji="1" lang="zh-CN" altLang="en-US" sz="28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的秩 </a:t>
                  </a:r>
                  <a:r>
                    <a:rPr kumimoji="1" lang="en-US" altLang="zh-CN" sz="28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88078" name="Text Box 11">
                  <a:extLst>
                    <a:ext uri="{FF2B5EF4-FFF2-40B4-BE49-F238E27FC236}">
                      <a16:creationId xmlns:a16="http://schemas.microsoft.com/office/drawing/2014/main" id="{41887624-655B-4C18-9C53-82C459838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6" y="192"/>
                  <a:ext cx="960" cy="330"/>
                </a:xfrm>
                <a:prstGeom prst="rect">
                  <a:avLst/>
                </a:prstGeom>
                <a:blipFill>
                  <a:blip r:embed="rId4"/>
                  <a:stretch>
                    <a:fillRect t="-16279" r="-2000" b="-3255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081" name="Rectangle 13">
                  <a:extLst>
                    <a:ext uri="{FF2B5EF4-FFF2-40B4-BE49-F238E27FC236}">
                      <a16:creationId xmlns:a16="http://schemas.microsoft.com/office/drawing/2014/main" id="{B2537715-EA47-44B9-9059-B98BF115BE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4" y="203"/>
                  <a:ext cx="322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8081" name="Rectangle 13">
                  <a:extLst>
                    <a:ext uri="{FF2B5EF4-FFF2-40B4-BE49-F238E27FC236}">
                      <a16:creationId xmlns:a16="http://schemas.microsoft.com/office/drawing/2014/main" id="{B2537715-EA47-44B9-9059-B98BF115BE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94" y="203"/>
                  <a:ext cx="322" cy="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080" name="Text Box 15">
              <a:extLst>
                <a:ext uri="{FF2B5EF4-FFF2-40B4-BE49-F238E27FC236}">
                  <a16:creationId xmlns:a16="http://schemas.microsoft.com/office/drawing/2014/main" id="{E20B3D86-070E-4508-A285-FE7F09710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92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的秩 </a:t>
              </a:r>
              <a:r>
                <a:rPr kumimoji="1"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= 1 .</a:t>
              </a:r>
            </a:p>
          </p:txBody>
        </p:sp>
      </p:grpSp>
      <p:sp>
        <p:nvSpPr>
          <p:cNvPr id="350224" name="Rectangle 16">
            <a:extLst>
              <a:ext uri="{FF2B5EF4-FFF2-40B4-BE49-F238E27FC236}">
                <a16:creationId xmlns:a16="http://schemas.microsoft.com/office/drawing/2014/main" id="{8CAE2E3C-FAFF-469D-804E-46F37F2D9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290" y="1374613"/>
            <a:ext cx="41520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此时，有两个自由变量，</a:t>
            </a:r>
          </a:p>
        </p:txBody>
      </p:sp>
      <p:sp>
        <p:nvSpPr>
          <p:cNvPr id="350225" name="Rectangle 17">
            <a:extLst>
              <a:ext uri="{FF2B5EF4-FFF2-40B4-BE49-F238E27FC236}">
                <a16:creationId xmlns:a16="http://schemas.microsoft.com/office/drawing/2014/main" id="{CB4FDF82-7D60-4158-99D5-297FC06CA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365" y="4817232"/>
            <a:ext cx="556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称为平面的参数方程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5A17FA-9D78-4C61-8823-0C488D57E274}"/>
                  </a:ext>
                </a:extLst>
              </p:cNvPr>
              <p:cNvSpPr txBox="1"/>
              <p:nvPr/>
            </p:nvSpPr>
            <p:spPr>
              <a:xfrm>
                <a:off x="3575720" y="2761841"/>
                <a:ext cx="54777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𝜸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5A17FA-9D78-4C61-8823-0C488D57E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0" y="2761841"/>
                <a:ext cx="547778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27C38FB-789F-4C93-8C8A-2F4956D5440A}"/>
                  </a:ext>
                </a:extLst>
              </p:cNvPr>
              <p:cNvSpPr txBox="1"/>
              <p:nvPr/>
            </p:nvSpPr>
            <p:spPr>
              <a:xfrm>
                <a:off x="7380705" y="4089120"/>
                <a:ext cx="37672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b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𝜸</m:t>
                      </m:r>
                      <m:r>
                        <a:rPr kumimoji="1" lang="en-US" altLang="zh-CN" sz="2800" b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𝒄</m:t>
                          </m:r>
                        </m:e>
                        <m:sub>
                          <m:r>
                            <a:rPr kumimoji="1" lang="en-US" altLang="zh-CN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𝜼</m:t>
                          </m:r>
                        </m:e>
                        <m:sub>
                          <m:r>
                            <a:rPr kumimoji="1" lang="en-US" altLang="zh-CN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800" b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𝒄</m:t>
                          </m:r>
                        </m:e>
                        <m:sub>
                          <m:r>
                            <a:rPr kumimoji="1" lang="en-US" altLang="zh-CN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𝜼</m:t>
                          </m:r>
                        </m:e>
                        <m:sub>
                          <m:r>
                            <a:rPr kumimoji="1" lang="en-US" altLang="zh-CN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800" b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b="1" i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𝜸</m:t>
                          </m:r>
                        </m:e>
                        <m:sub>
                          <m:r>
                            <a:rPr kumimoji="1" lang="en-US" altLang="zh-CN" sz="2800" b="1"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27C38FB-789F-4C93-8C8A-2F4956D54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705" y="4089120"/>
                <a:ext cx="376729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1" grpId="0"/>
      <p:bldP spid="350212" grpId="0"/>
      <p:bldP spid="350213" grpId="0"/>
      <p:bldP spid="350216" grpId="0"/>
      <p:bldP spid="350217" grpId="0"/>
      <p:bldP spid="350224" grpId="0"/>
      <p:bldP spid="350225" grpId="0"/>
      <p:bldP spid="2" grpId="0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F96D43-3037-4D96-8F08-D01FF1491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141" y="859055"/>
            <a:ext cx="7938163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例如，设保留方程组为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FC1201C-B638-41EA-B547-3E4DDAEE9775}"/>
                  </a:ext>
                </a:extLst>
              </p:cNvPr>
              <p:cNvSpPr txBox="1"/>
              <p:nvPr/>
            </p:nvSpPr>
            <p:spPr>
              <a:xfrm>
                <a:off x="4655840" y="1617284"/>
                <a:ext cx="23171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FC1201C-B638-41EA-B547-3E4DDAEE9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1617284"/>
                <a:ext cx="2317173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F8CE6000-BD6A-4CBF-B166-5D9282C76CCB}"/>
              </a:ext>
            </a:extLst>
          </p:cNvPr>
          <p:cNvSpPr txBox="1"/>
          <p:nvPr/>
        </p:nvSpPr>
        <p:spPr>
          <a:xfrm>
            <a:off x="695400" y="2375954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则可求得其通解为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FC60ECE-0D31-400C-B1A7-EAC747DC0A6D}"/>
                  </a:ext>
                </a:extLst>
              </p:cNvPr>
              <p:cNvSpPr txBox="1"/>
              <p:nvPr/>
            </p:nvSpPr>
            <p:spPr>
              <a:xfrm>
                <a:off x="3431704" y="3389120"/>
                <a:ext cx="5525872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FC60ECE-0D31-400C-B1A7-EAC747DC0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3389120"/>
                <a:ext cx="5525872" cy="1139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2" grpId="0"/>
      <p:bldP spid="7" grpId="0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2258" name="Text Box 2">
                <a:extLst>
                  <a:ext uri="{FF2B5EF4-FFF2-40B4-BE49-F238E27FC236}">
                    <a16:creationId xmlns:a16="http://schemas.microsoft.com/office/drawing/2014/main" id="{0C8D4081-DFB0-40AA-82CB-EE7B5BB19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5400" y="900114"/>
                <a:ext cx="11017224" cy="5309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则过点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𝑷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分别以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,−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sup>
                    </m:sSup>
                    <m:r>
                      <a:rPr kumimoji="1" lang="en-US" altLang="zh-CN" sz="28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p>
                      <m:sSupPr>
                        <m:ctrlP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sup>
                    </m:sSup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为方向向量的两直线方</a:t>
                </a:r>
              </a:p>
            </p:txBody>
          </p:sp>
        </mc:Choice>
        <mc:Fallback xmlns="">
          <p:sp>
            <p:nvSpPr>
              <p:cNvPr id="352258" name="Text Box 2">
                <a:extLst>
                  <a:ext uri="{FF2B5EF4-FFF2-40B4-BE49-F238E27FC236}">
                    <a16:creationId xmlns:a16="http://schemas.microsoft.com/office/drawing/2014/main" id="{0C8D4081-DFB0-40AA-82CB-EE7B5BB19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400" y="900114"/>
                <a:ext cx="11017224" cy="530915"/>
              </a:xfrm>
              <a:prstGeom prst="rect">
                <a:avLst/>
              </a:prstGeom>
              <a:blipFill>
                <a:blip r:embed="rId2"/>
                <a:stretch>
                  <a:fillRect l="-1107" t="-14943" b="-275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260" name="Text Box 4">
                <a:extLst>
                  <a:ext uri="{FF2B5EF4-FFF2-40B4-BE49-F238E27FC236}">
                    <a16:creationId xmlns:a16="http://schemas.microsoft.com/office/drawing/2014/main" id="{A9ACD647-492B-4C63-B50B-1E13FB5814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552" y="4477892"/>
                <a:ext cx="10441160" cy="11695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则这两条相交直线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𝑳</m:t>
                        </m:r>
                      </m:e>
                      <m:sub>
                        <m:r>
                          <a:rPr kumimoji="1"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所确定的平面的方程即为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</a:p>
              <a:p>
                <a:pPr eaLnBrk="1" hangingPunct="1">
                  <a:spcBef>
                    <a:spcPct val="50000"/>
                  </a:spcBef>
                </a:pP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2260" name="Text Box 4">
                <a:extLst>
                  <a:ext uri="{FF2B5EF4-FFF2-40B4-BE49-F238E27FC236}">
                    <a16:creationId xmlns:a16="http://schemas.microsoft.com/office/drawing/2014/main" id="{A9ACD647-492B-4C63-B50B-1E13FB581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7552" y="4477892"/>
                <a:ext cx="10441160" cy="1169551"/>
              </a:xfrm>
              <a:prstGeom prst="rect">
                <a:avLst/>
              </a:prstGeom>
              <a:blipFill>
                <a:blip r:embed="rId3"/>
                <a:stretch>
                  <a:fillRect l="-1168" t="-6806" r="-81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261" name="Rectangle 5">
            <a:extLst>
              <a:ext uri="{FF2B5EF4-FFF2-40B4-BE49-F238E27FC236}">
                <a16:creationId xmlns:a16="http://schemas.microsoft.com/office/drawing/2014/main" id="{C28EC197-5F47-43BF-9522-B4CD108A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1554955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程分别为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51EBF38-879C-47DA-ABCE-5C33041386C0}"/>
                  </a:ext>
                </a:extLst>
              </p:cNvPr>
              <p:cNvSpPr txBox="1"/>
              <p:nvPr/>
            </p:nvSpPr>
            <p:spPr>
              <a:xfrm>
                <a:off x="3863752" y="2348880"/>
                <a:ext cx="425456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51EBF38-879C-47DA-ABCE-5C3304138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2348880"/>
                <a:ext cx="4254563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A0201D-43D0-43CA-B545-696488A079F5}"/>
                  </a:ext>
                </a:extLst>
              </p:cNvPr>
              <p:cNvSpPr txBox="1"/>
              <p:nvPr/>
            </p:nvSpPr>
            <p:spPr>
              <a:xfrm>
                <a:off x="3863752" y="3413386"/>
                <a:ext cx="425456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den>
                      </m:f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A0201D-43D0-43CA-B545-696488A07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3413386"/>
                <a:ext cx="4254563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5">
            <a:extLst>
              <a:ext uri="{FF2B5EF4-FFF2-40B4-BE49-F238E27FC236}">
                <a16:creationId xmlns:a16="http://schemas.microsoft.com/office/drawing/2014/main" id="{B181A3B3-8051-42B3-A1A1-834A4F2DC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99" y="5186780"/>
            <a:ext cx="1630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如图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3-2.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8" grpId="0" build="p" autoUpdateAnimBg="0"/>
      <p:bldP spid="352260" grpId="0"/>
      <p:bldP spid="352261" grpId="0"/>
      <p:bldP spid="2" grpId="0"/>
      <p:bldP spid="8" grpId="0"/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>
            <a:extLst>
              <a:ext uri="{FF2B5EF4-FFF2-40B4-BE49-F238E27FC236}">
                <a16:creationId xmlns:a16="http://schemas.microsoft.com/office/drawing/2014/main" id="{9A9C2EE2-BCBD-4561-B593-88A67E681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4" t="13637" r="5882" b="4546"/>
          <a:stretch>
            <a:fillRect/>
          </a:stretch>
        </p:blipFill>
        <p:spPr bwMode="auto">
          <a:xfrm>
            <a:off x="2667000" y="228600"/>
            <a:ext cx="6445867" cy="50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3283" name="Rectangle 3">
            <a:extLst>
              <a:ext uri="{FF2B5EF4-FFF2-40B4-BE49-F238E27FC236}">
                <a16:creationId xmlns:a16="http://schemas.microsoft.com/office/drawing/2014/main" id="{4667B6BC-9CA4-424F-83CB-E4EC547E4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928" y="5517232"/>
            <a:ext cx="19050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3-2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9" name="Rectangle 5">
            <a:extLst>
              <a:ext uri="{FF2B5EF4-FFF2-40B4-BE49-F238E27FC236}">
                <a16:creationId xmlns:a16="http://schemas.microsoft.com/office/drawing/2014/main" id="{CEE5946D-B8F1-4F81-954E-5330C899F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072" y="1025526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这时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方程组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(10)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的一般解为</a:t>
            </a:r>
          </a:p>
        </p:txBody>
      </p:sp>
      <p:sp>
        <p:nvSpPr>
          <p:cNvPr id="354312" name="Rectangle 8">
            <a:extLst>
              <a:ext uri="{FF2B5EF4-FFF2-40B4-BE49-F238E27FC236}">
                <a16:creationId xmlns:a16="http://schemas.microsoft.com/office/drawing/2014/main" id="{5F99695D-CBCC-4B40-99F6-3EB13B872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4536966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例如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4319" name="Rectangle 15">
                <a:extLst>
                  <a:ext uri="{FF2B5EF4-FFF2-40B4-BE49-F238E27FC236}">
                    <a16:creationId xmlns:a16="http://schemas.microsoft.com/office/drawing/2014/main" id="{43D62BB1-39BE-47EC-825E-0297EC7FF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575" y="3134381"/>
                <a:ext cx="78676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为直线的参数方程的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向量形式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b="1" baseline="-25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4319" name="Rectangle 15">
                <a:extLst>
                  <a:ext uri="{FF2B5EF4-FFF2-40B4-BE49-F238E27FC236}">
                    <a16:creationId xmlns:a16="http://schemas.microsoft.com/office/drawing/2014/main" id="{43D62BB1-39BE-47EC-825E-0297EC7FFC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575" y="3134381"/>
                <a:ext cx="7867650" cy="523220"/>
              </a:xfrm>
              <a:prstGeom prst="rect">
                <a:avLst/>
              </a:prstGeom>
              <a:blipFill>
                <a:blip r:embed="rId2"/>
                <a:stretch>
                  <a:fillRect t="-1511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4">
            <a:extLst>
              <a:ext uri="{FF2B5EF4-FFF2-40B4-BE49-F238E27FC236}">
                <a16:creationId xmlns:a16="http://schemas.microsoft.com/office/drawing/2014/main" id="{34A2815F-B518-44EF-B0A5-83BF33F68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980728"/>
            <a:ext cx="1543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情形二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A2D62197-1251-4945-AD56-53B4DA5F1E30}"/>
              </a:ext>
            </a:extLst>
          </p:cNvPr>
          <p:cNvGrpSpPr>
            <a:grpSpLocks/>
          </p:cNvGrpSpPr>
          <p:nvPr/>
        </p:nvGrpSpPr>
        <p:grpSpPr bwMode="auto">
          <a:xfrm>
            <a:off x="3073400" y="1044577"/>
            <a:ext cx="3810000" cy="541337"/>
            <a:chOff x="2016" y="192"/>
            <a:chExt cx="2400" cy="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1">
                  <a:extLst>
                    <a:ext uri="{FF2B5EF4-FFF2-40B4-BE49-F238E27FC236}">
                      <a16:creationId xmlns:a16="http://schemas.microsoft.com/office/drawing/2014/main" id="{F2813888-472A-4F49-BA26-3FA47FE2DC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192"/>
                  <a:ext cx="960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𝑨</m:t>
                      </m:r>
                    </m:oMath>
                  </a14:m>
                  <a:r>
                    <a:rPr kumimoji="1" lang="zh-CN" altLang="en-US" sz="28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的秩 </a:t>
                  </a:r>
                  <a:r>
                    <a:rPr kumimoji="1" lang="en-US" altLang="zh-CN" sz="28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19" name="Text Box 11">
                  <a:extLst>
                    <a:ext uri="{FF2B5EF4-FFF2-40B4-BE49-F238E27FC236}">
                      <a16:creationId xmlns:a16="http://schemas.microsoft.com/office/drawing/2014/main" id="{F2813888-472A-4F49-BA26-3FA47FE2D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6" y="192"/>
                  <a:ext cx="960" cy="330"/>
                </a:xfrm>
                <a:prstGeom prst="rect">
                  <a:avLst/>
                </a:prstGeom>
                <a:blipFill>
                  <a:blip r:embed="rId3"/>
                  <a:stretch>
                    <a:fillRect t="-15116" r="-2000" b="-3255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3">
                  <a:extLst>
                    <a:ext uri="{FF2B5EF4-FFF2-40B4-BE49-F238E27FC236}">
                      <a16:creationId xmlns:a16="http://schemas.microsoft.com/office/drawing/2014/main" id="{77D1BBE4-5539-49C9-A12C-9B7BBC5F2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4" y="203"/>
                  <a:ext cx="322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kumimoji="1" lang="en-US" altLang="zh-CN" sz="2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Rectangle 13">
                  <a:extLst>
                    <a:ext uri="{FF2B5EF4-FFF2-40B4-BE49-F238E27FC236}">
                      <a16:creationId xmlns:a16="http://schemas.microsoft.com/office/drawing/2014/main" id="{77D1BBE4-5539-49C9-A12C-9B7BBC5F22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94" y="203"/>
                  <a:ext cx="322" cy="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 Box 15">
              <a:extLst>
                <a:ext uri="{FF2B5EF4-FFF2-40B4-BE49-F238E27FC236}">
                  <a16:creationId xmlns:a16="http://schemas.microsoft.com/office/drawing/2014/main" id="{02A9F9C3-2A2D-49F2-8E0B-E25312417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92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的秩 </a:t>
              </a:r>
              <a:r>
                <a:rPr kumimoji="1"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= 2.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79F211B-5F3E-4D17-BE4F-D5EE40686172}"/>
              </a:ext>
            </a:extLst>
          </p:cNvPr>
          <p:cNvGrpSpPr/>
          <p:nvPr/>
        </p:nvGrpSpPr>
        <p:grpSpPr>
          <a:xfrm>
            <a:off x="4495800" y="1740544"/>
            <a:ext cx="5727176" cy="523220"/>
            <a:chOff x="4495800" y="1740544"/>
            <a:chExt cx="5727176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3E81AA10-A3B0-4CD0-9590-6CFF1D583262}"/>
                    </a:ext>
                  </a:extLst>
                </p:cNvPr>
                <p:cNvSpPr txBox="1"/>
                <p:nvPr/>
              </p:nvSpPr>
              <p:spPr>
                <a:xfrm>
                  <a:off x="4495800" y="1793429"/>
                  <a:ext cx="215328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𝜸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smtClean="0"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3E81AA10-A3B0-4CD0-9590-6CFF1D583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5800" y="1793429"/>
                  <a:ext cx="215328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E40D01B-A26A-4201-A218-66CC9B8DA928}"/>
                    </a:ext>
                  </a:extLst>
                </p:cNvPr>
                <p:cNvSpPr txBox="1"/>
                <p:nvPr/>
              </p:nvSpPr>
              <p:spPr>
                <a:xfrm>
                  <a:off x="7104112" y="1740544"/>
                  <a:ext cx="311886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zh-CN" sz="2800" b="1" dirty="0">
                      <a:latin typeface="Times New Roman" panose="02020603050405020304" pitchFamily="18" charset="0"/>
                      <a:ea typeface="黑体" panose="02010609060101010101" pitchFamily="49" charset="-122"/>
                      <a:sym typeface="Symbol" panose="05050102010706020507" pitchFamily="18" charset="2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a14:m>
                  <a:r>
                    <a:rPr kumimoji="1" lang="zh-CN" altLang="en-US" sz="2800" b="1" dirty="0">
                      <a:latin typeface="Times New Roman" panose="02020603050405020304" pitchFamily="18" charset="0"/>
                      <a:ea typeface="黑体" panose="02010609060101010101" pitchFamily="49" charset="-122"/>
                      <a:sym typeface="Symbol" panose="05050102010706020507" pitchFamily="18" charset="2"/>
                    </a:rPr>
                    <a:t>为任意常数</a:t>
                  </a:r>
                  <a:r>
                    <a:rPr kumimoji="1" lang="en-US" altLang="zh-CN" sz="2800" b="1" dirty="0">
                      <a:latin typeface="Times New Roman" panose="02020603050405020304" pitchFamily="18" charset="0"/>
                      <a:ea typeface="黑体" panose="02010609060101010101" pitchFamily="49" charset="-122"/>
                      <a:sym typeface="Symbol" panose="05050102010706020507" pitchFamily="18" charset="2"/>
                    </a:rPr>
                    <a:t>).</a:t>
                  </a: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E40D01B-A26A-4201-A218-66CC9B8DA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4112" y="1740544"/>
                  <a:ext cx="311886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3906" t="-16471" b="-341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7">
                <a:extLst>
                  <a:ext uri="{FF2B5EF4-FFF2-40B4-BE49-F238E27FC236}">
                    <a16:creationId xmlns:a16="http://schemas.microsoft.com/office/drawing/2014/main" id="{EC56C7B9-7472-4754-A286-B34CE43FB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974" y="2484894"/>
                <a:ext cx="10358561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此时方程组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(10)</a:t>
                </a:r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的所有解在过点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1" i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𝜸</m:t>
                        </m:r>
                      </m:e>
                      <m:sub>
                        <m:r>
                          <a:rPr kumimoji="1" lang="en-US" altLang="zh-CN" sz="2800" b="1">
                            <a:solidFill>
                              <a:srgbClr val="0066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且以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𝜼</m:t>
                    </m:r>
                  </m:oMath>
                </a14:m>
                <a:r>
                  <a:rPr kumimoji="1" lang="zh-CN" altLang="en-US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为方向向量的直线上</a:t>
                </a:r>
                <a:r>
                  <a:rPr kumimoji="1" lang="en-US" altLang="zh-CN" sz="2800" b="1" dirty="0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zh-CN" altLang="en-US" sz="2800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5" name="Rectangle 7">
                <a:extLst>
                  <a:ext uri="{FF2B5EF4-FFF2-40B4-BE49-F238E27FC236}">
                    <a16:creationId xmlns:a16="http://schemas.microsoft.com/office/drawing/2014/main" id="{EC56C7B9-7472-4754-A286-B34CE43FB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974" y="2484894"/>
                <a:ext cx="10358561" cy="523220"/>
              </a:xfrm>
              <a:prstGeom prst="rect">
                <a:avLst/>
              </a:prstGeom>
              <a:blipFill>
                <a:blip r:embed="rId7"/>
                <a:stretch>
                  <a:fillRect l="-1236" t="-17647" b="-4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8AA341D-3E64-4CFD-8EC5-06F8BDCA2BBC}"/>
                  </a:ext>
                </a:extLst>
              </p:cNvPr>
              <p:cNvSpPr txBox="1"/>
              <p:nvPr/>
            </p:nvSpPr>
            <p:spPr>
              <a:xfrm>
                <a:off x="1556181" y="3825295"/>
                <a:ext cx="3422219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8AA341D-3E64-4CFD-8EC5-06F8BDCA2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181" y="3825295"/>
                <a:ext cx="3422219" cy="19424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9" grpId="0"/>
      <p:bldP spid="354312" grpId="0"/>
      <p:bldP spid="354319" grpId="0"/>
      <p:bldP spid="17" grpId="0"/>
      <p:bldP spid="25" grpId="0"/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>
            <a:extLst>
              <a:ext uri="{FF2B5EF4-FFF2-40B4-BE49-F238E27FC236}">
                <a16:creationId xmlns:a16="http://schemas.microsoft.com/office/drawing/2014/main" id="{834A34FB-D51B-47B1-BDC1-66AC8DA13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692696"/>
            <a:ext cx="2597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则其一般解为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333" name="Text Box 5">
                <a:extLst>
                  <a:ext uri="{FF2B5EF4-FFF2-40B4-BE49-F238E27FC236}">
                    <a16:creationId xmlns:a16="http://schemas.microsoft.com/office/drawing/2014/main" id="{78CCB9E0-9C56-407B-AF8B-C4CAF7CCDD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1500" y="2989658"/>
                <a:ext cx="8001000" cy="5309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过点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(−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𝟐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𝟎</m:t>
                    </m:r>
                    <m:r>
                      <a:rPr kumimoji="1" lang="en-US" altLang="zh-CN" sz="28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以向量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(−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sup>
                    </m:sSup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为方向向量作直线 </a:t>
                </a:r>
              </a:p>
            </p:txBody>
          </p:sp>
        </mc:Choice>
        <mc:Fallback xmlns="">
          <p:sp>
            <p:nvSpPr>
              <p:cNvPr id="355333" name="Text Box 5">
                <a:extLst>
                  <a:ext uri="{FF2B5EF4-FFF2-40B4-BE49-F238E27FC236}">
                    <a16:creationId xmlns:a16="http://schemas.microsoft.com/office/drawing/2014/main" id="{78CCB9E0-9C56-407B-AF8B-C4CAF7CCD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" y="2989658"/>
                <a:ext cx="8001000" cy="530915"/>
              </a:xfrm>
              <a:prstGeom prst="rect">
                <a:avLst/>
              </a:prstGeom>
              <a:blipFill>
                <a:blip r:embed="rId2"/>
                <a:stretch>
                  <a:fillRect l="-1601" t="-13636" r="-915" b="-261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5335" name="Text Box 7">
                <a:extLst>
                  <a:ext uri="{FF2B5EF4-FFF2-40B4-BE49-F238E27FC236}">
                    <a16:creationId xmlns:a16="http://schemas.microsoft.com/office/drawing/2014/main" id="{00142BE1-38C5-4EDA-AC39-8B0EC0971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032" y="4883138"/>
                <a:ext cx="870133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则由方程组所确定的四个平面必交于直线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如图</a:t>
                </a:r>
                <a:r>
                  <a:rPr kumimoji="1"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3-3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55335" name="Text Box 7">
                <a:extLst>
                  <a:ext uri="{FF2B5EF4-FFF2-40B4-BE49-F238E27FC236}">
                    <a16:creationId xmlns:a16="http://schemas.microsoft.com/office/drawing/2014/main" id="{00142BE1-38C5-4EDA-AC39-8B0EC0971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7032" y="4883138"/>
                <a:ext cx="8701335" cy="523220"/>
              </a:xfrm>
              <a:prstGeom prst="rect">
                <a:avLst/>
              </a:prstGeom>
              <a:blipFill>
                <a:blip r:embed="rId3"/>
                <a:stretch>
                  <a:fillRect l="-1472" t="-1511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B7DE914-26A9-448E-BCB7-1ED7FE2CFAF3}"/>
                  </a:ext>
                </a:extLst>
              </p:cNvPr>
              <p:cNvSpPr txBox="1"/>
              <p:nvPr/>
            </p:nvSpPr>
            <p:spPr>
              <a:xfrm>
                <a:off x="4367808" y="1598437"/>
                <a:ext cx="3861249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eqAr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B7DE914-26A9-448E-BCB7-1ED7FE2C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808" y="1598437"/>
                <a:ext cx="3861249" cy="11394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D62E5E9-ADDC-4645-BE3B-AC745D150979}"/>
                  </a:ext>
                </a:extLst>
              </p:cNvPr>
              <p:cNvSpPr txBox="1"/>
              <p:nvPr/>
            </p:nvSpPr>
            <p:spPr>
              <a:xfrm>
                <a:off x="4151784" y="3798540"/>
                <a:ext cx="3602973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D62E5E9-ADDC-4645-BE3B-AC745D150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3798540"/>
                <a:ext cx="3602973" cy="806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build="p" autoUpdateAnimBg="0"/>
      <p:bldP spid="355333" grpId="0"/>
      <p:bldP spid="355335" grpId="0"/>
      <p:bldP spid="2" grpId="0"/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2">
            <a:extLst>
              <a:ext uri="{FF2B5EF4-FFF2-40B4-BE49-F238E27FC236}">
                <a16:creationId xmlns:a16="http://schemas.microsoft.com/office/drawing/2014/main" id="{FF7FCF24-D59E-4B91-B5FE-97B8BE247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13155" r="14386"/>
          <a:stretch>
            <a:fillRect/>
          </a:stretch>
        </p:blipFill>
        <p:spPr bwMode="auto">
          <a:xfrm>
            <a:off x="2654903" y="260648"/>
            <a:ext cx="6944749" cy="5225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4211" name="Rectangle 3">
            <a:extLst>
              <a:ext uri="{FF2B5EF4-FFF2-40B4-BE49-F238E27FC236}">
                <a16:creationId xmlns:a16="http://schemas.microsoft.com/office/drawing/2014/main" id="{7778C640-4410-4527-9C78-5EED87D9E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495800"/>
            <a:ext cx="152400" cy="152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6356" name="Text Box 4">
            <a:extLst>
              <a:ext uri="{FF2B5EF4-FFF2-40B4-BE49-F238E27FC236}">
                <a16:creationId xmlns:a16="http://schemas.microsoft.com/office/drawing/2014/main" id="{BE65C638-74A0-4139-AE9A-16939761D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267201"/>
            <a:ext cx="19050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+3</a:t>
            </a:r>
            <a:r>
              <a:rPr kumimoji="1"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kumimoji="1"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=4</a:t>
            </a:r>
            <a:endParaRPr kumimoji="1"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22255063-FBFD-47FB-836A-B511511C9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953000"/>
            <a:ext cx="152400" cy="1524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6358" name="Text Box 6">
            <a:extLst>
              <a:ext uri="{FF2B5EF4-FFF2-40B4-BE49-F238E27FC236}">
                <a16:creationId xmlns:a16="http://schemas.microsoft.com/office/drawing/2014/main" id="{5C490D6A-4B59-4D68-BDC1-E2DE66483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724401"/>
            <a:ext cx="2133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sz="2800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+8</a:t>
            </a:r>
            <a:r>
              <a:rPr kumimoji="1" lang="en-US" altLang="zh-CN" sz="2800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-2</a:t>
            </a:r>
            <a:r>
              <a:rPr kumimoji="1" lang="en-US" altLang="zh-CN" sz="2800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=13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6359" name="Text Box 7">
            <a:extLst>
              <a:ext uri="{FF2B5EF4-FFF2-40B4-BE49-F238E27FC236}">
                <a16:creationId xmlns:a16="http://schemas.microsoft.com/office/drawing/2014/main" id="{62EBDF38-23AC-49A9-B878-D6528B63C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81601"/>
            <a:ext cx="22860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-2</a:t>
            </a:r>
            <a:r>
              <a:rPr kumimoji="1"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+4</a:t>
            </a:r>
            <a:r>
              <a:rPr kumimoji="1"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=-5</a:t>
            </a:r>
            <a:endParaRPr kumimoji="1"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4216" name="Rectangle 8">
            <a:extLst>
              <a:ext uri="{FF2B5EF4-FFF2-40B4-BE49-F238E27FC236}">
                <a16:creationId xmlns:a16="http://schemas.microsoft.com/office/drawing/2014/main" id="{C0325EEC-6F51-48F1-AE07-3411E4CD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410200"/>
            <a:ext cx="152400" cy="152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17" name="Rectangle 9">
            <a:extLst>
              <a:ext uri="{FF2B5EF4-FFF2-40B4-BE49-F238E27FC236}">
                <a16:creationId xmlns:a16="http://schemas.microsoft.com/office/drawing/2014/main" id="{C37EEB3C-3746-47B3-8792-F55072C26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867400"/>
            <a:ext cx="152400" cy="1524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6362" name="Text Box 10">
            <a:extLst>
              <a:ext uri="{FF2B5EF4-FFF2-40B4-BE49-F238E27FC236}">
                <a16:creationId xmlns:a16="http://schemas.microsoft.com/office/drawing/2014/main" id="{EBBF346D-9645-457A-A8B5-0534A61AF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638801"/>
            <a:ext cx="20574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en-US" altLang="zh-CN" sz="2800" b="1" i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b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en-US" altLang="zh-CN" sz="2800" b="1" i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800" b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+9</a:t>
            </a:r>
            <a:r>
              <a:rPr kumimoji="1" lang="en-US" altLang="zh-CN" sz="2800" b="1" i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en-US" altLang="zh-CN" sz="2800" b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=-6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6363" name="Text Box 11">
            <a:extLst>
              <a:ext uri="{FF2B5EF4-FFF2-40B4-BE49-F238E27FC236}">
                <a16:creationId xmlns:a16="http://schemas.microsoft.com/office/drawing/2014/main" id="{30D476CD-663E-48B4-93A7-AD6DBA195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486400"/>
            <a:ext cx="19050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3-3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4220" name="Line 12">
            <a:extLst>
              <a:ext uri="{FF2B5EF4-FFF2-40B4-BE49-F238E27FC236}">
                <a16:creationId xmlns:a16="http://schemas.microsoft.com/office/drawing/2014/main" id="{D9993EEF-760E-4521-B7BC-9EDBAA11C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685800"/>
            <a:ext cx="3429000" cy="449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4221" name="Object 13">
            <a:extLst>
              <a:ext uri="{FF2B5EF4-FFF2-40B4-BE49-F238E27FC236}">
                <a16:creationId xmlns:a16="http://schemas.microsoft.com/office/drawing/2014/main" id="{53EA9881-F793-4ACB-8880-687F35993E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6788" y="130176"/>
          <a:ext cx="32750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71600" imgH="393700" progId="Equation.3">
                  <p:embed/>
                </p:oleObj>
              </mc:Choice>
              <mc:Fallback>
                <p:oleObj name="公式" r:id="rId3" imgW="1371600" imgH="393700" progId="Equation.3">
                  <p:embed/>
                  <p:pic>
                    <p:nvPicPr>
                      <p:cNvPr id="94221" name="Object 13">
                        <a:extLst>
                          <a:ext uri="{FF2B5EF4-FFF2-40B4-BE49-F238E27FC236}">
                            <a16:creationId xmlns:a16="http://schemas.microsoft.com/office/drawing/2014/main" id="{53EA9881-F793-4ACB-8880-687F35993E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8" y="130176"/>
                        <a:ext cx="32750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63" grpId="0"/>
    </p:bld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9021</TotalTime>
  <Words>3700</Words>
  <Application>Microsoft Office PowerPoint</Application>
  <PresentationFormat>宽屏</PresentationFormat>
  <Paragraphs>417</Paragraphs>
  <Slides>65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65</vt:i4>
      </vt:variant>
    </vt:vector>
  </HeadingPairs>
  <TitlesOfParts>
    <vt:vector size="77" baseType="lpstr">
      <vt:lpstr>黑体</vt:lpstr>
      <vt:lpstr>Arial</vt:lpstr>
      <vt:lpstr>Calibri</vt:lpstr>
      <vt:lpstr>Cambria Math</vt:lpstr>
      <vt:lpstr>Garamond</vt:lpstr>
      <vt:lpstr>Times New Roman</vt:lpstr>
      <vt:lpstr>Wingdings</vt:lpstr>
      <vt:lpstr>Edge</vt:lpstr>
      <vt:lpstr>公式</vt:lpstr>
      <vt:lpstr>图片</vt:lpstr>
      <vt:lpstr>演示文稿</vt:lpstr>
      <vt:lpstr>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lsf</dc:creator>
  <cp:lastModifiedBy>unknown</cp:lastModifiedBy>
  <cp:revision>493</cp:revision>
  <dcterms:created xsi:type="dcterms:W3CDTF">2003-06-30T01:54:35Z</dcterms:created>
  <dcterms:modified xsi:type="dcterms:W3CDTF">2021-04-25T13:42:31Z</dcterms:modified>
</cp:coreProperties>
</file>