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9" r:id="rId8"/>
    <p:sldId id="270" r:id="rId9"/>
    <p:sldId id="271" r:id="rId10"/>
    <p:sldId id="280" r:id="rId11"/>
    <p:sldId id="281" r:id="rId12"/>
    <p:sldId id="282" r:id="rId13"/>
    <p:sldId id="259" r:id="rId14"/>
    <p:sldId id="260" r:id="rId15"/>
    <p:sldId id="261" r:id="rId16"/>
    <p:sldId id="266" r:id="rId17"/>
    <p:sldId id="267" r:id="rId18"/>
    <p:sldId id="268" r:id="rId19"/>
    <p:sldId id="272" r:id="rId20"/>
    <p:sldId id="262" r:id="rId21"/>
    <p:sldId id="273" r:id="rId22"/>
    <p:sldId id="279" r:id="rId23"/>
    <p:sldId id="274" r:id="rId24"/>
    <p:sldId id="276" r:id="rId25"/>
    <p:sldId id="278" r:id="rId26"/>
    <p:sldId id="277" r:id="rId27"/>
    <p:sldId id="27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FD6EB-1EA6-48AA-8C29-3546F49E6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9ABA6C-AE93-432E-8FA3-BB79A78BB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E8BC2F-BCDF-49FC-BA13-AA4CC450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BB493-38BA-4ACC-A83F-D01D1D8A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25D59-617E-40E7-8B9A-B3483A4F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58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3079C-598B-4E71-BD3A-7D2B3589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A78710-D3B0-4312-AB99-441B2A25C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0B696-4C31-4E2E-A762-3E9309AB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FEB6D-EC28-4387-A8CD-45321D82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75AAB-E16F-4A34-B6F8-3B75AFCD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50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49835-83CD-476E-A4DA-B2CF9B76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127FE-65FE-4DA7-B44D-DE5A1854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A88D4-6282-4773-9CAB-250EC846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8BCB1-B3F5-4943-949D-DBDF3F88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FCAB0-6A1D-4E41-927F-8418754E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986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B3079-246A-4644-8EF7-1B85B848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8C156E-A916-4094-A795-18FE220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52DFB5-A36F-4A2F-AA03-3AD3C4696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BD78BB-8E20-4F8E-878A-6C52F0DF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89DEBA-5708-44B5-998E-08D409D2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CA09FD-B2D6-4A4D-A7A6-1637B8C3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47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6B899-8F81-4F2B-8B18-16440EB1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60C9D0-8C8F-4902-BDF4-8B22D129A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7BEF4C-B568-4F7A-8EB6-295697E8E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5D4FC1-4D2A-440F-9183-0988282D8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8696DD-F629-4C1E-BF97-49D3BD1FD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19E454-6BBD-4F29-9FDF-32C5057E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260542-D25B-4083-BC17-AD57BB57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FE97A6-B4B1-43A9-B481-2B23749D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5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2098A-9319-492C-9EA2-0443D5C6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8AF8C7-E120-42BF-81A7-F65F3C3B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10645D-5929-460F-B0F6-88B55DE9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77A0A4-4199-4D54-9371-90A8A2A4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3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EFB649-893E-417E-A425-142B35D9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756A0F-5BB0-4B2B-ACB6-D033A855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D694D0-B4DA-418B-98CE-16369561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18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D5C3A-EB24-4830-B841-91854C0E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62C52-E067-4ADB-8520-259B40372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F1780D-0740-4AC8-9363-1E8CADD15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FB70EB-1C4A-4C04-9F58-E7F0D7EC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402AE-F7DC-4680-B1B8-0CCC784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2162CD-1337-443C-8920-075B39B8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06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BECC3-87E9-4894-931C-BE7418E7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34CA99-8ABF-4C11-AEA6-1862D3914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1E8CB9-EAC2-489B-BF0C-87637754C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AF1DD0-25F1-455A-AA4B-35495FE4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AB44AC-7F4B-4CDB-84B1-89929750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6D754C-D582-4389-A62D-CE8D6C03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6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D6AE7-8C07-4C62-A75C-C7618596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5A1865-F59F-4871-B566-8B8E2B138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BCC5D-0051-470C-A2E2-822EA8A8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FB4DF-7F37-43E2-918A-3982DCA6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71314C-986C-4A05-9D25-15D6C2C3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13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8BE298-1652-4E3C-85AB-3C1292B19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7833F5-D086-4D3F-8DE9-B9775B055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AFA5C-B2EF-41CC-ADAF-7F74B235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02276-3218-42FA-95F4-E9FD693F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52946-A36E-4F1E-B166-5D7ACD60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46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2795C9-D0C5-4514-A237-D9F0D30C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9B3226-80CE-49E8-B5D8-06694BDF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33F1F-6676-4FEB-8F24-7C6BE27C7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30DEC-531F-4EF9-8D03-30CF78C9BC21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B379E9-4256-487C-B31A-7EBB73E42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C6333-A683-49F6-BDEF-36E66EE63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5F588-EB8D-4BA8-8711-F72DFCAC0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73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1.wmf"/><Relationship Id="rId5" Type="http://schemas.openxmlformats.org/officeDocument/2006/relationships/image" Target="../media/image18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9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A75DE3-47A4-4B3D-A9DB-72F2963D7116}"/>
              </a:ext>
            </a:extLst>
          </p:cNvPr>
          <p:cNvSpPr txBox="1"/>
          <p:nvPr/>
        </p:nvSpPr>
        <p:spPr>
          <a:xfrm>
            <a:off x="3606800" y="4808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高等代数习题课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2202CF-BE60-474D-9FD7-744702A96891}"/>
              </a:ext>
            </a:extLst>
          </p:cNvPr>
          <p:cNvSpPr txBox="1"/>
          <p:nvPr/>
        </p:nvSpPr>
        <p:spPr>
          <a:xfrm>
            <a:off x="1198880" y="1659374"/>
            <a:ext cx="46431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/>
              <a:t>1:</a:t>
            </a:r>
            <a:r>
              <a:rPr lang="zh-CN" altLang="en-US" sz="4400" b="1"/>
              <a:t>多项式</a:t>
            </a:r>
            <a:endParaRPr lang="en-US" altLang="zh-CN" sz="4400" b="1"/>
          </a:p>
          <a:p>
            <a:endParaRPr lang="en-US" altLang="zh-CN" sz="4400" b="1"/>
          </a:p>
          <a:p>
            <a:r>
              <a:rPr lang="en-US" altLang="zh-CN" sz="4400" b="1"/>
              <a:t>2:</a:t>
            </a:r>
            <a:r>
              <a:rPr lang="zh-CN" altLang="en-US" sz="4400" b="1"/>
              <a:t>行列式</a:t>
            </a:r>
            <a:endParaRPr lang="en-US" altLang="zh-CN" sz="4400" b="1"/>
          </a:p>
          <a:p>
            <a:endParaRPr lang="en-US" altLang="zh-CN" sz="4400" b="1"/>
          </a:p>
          <a:p>
            <a:r>
              <a:rPr lang="en-US" altLang="zh-CN" sz="4400" b="1"/>
              <a:t>3:</a:t>
            </a:r>
            <a:r>
              <a:rPr lang="zh-CN" altLang="en-US" sz="4400" b="1"/>
              <a:t>线性方程组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51356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CF7482-36B6-4A7E-B3EF-51429D82915D}"/>
              </a:ext>
            </a:extLst>
          </p:cNvPr>
          <p:cNvSpPr txBox="1"/>
          <p:nvPr/>
        </p:nvSpPr>
        <p:spPr>
          <a:xfrm>
            <a:off x="4084320" y="72465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/>
              <a:t>多项式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2677A4-6AB4-4F44-B1D6-CC45AC694129}"/>
              </a:ext>
            </a:extLst>
          </p:cNvPr>
          <p:cNvSpPr txBox="1"/>
          <p:nvPr/>
        </p:nvSpPr>
        <p:spPr>
          <a:xfrm>
            <a:off x="741680" y="1494095"/>
            <a:ext cx="79146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/>
              <a:t>1:</a:t>
            </a:r>
            <a:r>
              <a:rPr lang="zh-CN" altLang="en-US" sz="3200" b="1"/>
              <a:t>一些定义</a:t>
            </a:r>
            <a:endParaRPr lang="en-US" altLang="zh-CN" sz="3200" b="1"/>
          </a:p>
          <a:p>
            <a:r>
              <a:rPr lang="en-US" altLang="zh-CN" sz="3200" b="1"/>
              <a:t>2:</a:t>
            </a:r>
            <a:r>
              <a:rPr lang="zh-CN" altLang="en-US" sz="3200" b="1"/>
              <a:t>贝祖等式</a:t>
            </a:r>
            <a:endParaRPr lang="en-US" altLang="zh-CN" sz="3200" b="1"/>
          </a:p>
          <a:p>
            <a:r>
              <a:rPr lang="en-US" altLang="zh-CN" sz="3200" b="1"/>
              <a:t>3:</a:t>
            </a:r>
            <a:r>
              <a:rPr lang="zh-CN" altLang="en-US" sz="3200" b="1"/>
              <a:t>最大公因式</a:t>
            </a:r>
            <a:endParaRPr lang="en-US" altLang="zh-CN" sz="3200" b="1"/>
          </a:p>
          <a:p>
            <a:r>
              <a:rPr lang="en-US" altLang="zh-CN" sz="3200" b="1"/>
              <a:t>4:</a:t>
            </a:r>
            <a:r>
              <a:rPr lang="zh-CN" altLang="en-US" sz="3200" b="1"/>
              <a:t>求</a:t>
            </a:r>
            <a:r>
              <a:rPr lang="en-US" altLang="zh-CN" sz="3200" b="1"/>
              <a:t>u(x),v(x)</a:t>
            </a:r>
            <a:r>
              <a:rPr lang="zh-CN" altLang="en-US" sz="3200" b="1"/>
              <a:t>的其他方法</a:t>
            </a:r>
            <a:endParaRPr lang="en-US" altLang="zh-CN" sz="3200" b="1"/>
          </a:p>
          <a:p>
            <a:r>
              <a:rPr lang="en-US" altLang="zh-CN" sz="3200" b="1"/>
              <a:t>5:n</a:t>
            </a:r>
            <a:r>
              <a:rPr lang="zh-CN" altLang="en-US" sz="3200" b="1"/>
              <a:t>次单位根问题</a:t>
            </a:r>
            <a:endParaRPr lang="en-US" altLang="zh-CN" sz="3200" b="1"/>
          </a:p>
          <a:p>
            <a:r>
              <a:rPr lang="en-US" altLang="zh-CN" sz="3200" b="1"/>
              <a:t>6:</a:t>
            </a:r>
            <a:r>
              <a:rPr lang="zh-CN" altLang="en-US" sz="3200" b="1"/>
              <a:t>有理根与艾森斯坦判别法简要说明</a:t>
            </a:r>
            <a:endParaRPr lang="en-US" altLang="zh-CN" sz="3200" b="1"/>
          </a:p>
          <a:p>
            <a:r>
              <a:rPr lang="en-US" altLang="zh-CN" sz="3200" b="1"/>
              <a:t>7:</a:t>
            </a:r>
            <a:r>
              <a:rPr lang="zh-CN" altLang="en-US" sz="3200" b="1"/>
              <a:t>根与系数的关系</a:t>
            </a:r>
          </a:p>
        </p:txBody>
      </p:sp>
    </p:spTree>
    <p:extLst>
      <p:ext uri="{BB962C8B-B14F-4D97-AF65-F5344CB8AC3E}">
        <p14:creationId xmlns:p14="http://schemas.microsoft.com/office/powerpoint/2010/main" val="2579496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A41994-AACE-468F-AB2D-6F0A76752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3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84CB543-3DE7-4ECB-AE4E-792AC8950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02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9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6ADE78-7DFF-47D9-90D3-1C06ED029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021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6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9372F4-A596-4E80-A169-FF0E87F1E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2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2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32384DA-A8E8-4D59-803E-B66AAB8AA684}"/>
              </a:ext>
            </a:extLst>
          </p:cNvPr>
          <p:cNvSpPr txBox="1"/>
          <p:nvPr/>
        </p:nvSpPr>
        <p:spPr>
          <a:xfrm>
            <a:off x="0" y="0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在实数域上的分解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2AA34B-8133-42EE-B984-CFD468EB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23219"/>
            <a:ext cx="11281025" cy="63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0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7DB18EA-62AB-42D0-9FEC-FB4656230576}"/>
                  </a:ext>
                </a:extLst>
              </p:cNvPr>
              <p:cNvSpPr txBox="1"/>
              <p:nvPr/>
            </p:nvSpPr>
            <p:spPr>
              <a:xfrm>
                <a:off x="0" y="246849"/>
                <a:ext cx="1025360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/>
                  <a:t>那么对于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3200" b="1"/>
                  <a:t>在复数域和实数域的分解呢</a:t>
                </a:r>
                <a:r>
                  <a:rPr lang="en-US" altLang="zh-CN" sz="3200" b="1"/>
                  <a:t>?</a:t>
                </a:r>
              </a:p>
              <a:p>
                <a:r>
                  <a:rPr lang="zh-CN" altLang="en-US" sz="3200" b="1"/>
                  <a:t>请大家按照上述方法自己尝试</a:t>
                </a:r>
                <a:r>
                  <a:rPr lang="en-US" altLang="zh-CN" sz="3200" b="1"/>
                  <a:t>!</a:t>
                </a:r>
                <a:endParaRPr lang="zh-CN" altLang="en-US" sz="32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7DB18EA-62AB-42D0-9FEC-FB4656230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6849"/>
                <a:ext cx="10253609" cy="1077218"/>
              </a:xfrm>
              <a:prstGeom prst="rect">
                <a:avLst/>
              </a:prstGeom>
              <a:blipFill>
                <a:blip r:embed="rId2"/>
                <a:stretch>
                  <a:fillRect l="-1486" t="-7345" b="-17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53156A6-489A-4CAB-BA8B-0F836B3FC0BE}"/>
                  </a:ext>
                </a:extLst>
              </p:cNvPr>
              <p:cNvSpPr txBox="1"/>
              <p:nvPr/>
            </p:nvSpPr>
            <p:spPr>
              <a:xfrm>
                <a:off x="0" y="2409289"/>
                <a:ext cx="796760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sz="2800" b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zh-CN" altLang="en-US" sz="2800" b="1" smtClean="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53156A6-489A-4CAB-BA8B-0F836B3FC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9289"/>
                <a:ext cx="796760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67ADD96-EC0B-4345-9E23-40E7263876F7}"/>
              </a:ext>
            </a:extLst>
          </p:cNvPr>
          <p:cNvSpPr txBox="1"/>
          <p:nvPr/>
        </p:nvSpPr>
        <p:spPr>
          <a:xfrm>
            <a:off x="-78768" y="1947624"/>
            <a:ext cx="6174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复分解</a:t>
            </a:r>
            <a:r>
              <a:rPr lang="en-US" altLang="zh-CN" sz="2400" b="1"/>
              <a:t>:</a:t>
            </a:r>
            <a:endParaRPr lang="zh-CN" altLang="en-US" sz="2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3C4A1E6-9750-448B-A44D-D0C861CB564F}"/>
                  </a:ext>
                </a:extLst>
              </p:cNvPr>
              <p:cNvSpPr txBox="1"/>
              <p:nvPr/>
            </p:nvSpPr>
            <p:spPr>
              <a:xfrm>
                <a:off x="97605" y="3032846"/>
                <a:ext cx="6185042" cy="793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𝐜𝐨𝐬</m:t>
                      </m:r>
                      <m:f>
                        <m:fPr>
                          <m:ctrlPr>
                            <a:rPr lang="zh-CN" alt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zh-CN" altLang="en-US" sz="2400" b="1" smtClean="0">
                          <a:latin typeface="Cambria Math" panose="02040503050406030204" pitchFamily="18" charset="0"/>
                        </a:rPr>
                        <m:t>+ⅈ</m:t>
                      </m:r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𝐬𝐢𝐧</m:t>
                      </m:r>
                      <m:f>
                        <m:fPr>
                          <m:ctrlPr>
                            <a:rPr lang="zh-CN" alt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3C4A1E6-9750-448B-A44D-D0C861CB5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5" y="3032846"/>
                <a:ext cx="6185042" cy="7938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77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C03656-3619-4152-84D2-668CD3044BA1}"/>
                  </a:ext>
                </a:extLst>
              </p:cNvPr>
              <p:cNvSpPr txBox="1"/>
              <p:nvPr/>
            </p:nvSpPr>
            <p:spPr>
              <a:xfrm>
                <a:off x="-1712" y="0"/>
                <a:ext cx="117348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/>
                  <a:t>有理根的判别</a:t>
                </a:r>
                <a:r>
                  <a:rPr lang="en-US" altLang="zh-CN" sz="2800" b="1">
                    <a:sym typeface="Wingdings" panose="05000000000000000000" pitchFamily="2" charset="2"/>
                  </a:rPr>
                  <a:t>:(1)</a:t>
                </a:r>
                <a:r>
                  <a:rPr lang="zh-CN" altLang="en-US" sz="2800" b="1"/>
                  <a:t>一般根据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写出</m:t>
                    </m:r>
                  </m:oMath>
                </a14:m>
                <a:r>
                  <a:rPr lang="zh-CN" altLang="en-US" sz="2800" b="1"/>
                  <a:t>因数</a:t>
                </a:r>
                <a:r>
                  <a:rPr lang="en-US" altLang="zh-CN" sz="2800" b="1"/>
                  <a:t>,</a:t>
                </a:r>
                <a:r>
                  <a:rPr lang="zh-CN" altLang="en-US" sz="2800" b="1"/>
                  <a:t>重组构成可能的有理根</a:t>
                </a:r>
                <a:endParaRPr lang="zh-CN" altLang="en-US" sz="32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C03656-3619-4152-84D2-668CD3044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12" y="0"/>
                <a:ext cx="11734800" cy="584775"/>
              </a:xfrm>
              <a:prstGeom prst="rect">
                <a:avLst/>
              </a:prstGeom>
              <a:blipFill>
                <a:blip r:embed="rId2"/>
                <a:stretch>
                  <a:fillRect l="-1351"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4EDFBF-74EB-4B03-853F-ABB7E65B7249}"/>
                  </a:ext>
                </a:extLst>
              </p:cNvPr>
              <p:cNvSpPr txBox="1"/>
              <p:nvPr/>
            </p:nvSpPr>
            <p:spPr>
              <a:xfrm>
                <a:off x="2515457" y="693214"/>
                <a:ext cx="9676543" cy="1097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/>
                  <a:t>(2)</a:t>
                </a:r>
                <a:r>
                  <a:rPr lang="zh-CN" altLang="en-US" sz="2800" b="1"/>
                  <a:t>之后先计算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800" b="1"/>
                  <a:t>的值</a:t>
                </a:r>
                <a:r>
                  <a:rPr lang="en-US" altLang="zh-CN" sz="2800" b="1"/>
                  <a:t>,</a:t>
                </a:r>
                <a:r>
                  <a:rPr lang="zh-CN" altLang="en-US" sz="2800" b="1"/>
                  <a:t>由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800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/>
                  <a:t>或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b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sz="2800" b="1"/>
                  <a:t>/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/>
                  <a:t>是否为整数进行筛选</a:t>
                </a:r>
                <a:r>
                  <a:rPr lang="en-US" altLang="zh-CN" sz="2800" b="1"/>
                  <a:t>.</a:t>
                </a:r>
                <a:endParaRPr lang="zh-CN" altLang="en-US" sz="2800" b="1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4EDFBF-74EB-4B03-853F-ABB7E65B7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57" y="693214"/>
                <a:ext cx="9676543" cy="1097352"/>
              </a:xfrm>
              <a:prstGeom prst="rect">
                <a:avLst/>
              </a:prstGeom>
              <a:blipFill>
                <a:blip r:embed="rId3"/>
                <a:stretch>
                  <a:fillRect l="-1323" t="-3333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3AA7A0E-D82B-4F9F-824F-2F60A8EEC206}"/>
              </a:ext>
            </a:extLst>
          </p:cNvPr>
          <p:cNvSpPr txBox="1"/>
          <p:nvPr/>
        </p:nvSpPr>
        <p:spPr>
          <a:xfrm>
            <a:off x="2515455" y="1899006"/>
            <a:ext cx="95875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/>
              <a:t>(3)</a:t>
            </a:r>
            <a:r>
              <a:rPr lang="zh-CN" altLang="en-US" sz="2800" b="1"/>
              <a:t>最后对剩余的可疑根进行带入或者使用综合除法进行验证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C3580C-0DEB-4683-A268-0BE977B4DDFF}"/>
              </a:ext>
            </a:extLst>
          </p:cNvPr>
          <p:cNvSpPr txBox="1"/>
          <p:nvPr/>
        </p:nvSpPr>
        <p:spPr>
          <a:xfrm>
            <a:off x="2943546" y="3205806"/>
            <a:ext cx="61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DDAE86-30E0-42D8-A233-D85BF690A9C3}"/>
              </a:ext>
            </a:extLst>
          </p:cNvPr>
          <p:cNvSpPr txBox="1"/>
          <p:nvPr/>
        </p:nvSpPr>
        <p:spPr>
          <a:xfrm>
            <a:off x="-99316" y="2682586"/>
            <a:ext cx="6195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艾森斯坦判别法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20E069F-FD95-46FA-A0D3-203C00234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2" y="3205806"/>
            <a:ext cx="7399457" cy="365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7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113200-C093-4503-AB5B-CCF7DED8A8A1}"/>
              </a:ext>
            </a:extLst>
          </p:cNvPr>
          <p:cNvSpPr txBox="1"/>
          <p:nvPr/>
        </p:nvSpPr>
        <p:spPr>
          <a:xfrm>
            <a:off x="-1712" y="0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/>
              <a:t>综合除法</a:t>
            </a:r>
            <a:r>
              <a:rPr lang="en-US" altLang="zh-CN" sz="3600" b="1"/>
              <a:t>:</a:t>
            </a:r>
            <a:endParaRPr lang="zh-CN" altLang="en-US" sz="3600" b="1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0B9F47-00AD-4D37-8E7D-77BF977932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782082"/>
              </p:ext>
            </p:extLst>
          </p:nvPr>
        </p:nvGraphicFramePr>
        <p:xfrm>
          <a:off x="-1" y="934662"/>
          <a:ext cx="12065755" cy="457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5800" imgH="1828800" progId="Equation.DSMT4">
                  <p:embed/>
                </p:oleObj>
              </mc:Choice>
              <mc:Fallback>
                <p:oleObj name="Equation" r:id="rId2" imgW="4825800" imgH="182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" y="934662"/>
                        <a:ext cx="12065755" cy="4572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208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B03A591-D73F-4F57-B80E-DC3432871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59616"/>
              </p:ext>
            </p:extLst>
          </p:nvPr>
        </p:nvGraphicFramePr>
        <p:xfrm>
          <a:off x="2424701" y="23571"/>
          <a:ext cx="6158510" cy="2537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685800" progId="Equation.DSMT4">
                  <p:embed/>
                </p:oleObj>
              </mc:Choice>
              <mc:Fallback>
                <p:oleObj name="Equation" r:id="rId2" imgW="16635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4701" y="23571"/>
                        <a:ext cx="6158510" cy="2537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F2AA926-A221-4DA1-A552-AE48E7900C1D}"/>
              </a:ext>
            </a:extLst>
          </p:cNvPr>
          <p:cNvSpPr txBox="1"/>
          <p:nvPr/>
        </p:nvSpPr>
        <p:spPr>
          <a:xfrm>
            <a:off x="-1712" y="2630185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例题</a:t>
            </a:r>
            <a:r>
              <a:rPr lang="en-US" altLang="zh-CN" sz="3200" b="1"/>
              <a:t>:</a:t>
            </a:r>
            <a:endParaRPr lang="zh-CN" altLang="en-US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E549BA-7C11-4380-A8B4-7FD9FB146D4C}"/>
                  </a:ext>
                </a:extLst>
              </p:cNvPr>
              <p:cNvSpPr txBox="1"/>
              <p:nvPr/>
            </p:nvSpPr>
            <p:spPr>
              <a:xfrm>
                <a:off x="1227762" y="2699081"/>
                <a:ext cx="9228680" cy="446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800" b="1"/>
                  <a:t>求证</a:t>
                </a:r>
                <a:r>
                  <a:rPr lang="en-US" altLang="zh-CN" sz="2800" b="1"/>
                  <a:t>-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是否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zh-CN" altLang="en-US" sz="2800" b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𝟏𝟒</m:t>
                    </m:r>
                    <m:sSup>
                      <m:sSupPr>
                        <m:ctrlPr>
                          <a:rPr lang="zh-CN" altLang="en-US" sz="28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b="1"/>
                  <a:t>根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E549BA-7C11-4380-A8B4-7FD9FB14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762" y="2699081"/>
                <a:ext cx="9228680" cy="446982"/>
              </a:xfrm>
              <a:prstGeom prst="rect">
                <a:avLst/>
              </a:prstGeom>
              <a:blipFill>
                <a:blip r:embed="rId4"/>
                <a:stretch>
                  <a:fillRect l="-2312" t="-20548" r="-1321" b="-47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3848F68-AA6D-41B6-AFF3-B8C9A86326AB}"/>
              </a:ext>
            </a:extLst>
          </p:cNvPr>
          <p:cNvCxnSpPr>
            <a:cxnSpLocks/>
          </p:cNvCxnSpPr>
          <p:nvPr/>
        </p:nvCxnSpPr>
        <p:spPr>
          <a:xfrm>
            <a:off x="7551506" y="133564"/>
            <a:ext cx="0" cy="249662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18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CEEE01-4FE4-4167-97D0-3542A833E883}"/>
              </a:ext>
            </a:extLst>
          </p:cNvPr>
          <p:cNvSpPr txBox="1"/>
          <p:nvPr/>
        </p:nvSpPr>
        <p:spPr>
          <a:xfrm>
            <a:off x="0" y="71919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例题</a:t>
            </a:r>
            <a:r>
              <a:rPr lang="en-US" altLang="zh-CN" sz="3200" b="1"/>
              <a:t>:</a:t>
            </a:r>
            <a:endParaRPr lang="zh-CN" altLang="en-US" sz="3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8ACCF0-A915-42F7-B9E3-049D4E712452}"/>
                  </a:ext>
                </a:extLst>
              </p:cNvPr>
              <p:cNvSpPr txBox="1"/>
              <p:nvPr/>
            </p:nvSpPr>
            <p:spPr>
              <a:xfrm>
                <a:off x="904125" y="53452"/>
                <a:ext cx="11065267" cy="603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/>
                  <a:t>求证</a:t>
                </a:r>
                <a:r>
                  <a:rPr lang="en-US" altLang="zh-CN" sz="3200" b="1"/>
                  <a:t>-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是否</m:t>
                    </m:r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3200" b="1" i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zh-CN" altLang="en-US" sz="3200" b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zh-CN" alt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𝟏𝟒</m:t>
                    </m:r>
                    <m:sSup>
                      <m:sSupPr>
                        <m:ctrlPr>
                          <a:rPr lang="zh-CN" alt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/>
                  <a:t>根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8ACCF0-A915-42F7-B9E3-049D4E712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25" y="53452"/>
                <a:ext cx="11065267" cy="603242"/>
              </a:xfrm>
              <a:prstGeom prst="rect">
                <a:avLst/>
              </a:prstGeom>
              <a:blipFill>
                <a:blip r:embed="rId2"/>
                <a:stretch>
                  <a:fillRect l="-1377" t="-909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C3BF77-7975-4BA3-B7A5-AAFD26136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808467"/>
              </p:ext>
            </p:extLst>
          </p:nvPr>
        </p:nvGraphicFramePr>
        <p:xfrm>
          <a:off x="1294257" y="853180"/>
          <a:ext cx="4952429" cy="600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840" imgH="2463480" progId="Equation.DSMT4">
                  <p:embed/>
                </p:oleObj>
              </mc:Choice>
              <mc:Fallback>
                <p:oleObj name="Equation" r:id="rId3" imgW="2031840" imgH="246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F99201F-4A3F-46D3-91D3-DAE340929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4257" y="853180"/>
                        <a:ext cx="4952429" cy="6004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47B45DF-A0D5-4F1B-8A7D-45F785258C96}"/>
              </a:ext>
            </a:extLst>
          </p:cNvPr>
          <p:cNvCxnSpPr>
            <a:cxnSpLocks/>
          </p:cNvCxnSpPr>
          <p:nvPr/>
        </p:nvCxnSpPr>
        <p:spPr>
          <a:xfrm>
            <a:off x="5363110" y="729465"/>
            <a:ext cx="0" cy="181852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5C2595-4B59-4A57-80A0-27D240F38D4B}"/>
              </a:ext>
            </a:extLst>
          </p:cNvPr>
          <p:cNvCxnSpPr/>
          <p:nvPr/>
        </p:nvCxnSpPr>
        <p:spPr>
          <a:xfrm>
            <a:off x="4572000" y="2958957"/>
            <a:ext cx="0" cy="111988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6CB694C-596A-4A2B-8A6F-2B5B0293973D}"/>
              </a:ext>
            </a:extLst>
          </p:cNvPr>
          <p:cNvCxnSpPr/>
          <p:nvPr/>
        </p:nvCxnSpPr>
        <p:spPr>
          <a:xfrm>
            <a:off x="3770471" y="4078840"/>
            <a:ext cx="0" cy="110960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6EF76CB-8516-4CEE-ACF4-FD53B56F4E29}"/>
              </a:ext>
            </a:extLst>
          </p:cNvPr>
          <p:cNvCxnSpPr/>
          <p:nvPr/>
        </p:nvCxnSpPr>
        <p:spPr>
          <a:xfrm>
            <a:off x="3048856" y="5188449"/>
            <a:ext cx="0" cy="11404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DC0FA6C-ECAA-4FD8-B68D-7F9639BD55B5}"/>
              </a:ext>
            </a:extLst>
          </p:cNvPr>
          <p:cNvCxnSpPr/>
          <p:nvPr/>
        </p:nvCxnSpPr>
        <p:spPr>
          <a:xfrm>
            <a:off x="2321960" y="6328881"/>
            <a:ext cx="0" cy="4572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386F67-2D10-4661-96E7-BC86B8D5E6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67538"/>
              </p:ext>
            </p:extLst>
          </p:nvPr>
        </p:nvGraphicFramePr>
        <p:xfrm>
          <a:off x="5884447" y="2934835"/>
          <a:ext cx="6307553" cy="1812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65360" imgH="736560" progId="Equation.DSMT4">
                  <p:embed/>
                </p:oleObj>
              </mc:Choice>
              <mc:Fallback>
                <p:oleObj name="Equation" r:id="rId5" imgW="2565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4447" y="2934835"/>
                        <a:ext cx="6307553" cy="1812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980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A4FCDC1-ECC3-4EED-B909-B42AA618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13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83DF051-5FB5-4A40-9847-5869DD798040}"/>
              </a:ext>
            </a:extLst>
          </p:cNvPr>
          <p:cNvSpPr txBox="1"/>
          <p:nvPr/>
        </p:nvSpPr>
        <p:spPr>
          <a:xfrm>
            <a:off x="4582160" y="36905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/>
              <a:t>行列式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7267EC-FF24-4F35-B2D7-BA1C36F38612}"/>
              </a:ext>
            </a:extLst>
          </p:cNvPr>
          <p:cNvSpPr txBox="1"/>
          <p:nvPr/>
        </p:nvSpPr>
        <p:spPr>
          <a:xfrm>
            <a:off x="1148080" y="1138495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/>
              <a:t>1:</a:t>
            </a:r>
            <a:r>
              <a:rPr lang="zh-CN" altLang="en-US" sz="3200" b="1"/>
              <a:t>行列式的性质</a:t>
            </a:r>
            <a:endParaRPr lang="en-US" altLang="zh-CN" sz="3200" b="1"/>
          </a:p>
          <a:p>
            <a:endParaRPr lang="en-US" altLang="zh-CN" sz="3200" b="1"/>
          </a:p>
          <a:p>
            <a:r>
              <a:rPr lang="en-US" altLang="zh-CN" sz="3200" b="1"/>
              <a:t>2:</a:t>
            </a:r>
            <a:r>
              <a:rPr lang="zh-CN" altLang="en-US" sz="3200" b="1"/>
              <a:t>行列式的计算</a:t>
            </a:r>
            <a:endParaRPr lang="en-US" altLang="zh-CN" sz="3200" b="1"/>
          </a:p>
          <a:p>
            <a:endParaRPr lang="en-US" altLang="zh-CN" sz="3200" b="1"/>
          </a:p>
          <a:p>
            <a:r>
              <a:rPr lang="en-US" altLang="zh-CN" sz="3200" b="1"/>
              <a:t>3:</a:t>
            </a:r>
            <a:r>
              <a:rPr lang="zh-CN" altLang="en-US" sz="3200" b="1"/>
              <a:t>克拉默法则</a:t>
            </a:r>
            <a:endParaRPr lang="en-US" altLang="zh-CN" sz="3200" b="1"/>
          </a:p>
          <a:p>
            <a:endParaRPr lang="en-US" altLang="zh-CN" sz="3200" b="1"/>
          </a:p>
          <a:p>
            <a:r>
              <a:rPr lang="en-US" altLang="zh-CN" sz="3200" b="1"/>
              <a:t>4:</a:t>
            </a:r>
            <a:r>
              <a:rPr lang="zh-CN" altLang="en-US" sz="3200" b="1"/>
              <a:t>余子式</a:t>
            </a:r>
            <a:r>
              <a:rPr lang="en-US" altLang="zh-CN" sz="3200" b="1"/>
              <a:t>,</a:t>
            </a:r>
            <a:r>
              <a:rPr lang="zh-CN" altLang="en-US" sz="3200" b="1"/>
              <a:t>代数余子式</a:t>
            </a:r>
          </a:p>
        </p:txBody>
      </p:sp>
    </p:spTree>
    <p:extLst>
      <p:ext uri="{BB962C8B-B14F-4D97-AF65-F5344CB8AC3E}">
        <p14:creationId xmlns:p14="http://schemas.microsoft.com/office/powerpoint/2010/main" val="3881342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EC943F9-800E-4AFC-8B12-4275362528B6}"/>
              </a:ext>
            </a:extLst>
          </p:cNvPr>
          <p:cNvSpPr txBox="1"/>
          <p:nvPr/>
        </p:nvSpPr>
        <p:spPr>
          <a:xfrm>
            <a:off x="1056640" y="74497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性质</a:t>
            </a:r>
            <a:r>
              <a:rPr lang="en-US" altLang="zh-CN" sz="2800" b="1"/>
              <a:t>:</a:t>
            </a:r>
          </a:p>
          <a:p>
            <a:r>
              <a:rPr lang="en-US" altLang="zh-CN" sz="2800" b="1"/>
              <a:t>        </a:t>
            </a:r>
            <a:r>
              <a:rPr lang="en-US" altLang="zh-CN" sz="3200" b="1"/>
              <a:t>1:</a:t>
            </a:r>
            <a:r>
              <a:rPr lang="zh-CN" altLang="en-US" sz="3200" b="1"/>
              <a:t>转置不变</a:t>
            </a:r>
            <a:endParaRPr lang="en-US" altLang="zh-CN" sz="3200" b="1"/>
          </a:p>
          <a:p>
            <a:r>
              <a:rPr lang="en-US" altLang="zh-CN" sz="3200" b="1"/>
              <a:t>       2:</a:t>
            </a:r>
            <a:r>
              <a:rPr lang="zh-CN" altLang="en-US" sz="3200" b="1"/>
              <a:t>行因可提</a:t>
            </a:r>
            <a:endParaRPr lang="en-US" altLang="zh-CN" sz="3200" b="1"/>
          </a:p>
          <a:p>
            <a:r>
              <a:rPr lang="en-US" altLang="zh-CN" sz="3200" b="1"/>
              <a:t>       3:</a:t>
            </a:r>
            <a:r>
              <a:rPr lang="zh-CN" altLang="en-US" sz="3200" b="1"/>
              <a:t>行和可拆</a:t>
            </a:r>
            <a:endParaRPr lang="en-US" altLang="zh-CN" sz="3200" b="1"/>
          </a:p>
          <a:p>
            <a:r>
              <a:rPr lang="en-US" altLang="zh-CN" sz="3200" b="1"/>
              <a:t>       4:</a:t>
            </a:r>
            <a:r>
              <a:rPr lang="zh-CN" altLang="en-US" sz="3200" b="1"/>
              <a:t>行换反号</a:t>
            </a:r>
            <a:endParaRPr lang="en-US" altLang="zh-CN" sz="3200" b="1"/>
          </a:p>
          <a:p>
            <a:r>
              <a:rPr lang="en-US" altLang="zh-CN" sz="3200" b="1"/>
              <a:t>       5:</a:t>
            </a:r>
            <a:r>
              <a:rPr lang="zh-CN" altLang="en-US" sz="3200" b="1"/>
              <a:t>行同为零</a:t>
            </a:r>
            <a:endParaRPr lang="en-US" altLang="zh-CN" sz="3200" b="1"/>
          </a:p>
          <a:p>
            <a:r>
              <a:rPr lang="en-US" altLang="zh-CN" sz="3200" b="1"/>
              <a:t>       6:</a:t>
            </a:r>
            <a:r>
              <a:rPr lang="zh-CN" altLang="en-US" sz="3200" b="1"/>
              <a:t>行比为零</a:t>
            </a:r>
            <a:endParaRPr lang="en-US" altLang="zh-CN" sz="3200" b="1"/>
          </a:p>
          <a:p>
            <a:r>
              <a:rPr lang="en-US" altLang="zh-CN" sz="3200" b="1"/>
              <a:t>       7:</a:t>
            </a:r>
            <a:r>
              <a:rPr lang="zh-CN" altLang="en-US" sz="3200" b="1"/>
              <a:t>倍加不变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464729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9D14DF6-2808-40DD-A027-206F909F9ADC}"/>
              </a:ext>
            </a:extLst>
          </p:cNvPr>
          <p:cNvSpPr txBox="1"/>
          <p:nvPr/>
        </p:nvSpPr>
        <p:spPr>
          <a:xfrm>
            <a:off x="-1712" y="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行列式的计算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ED4B4-CE64-4AA3-B470-BFE96EE095EF}"/>
              </a:ext>
            </a:extLst>
          </p:cNvPr>
          <p:cNvSpPr txBox="1"/>
          <p:nvPr/>
        </p:nvSpPr>
        <p:spPr>
          <a:xfrm>
            <a:off x="4022333" y="584775"/>
            <a:ext cx="6174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五种基本模型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B950851-CB10-4F0E-8979-A48F84250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047739"/>
              </p:ext>
            </p:extLst>
          </p:nvPr>
        </p:nvGraphicFramePr>
        <p:xfrm>
          <a:off x="4114800" y="2209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DSMT4">
                  <p:embed/>
                </p:oleObj>
              </mc:Choice>
              <mc:Fallback>
                <p:oleObj name="Equation" r:id="rId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16DBC8-45CD-4C6F-BE43-7A78D2523C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281718"/>
              </p:ext>
            </p:extLst>
          </p:nvPr>
        </p:nvGraphicFramePr>
        <p:xfrm>
          <a:off x="177687" y="1634524"/>
          <a:ext cx="2774022" cy="193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5114" imgH="2191759" progId="Equation.DSMT4">
                  <p:embed/>
                </p:oleObj>
              </mc:Choice>
              <mc:Fallback>
                <p:oleObj name="Equation" r:id="rId4" imgW="3135114" imgH="2191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687" y="1634524"/>
                        <a:ext cx="2774022" cy="1939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334F5E6-DC6D-4112-A4F6-2CBA3F7C0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253761"/>
              </p:ext>
            </p:extLst>
          </p:nvPr>
        </p:nvGraphicFramePr>
        <p:xfrm>
          <a:off x="3739870" y="1634524"/>
          <a:ext cx="2828741" cy="193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914400" progId="Equation.DSMT4">
                  <p:embed/>
                </p:oleObj>
              </mc:Choice>
              <mc:Fallback>
                <p:oleObj name="Equation" r:id="rId6" imgW="13334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39870" y="1634524"/>
                        <a:ext cx="2828741" cy="1939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C847CAB-29C8-4DF1-B9C8-7BF220DD5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954660"/>
              </p:ext>
            </p:extLst>
          </p:nvPr>
        </p:nvGraphicFramePr>
        <p:xfrm>
          <a:off x="0" y="4016120"/>
          <a:ext cx="3129396" cy="193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952200" progId="Equation.DSMT4">
                  <p:embed/>
                </p:oleObj>
              </mc:Choice>
              <mc:Fallback>
                <p:oleObj name="Equation" r:id="rId8" imgW="153648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4016120"/>
                        <a:ext cx="3129396" cy="1939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F43398B-881F-4503-AA38-D946C15C4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049163"/>
              </p:ext>
            </p:extLst>
          </p:nvPr>
        </p:nvGraphicFramePr>
        <p:xfrm>
          <a:off x="3530599" y="4016119"/>
          <a:ext cx="3129397" cy="206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990360" progId="Equation.DSMT4">
                  <p:embed/>
                </p:oleObj>
              </mc:Choice>
              <mc:Fallback>
                <p:oleObj name="Equation" r:id="rId10" imgW="149832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30599" y="4016119"/>
                        <a:ext cx="3129397" cy="206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7677A93-6B87-4220-A1DF-5D4A00C44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368610"/>
              </p:ext>
            </p:extLst>
          </p:nvPr>
        </p:nvGraphicFramePr>
        <p:xfrm>
          <a:off x="7192386" y="1966792"/>
          <a:ext cx="4607993" cy="3214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000" imgH="1143000" progId="Equation.DSMT4">
                  <p:embed/>
                </p:oleObj>
              </mc:Choice>
              <mc:Fallback>
                <p:oleObj name="Equation" r:id="rId12" imgW="163800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92386" y="1966792"/>
                        <a:ext cx="4607993" cy="3214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818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42E93A-3795-40F3-900D-C02B879874ED}"/>
              </a:ext>
            </a:extLst>
          </p:cNvPr>
          <p:cNvSpPr txBox="1"/>
          <p:nvPr/>
        </p:nvSpPr>
        <p:spPr>
          <a:xfrm>
            <a:off x="-1712" y="226032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余子式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F53C007-ED7F-419F-8920-487B882FF00A}"/>
              </a:ext>
            </a:extLst>
          </p:cNvPr>
          <p:cNvSpPr/>
          <p:nvPr/>
        </p:nvSpPr>
        <p:spPr>
          <a:xfrm>
            <a:off x="4561726" y="1797977"/>
            <a:ext cx="1410984" cy="1027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654D1DC-C3AD-44A0-AD49-ED86F5D16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118"/>
            <a:ext cx="3514571" cy="247438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0B3129B-3508-4BCF-8B0F-7F2CEC663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817" y="1305561"/>
            <a:ext cx="2898143" cy="23348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D2BDFF-A867-47EA-92B5-838144095629}"/>
              </a:ext>
            </a:extLst>
          </p:cNvPr>
          <p:cNvSpPr txBox="1"/>
          <p:nvPr/>
        </p:nvSpPr>
        <p:spPr>
          <a:xfrm>
            <a:off x="0" y="4247366"/>
            <a:ext cx="6164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代数余子式</a:t>
            </a:r>
            <a:r>
              <a:rPr lang="en-US" altLang="zh-CN" sz="2800" b="1"/>
              <a:t>(</a:t>
            </a:r>
            <a:r>
              <a:rPr lang="zh-CN" altLang="en-US" sz="2800" b="1"/>
              <a:t>加符号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DFB617-29C2-4DF2-8AD6-629EB01EEF4A}"/>
                  </a:ext>
                </a:extLst>
              </p:cNvPr>
              <p:cNvSpPr txBox="1"/>
              <p:nvPr/>
            </p:nvSpPr>
            <p:spPr>
              <a:xfrm>
                <a:off x="3589508" y="5062403"/>
                <a:ext cx="3509934" cy="6738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4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4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zh-CN" altLang="en-US" sz="40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zh-CN" altLang="en-US" sz="2800" b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8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ⅈ+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  <m:sSub>
                        <m:sSubPr>
                          <m:ctrlPr>
                            <a:rPr lang="zh-CN" altLang="en-US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DFB617-29C2-4DF2-8AD6-629EB01EE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508" y="5062403"/>
                <a:ext cx="3509934" cy="673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60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105E4F-7125-42BF-A787-FBCDE0482EA7}"/>
              </a:ext>
            </a:extLst>
          </p:cNvPr>
          <p:cNvSpPr txBox="1"/>
          <p:nvPr/>
        </p:nvSpPr>
        <p:spPr>
          <a:xfrm>
            <a:off x="2833099" y="606443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与代数余子式相关的结论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22C21-1506-4686-965A-0F67D8CC134A}"/>
              </a:ext>
            </a:extLst>
          </p:cNvPr>
          <p:cNvSpPr txBox="1"/>
          <p:nvPr/>
        </p:nvSpPr>
        <p:spPr>
          <a:xfrm>
            <a:off x="1060378" y="1790967"/>
            <a:ext cx="10071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一行的元素与另一行相应元素的代数余子式的乘机之和为零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666CA9-7319-4E93-9694-38C20764F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92" y="2858101"/>
            <a:ext cx="7059760" cy="295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7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89D3699-9417-4608-8AD7-C651CE942C59}"/>
              </a:ext>
            </a:extLst>
          </p:cNvPr>
          <p:cNvSpPr txBox="1"/>
          <p:nvPr/>
        </p:nvSpPr>
        <p:spPr>
          <a:xfrm>
            <a:off x="0" y="812039"/>
            <a:ext cx="6164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子式</a:t>
            </a:r>
            <a:r>
              <a:rPr lang="en-US" altLang="zh-CN" sz="2800" b="1"/>
              <a:t>:</a:t>
            </a:r>
            <a:endParaRPr lang="zh-CN" altLang="en-US" sz="2800" b="1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56C5DF-7DD9-40D6-83F6-FDC72065E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36494"/>
              </p:ext>
            </p:extLst>
          </p:nvPr>
        </p:nvGraphicFramePr>
        <p:xfrm>
          <a:off x="1557300" y="1135904"/>
          <a:ext cx="2618367" cy="204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914400" progId="Equation.DSMT4">
                  <p:embed/>
                </p:oleObj>
              </mc:Choice>
              <mc:Fallback>
                <p:oleObj name="Equation" r:id="rId2" imgW="11682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7300" y="1135904"/>
                        <a:ext cx="2618367" cy="2049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6C19716-4B3F-43A0-881D-EF66262089A0}"/>
              </a:ext>
            </a:extLst>
          </p:cNvPr>
          <p:cNvCxnSpPr>
            <a:cxnSpLocks/>
          </p:cNvCxnSpPr>
          <p:nvPr/>
        </p:nvCxnSpPr>
        <p:spPr>
          <a:xfrm>
            <a:off x="1469203" y="1420939"/>
            <a:ext cx="261991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345F52C-52D7-41CC-8B5B-67F1530E4829}"/>
              </a:ext>
            </a:extLst>
          </p:cNvPr>
          <p:cNvCxnSpPr>
            <a:cxnSpLocks/>
          </p:cNvCxnSpPr>
          <p:nvPr/>
        </p:nvCxnSpPr>
        <p:spPr>
          <a:xfrm>
            <a:off x="1469203" y="1921267"/>
            <a:ext cx="261991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A7A2A27-1A7C-4271-A325-70882E8A878B}"/>
              </a:ext>
            </a:extLst>
          </p:cNvPr>
          <p:cNvCxnSpPr>
            <a:cxnSpLocks/>
          </p:cNvCxnSpPr>
          <p:nvPr/>
        </p:nvCxnSpPr>
        <p:spPr>
          <a:xfrm>
            <a:off x="3082247" y="1143537"/>
            <a:ext cx="0" cy="20491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E4368EA-AC98-46AB-A610-7816C7D0BDD2}"/>
              </a:ext>
            </a:extLst>
          </p:cNvPr>
          <p:cNvCxnSpPr>
            <a:cxnSpLocks/>
          </p:cNvCxnSpPr>
          <p:nvPr/>
        </p:nvCxnSpPr>
        <p:spPr>
          <a:xfrm>
            <a:off x="3760342" y="1135904"/>
            <a:ext cx="0" cy="20567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箭头: 右 33">
            <a:extLst>
              <a:ext uri="{FF2B5EF4-FFF2-40B4-BE49-F238E27FC236}">
                <a16:creationId xmlns:a16="http://schemas.microsoft.com/office/drawing/2014/main" id="{A48559BC-1819-4E4D-B1AF-F1ED6C3D18D9}"/>
              </a:ext>
            </a:extLst>
          </p:cNvPr>
          <p:cNvSpPr/>
          <p:nvPr/>
        </p:nvSpPr>
        <p:spPr>
          <a:xfrm>
            <a:off x="5255892" y="1623781"/>
            <a:ext cx="1046538" cy="883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78AF9983-6ACB-47F2-B1AB-7215C27A7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656783"/>
              </p:ext>
            </p:extLst>
          </p:nvPr>
        </p:nvGraphicFramePr>
        <p:xfrm>
          <a:off x="7194608" y="1379842"/>
          <a:ext cx="1643453" cy="156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482400" progId="Equation.DSMT4">
                  <p:embed/>
                </p:oleObj>
              </mc:Choice>
              <mc:Fallback>
                <p:oleObj name="Equation" r:id="rId4" imgW="507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94608" y="1379842"/>
                        <a:ext cx="1643453" cy="1561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02909139-AA0C-43BC-947D-2B81D3202B40}"/>
              </a:ext>
            </a:extLst>
          </p:cNvPr>
          <p:cNvSpPr txBox="1"/>
          <p:nvPr/>
        </p:nvSpPr>
        <p:spPr>
          <a:xfrm>
            <a:off x="0" y="3278374"/>
            <a:ext cx="6164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余子式</a:t>
            </a:r>
            <a:r>
              <a:rPr lang="en-US" altLang="zh-CN" sz="2800" b="1"/>
              <a:t>:</a:t>
            </a:r>
            <a:endParaRPr lang="zh-CN" altLang="en-US" sz="2800" b="1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20C48BB-94F5-48AC-99C5-00B2305427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678949"/>
              </p:ext>
            </p:extLst>
          </p:nvPr>
        </p:nvGraphicFramePr>
        <p:xfrm>
          <a:off x="1520508" y="3703556"/>
          <a:ext cx="2618367" cy="204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914400" progId="Equation.DSMT4">
                  <p:embed/>
                </p:oleObj>
              </mc:Choice>
              <mc:Fallback>
                <p:oleObj name="Equation" r:id="rId6" imgW="116820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656C5DF-7DD9-40D6-83F6-FDC72065E5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0508" y="3703556"/>
                        <a:ext cx="2618367" cy="2049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D90B0FF-0832-485C-A07C-E477D7EEC0EB}"/>
              </a:ext>
            </a:extLst>
          </p:cNvPr>
          <p:cNvCxnSpPr>
            <a:cxnSpLocks/>
          </p:cNvCxnSpPr>
          <p:nvPr/>
        </p:nvCxnSpPr>
        <p:spPr>
          <a:xfrm flipV="1">
            <a:off x="1469203" y="3941047"/>
            <a:ext cx="2531814" cy="68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D4216C5-4A18-4646-8E1B-59C03884FE68}"/>
              </a:ext>
            </a:extLst>
          </p:cNvPr>
          <p:cNvCxnSpPr>
            <a:cxnSpLocks/>
          </p:cNvCxnSpPr>
          <p:nvPr/>
        </p:nvCxnSpPr>
        <p:spPr>
          <a:xfrm>
            <a:off x="1469203" y="4469258"/>
            <a:ext cx="253181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85F2A02-6C4B-4C8D-AE54-7D5ECD8B315E}"/>
              </a:ext>
            </a:extLst>
          </p:cNvPr>
          <p:cNvCxnSpPr>
            <a:cxnSpLocks/>
          </p:cNvCxnSpPr>
          <p:nvPr/>
        </p:nvCxnSpPr>
        <p:spPr>
          <a:xfrm>
            <a:off x="3082247" y="3703556"/>
            <a:ext cx="1" cy="20491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B92006E1-3116-4472-A53A-D79EBF57F866}"/>
              </a:ext>
            </a:extLst>
          </p:cNvPr>
          <p:cNvCxnSpPr>
            <a:cxnSpLocks/>
          </p:cNvCxnSpPr>
          <p:nvPr/>
        </p:nvCxnSpPr>
        <p:spPr>
          <a:xfrm>
            <a:off x="3688422" y="3685388"/>
            <a:ext cx="0" cy="20673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箭头: 右 57">
            <a:extLst>
              <a:ext uri="{FF2B5EF4-FFF2-40B4-BE49-F238E27FC236}">
                <a16:creationId xmlns:a16="http://schemas.microsoft.com/office/drawing/2014/main" id="{B9B5DFBD-A2E1-42DD-A964-22B8FFEF584A}"/>
              </a:ext>
            </a:extLst>
          </p:cNvPr>
          <p:cNvSpPr/>
          <p:nvPr/>
        </p:nvSpPr>
        <p:spPr>
          <a:xfrm>
            <a:off x="5255892" y="4243227"/>
            <a:ext cx="1046538" cy="811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F5BB3B2B-6412-47DE-96BE-32D839313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280804"/>
              </p:ext>
            </p:extLst>
          </p:nvPr>
        </p:nvGraphicFramePr>
        <p:xfrm>
          <a:off x="7194608" y="4001926"/>
          <a:ext cx="1643452" cy="1561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482400" progId="Equation.DSMT4">
                  <p:embed/>
                </p:oleObj>
              </mc:Choice>
              <mc:Fallback>
                <p:oleObj name="Equation" r:id="rId8" imgW="507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94608" y="4001926"/>
                        <a:ext cx="1643452" cy="1561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41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6B8135A-E2F5-4984-B0AA-FEAB4BC9A9CE}"/>
              </a:ext>
            </a:extLst>
          </p:cNvPr>
          <p:cNvSpPr txBox="1"/>
          <p:nvPr/>
        </p:nvSpPr>
        <p:spPr>
          <a:xfrm>
            <a:off x="3870960" y="52145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/>
              <a:t>线性方程组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8627C9-3C71-4D5F-8A9C-0D0986B8C003}"/>
              </a:ext>
            </a:extLst>
          </p:cNvPr>
          <p:cNvSpPr txBox="1"/>
          <p:nvPr/>
        </p:nvSpPr>
        <p:spPr>
          <a:xfrm>
            <a:off x="1416122" y="1671039"/>
            <a:ext cx="60977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/>
              <a:t>1:</a:t>
            </a:r>
            <a:r>
              <a:rPr lang="zh-CN" altLang="en-US" sz="2800" b="1"/>
              <a:t>线性方程组的求解</a:t>
            </a:r>
            <a:r>
              <a:rPr lang="en-US" altLang="zh-CN" sz="2800" b="1"/>
              <a:t>.</a:t>
            </a:r>
          </a:p>
          <a:p>
            <a:endParaRPr lang="en-US" altLang="zh-CN" sz="2800" b="1"/>
          </a:p>
          <a:p>
            <a:r>
              <a:rPr lang="en-US" altLang="zh-CN" sz="2800" b="1"/>
              <a:t>2:</a:t>
            </a:r>
            <a:r>
              <a:rPr lang="zh-CN" altLang="en-US" sz="2800" b="1"/>
              <a:t>线性无关、极大线性无关组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en-US" altLang="zh-CN" sz="2800" b="1"/>
              <a:t>3:</a:t>
            </a:r>
            <a:r>
              <a:rPr lang="zh-CN" altLang="en-US" sz="2800" b="1"/>
              <a:t>矩阵的秩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en-US" altLang="zh-CN" sz="2800" b="1"/>
              <a:t>4:</a:t>
            </a:r>
            <a:r>
              <a:rPr lang="zh-CN" altLang="en-US" sz="2800" b="1"/>
              <a:t>线性方程组有解判断问题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63051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AC27B5-7B93-4DC6-BDD9-A353092BE55B}"/>
              </a:ext>
            </a:extLst>
          </p:cNvPr>
          <p:cNvSpPr txBox="1"/>
          <p:nvPr/>
        </p:nvSpPr>
        <p:spPr>
          <a:xfrm>
            <a:off x="0" y="0"/>
            <a:ext cx="7358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线性方程组的求解</a:t>
            </a:r>
            <a:r>
              <a:rPr lang="en-US" altLang="zh-CN" sz="2800" b="1"/>
              <a:t>:(</a:t>
            </a:r>
            <a:r>
              <a:rPr lang="zh-CN" altLang="en-US" sz="2800" b="1"/>
              <a:t>依赖矩阵的初等变换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2E0931-2999-4568-8CBC-55C23B195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17" y="788059"/>
            <a:ext cx="9352913" cy="52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75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512F568-A3CF-4E36-857C-588EAB739946}"/>
              </a:ext>
            </a:extLst>
          </p:cNvPr>
          <p:cNvSpPr txBox="1"/>
          <p:nvPr/>
        </p:nvSpPr>
        <p:spPr>
          <a:xfrm>
            <a:off x="-1712" y="0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线性方程组有解判断</a:t>
            </a:r>
            <a:r>
              <a:rPr lang="en-US" altLang="zh-CN" sz="2800" b="1"/>
              <a:t>:</a:t>
            </a:r>
            <a:endParaRPr lang="zh-CN" altLang="en-US" sz="28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61AEA8-557A-4041-BFD2-646E063E9ED3}"/>
              </a:ext>
            </a:extLst>
          </p:cNvPr>
          <p:cNvSpPr txBox="1"/>
          <p:nvPr/>
        </p:nvSpPr>
        <p:spPr>
          <a:xfrm>
            <a:off x="-1712" y="611581"/>
            <a:ext cx="9061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充分必要条件</a:t>
            </a:r>
            <a:r>
              <a:rPr lang="en-US" altLang="zh-CN" sz="3200" b="1"/>
              <a:t>:</a:t>
            </a:r>
            <a:r>
              <a:rPr lang="zh-CN" altLang="en-US" sz="3200" b="1">
                <a:solidFill>
                  <a:srgbClr val="FF0000"/>
                </a:solidFill>
                <a:highlight>
                  <a:srgbClr val="FFFF00"/>
                </a:highlight>
              </a:rPr>
              <a:t>系数矩阵的秩等于增广矩阵的秩</a:t>
            </a:r>
            <a:r>
              <a:rPr lang="en-US" altLang="zh-CN" sz="3200" b="1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  <a:endParaRPr lang="zh-CN" altLang="en-US" sz="32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DE581C-36AE-49D7-A174-41AA539CDC6D}"/>
              </a:ext>
            </a:extLst>
          </p:cNvPr>
          <p:cNvSpPr txBox="1"/>
          <p:nvPr/>
        </p:nvSpPr>
        <p:spPr>
          <a:xfrm>
            <a:off x="0" y="1596628"/>
            <a:ext cx="6177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齐次线性方程组解得结构</a:t>
            </a:r>
            <a:r>
              <a:rPr lang="en-US" altLang="zh-CN" sz="2800" b="1"/>
              <a:t>:</a:t>
            </a:r>
            <a:r>
              <a:rPr lang="zh-CN" altLang="en-US" sz="2800" b="1"/>
              <a:t>基础解系</a:t>
            </a:r>
            <a:endParaRPr lang="zh-CN" alt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21C0A9A-A820-4201-9FA0-C580E6EF2DAA}"/>
                  </a:ext>
                </a:extLst>
              </p:cNvPr>
              <p:cNvSpPr txBox="1"/>
              <p:nvPr/>
            </p:nvSpPr>
            <p:spPr>
              <a:xfrm>
                <a:off x="-1712" y="2603231"/>
                <a:ext cx="9816272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/>
                  <a:t>齐次线性方程组的一组解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en-US" sz="2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/>
                  <a:t>称为一个基础解系</a:t>
                </a:r>
                <a:endParaRPr lang="en-US" altLang="zh-CN" sz="2800" b="1"/>
              </a:p>
              <a:p>
                <a:r>
                  <a:rPr lang="en-US" altLang="zh-CN" sz="2800" b="1"/>
                  <a:t>(1):</a:t>
                </a:r>
                <a:r>
                  <a:rPr lang="zh-CN" altLang="en-US" sz="2800" b="1"/>
                  <a:t>该方程的任何一个解都能由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线性表出</m:t>
                    </m:r>
                  </m:oMath>
                </a14:m>
                <a:endParaRPr lang="en-US" altLang="zh-CN" sz="2000" b="1"/>
              </a:p>
              <a:p>
                <a:r>
                  <a:rPr lang="en-US" altLang="zh-CN" sz="2800" b="1"/>
                  <a:t>(2):</a:t>
                </a:r>
                <a:r>
                  <a:rPr lang="zh-CN" altLang="en-US" sz="2800" b="1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2800" b="1"/>
                  <a:t>无关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21C0A9A-A820-4201-9FA0-C580E6EF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12" y="2603231"/>
                <a:ext cx="9816272" cy="1384995"/>
              </a:xfrm>
              <a:prstGeom prst="rect">
                <a:avLst/>
              </a:prstGeom>
              <a:blipFill>
                <a:blip r:embed="rId2"/>
                <a:stretch>
                  <a:fillRect l="-1304" t="-4405" b="-1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6521A42E-6D5F-480D-8892-AE57180A3C70}"/>
              </a:ext>
            </a:extLst>
          </p:cNvPr>
          <p:cNvSpPr txBox="1"/>
          <p:nvPr/>
        </p:nvSpPr>
        <p:spPr>
          <a:xfrm>
            <a:off x="0" y="4473857"/>
            <a:ext cx="6177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非齐次线性方程组的解</a:t>
            </a:r>
            <a:r>
              <a:rPr lang="en-US" altLang="zh-CN" sz="2800" b="1"/>
              <a:t>:</a:t>
            </a:r>
            <a:r>
              <a:rPr lang="zh-CN" altLang="en-US" sz="2800" b="1"/>
              <a:t>导出组</a:t>
            </a:r>
            <a:r>
              <a:rPr lang="en-US" altLang="zh-CN" sz="2800" b="1"/>
              <a:t>+</a:t>
            </a:r>
            <a:r>
              <a:rPr lang="zh-CN" altLang="en-US" sz="2800" b="1"/>
              <a:t>特解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19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D28B00-7F31-4BAE-83B3-BC64292066E6}"/>
              </a:ext>
            </a:extLst>
          </p:cNvPr>
          <p:cNvSpPr txBox="1"/>
          <p:nvPr/>
        </p:nvSpPr>
        <p:spPr>
          <a:xfrm>
            <a:off x="0" y="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线性无关性问题</a:t>
            </a:r>
            <a:endParaRPr lang="en-US" altLang="zh-CN" sz="3200" b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730CCB-14E7-49C8-B4B6-C5A9043E1B62}"/>
              </a:ext>
            </a:extLst>
          </p:cNvPr>
          <p:cNvSpPr txBox="1"/>
          <p:nvPr/>
        </p:nvSpPr>
        <p:spPr>
          <a:xfrm>
            <a:off x="0" y="842750"/>
            <a:ext cx="6174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(1)</a:t>
            </a:r>
            <a:r>
              <a:rPr lang="zh-CN" altLang="en-US" sz="2400" b="1"/>
              <a:t>线性组合</a:t>
            </a:r>
            <a:r>
              <a:rPr lang="en-US" altLang="zh-CN" sz="2400" b="1"/>
              <a:t>/</a:t>
            </a:r>
            <a:r>
              <a:rPr lang="zh-CN" altLang="en-US" sz="2400" b="1"/>
              <a:t>线性表出</a:t>
            </a:r>
            <a:r>
              <a:rPr lang="en-US" altLang="zh-CN" sz="2400" b="1"/>
              <a:t>: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9D17BBE-01E9-40B2-A7DC-11081FFCB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286112"/>
              </p:ext>
            </p:extLst>
          </p:nvPr>
        </p:nvGraphicFramePr>
        <p:xfrm>
          <a:off x="0" y="1428536"/>
          <a:ext cx="6657654" cy="121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469800" progId="Equation.DSMT4">
                  <p:embed/>
                </p:oleObj>
              </mc:Choice>
              <mc:Fallback>
                <p:oleObj name="Equation" r:id="rId2" imgW="25779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428536"/>
                        <a:ext cx="6657654" cy="121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97F7EEF-82EB-4241-897E-92CCD511BEBC}"/>
              </a:ext>
            </a:extLst>
          </p:cNvPr>
          <p:cNvSpPr txBox="1"/>
          <p:nvPr/>
        </p:nvSpPr>
        <p:spPr>
          <a:xfrm>
            <a:off x="0" y="2766873"/>
            <a:ext cx="6174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(2)</a:t>
            </a:r>
            <a:r>
              <a:rPr lang="zh-CN" altLang="en-US" sz="2400" b="1"/>
              <a:t>等价</a:t>
            </a:r>
            <a:r>
              <a:rPr lang="en-US" altLang="zh-CN" sz="2400" b="1"/>
              <a:t>:</a:t>
            </a:r>
            <a:r>
              <a:rPr lang="zh-CN" altLang="en-US" sz="2400" b="1"/>
              <a:t>两个向量组可以相互线性表出</a:t>
            </a:r>
            <a:endParaRPr lang="en-US" altLang="zh-CN" sz="2400" b="1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4A2938-0548-402C-9CED-63D0B64FD207}"/>
              </a:ext>
            </a:extLst>
          </p:cNvPr>
          <p:cNvSpPr txBox="1"/>
          <p:nvPr/>
        </p:nvSpPr>
        <p:spPr>
          <a:xfrm>
            <a:off x="0" y="3429000"/>
            <a:ext cx="6174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(3)</a:t>
            </a:r>
            <a:r>
              <a:rPr lang="zh-CN" altLang="en-US" sz="2400" b="1"/>
              <a:t>线性无关</a:t>
            </a:r>
            <a:r>
              <a:rPr lang="en-US" altLang="zh-CN" sz="2400" b="1"/>
              <a:t>/</a:t>
            </a:r>
            <a:r>
              <a:rPr lang="zh-CN" altLang="en-US" sz="2400" b="1"/>
              <a:t>有关</a:t>
            </a:r>
            <a:r>
              <a:rPr lang="en-US" altLang="zh-CN" sz="2400" b="1"/>
              <a:t>: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D040F36-0269-4758-9A02-12D7D399D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278985"/>
              </p:ext>
            </p:extLst>
          </p:nvPr>
        </p:nvGraphicFramePr>
        <p:xfrm>
          <a:off x="-1" y="4091126"/>
          <a:ext cx="6942819" cy="121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1760" imgH="495000" progId="Equation.DSMT4">
                  <p:embed/>
                </p:oleObj>
              </mc:Choice>
              <mc:Fallback>
                <p:oleObj name="Equation" r:id="rId4" imgW="28317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" y="4091126"/>
                        <a:ext cx="6942819" cy="1214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EB8A18B-2975-4ADB-B19D-53823935E6B9}"/>
              </a:ext>
            </a:extLst>
          </p:cNvPr>
          <p:cNvSpPr txBox="1"/>
          <p:nvPr/>
        </p:nvSpPr>
        <p:spPr>
          <a:xfrm>
            <a:off x="7022387" y="842750"/>
            <a:ext cx="4402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(4)</a:t>
            </a:r>
            <a:r>
              <a:rPr lang="zh-CN" altLang="en-US" sz="2400" b="1"/>
              <a:t>极大线性无关组</a:t>
            </a:r>
            <a:r>
              <a:rPr lang="en-US" altLang="zh-CN" sz="2400" b="1"/>
              <a:t>:</a:t>
            </a:r>
            <a:r>
              <a:rPr lang="zh-CN" altLang="en-US" sz="2400" b="1"/>
              <a:t>一个向量组的一个部分组称为一个极大线性无关组</a:t>
            </a:r>
            <a:r>
              <a:rPr lang="en-US" altLang="zh-CN" sz="2400" b="1"/>
              <a:t>,</a:t>
            </a:r>
            <a:r>
              <a:rPr lang="zh-CN" altLang="en-US" sz="2400" b="1"/>
              <a:t>如果这个部分是</a:t>
            </a:r>
            <a:r>
              <a:rPr lang="zh-CN" altLang="en-US" sz="2400" b="1">
                <a:solidFill>
                  <a:srgbClr val="FF0000"/>
                </a:solidFill>
                <a:highlight>
                  <a:srgbClr val="00FFFF"/>
                </a:highlight>
              </a:rPr>
              <a:t>线性无关</a:t>
            </a:r>
            <a:r>
              <a:rPr lang="zh-CN" altLang="en-US" sz="2400" b="1"/>
              <a:t>的</a:t>
            </a:r>
            <a:r>
              <a:rPr lang="en-US" altLang="zh-CN" sz="2400" b="1"/>
              <a:t>,</a:t>
            </a:r>
            <a:r>
              <a:rPr lang="zh-CN" altLang="en-US" sz="2400" b="1"/>
              <a:t>并且从这向量组中任意</a:t>
            </a:r>
            <a:r>
              <a:rPr lang="zh-CN" altLang="en-US" sz="2400" b="1">
                <a:solidFill>
                  <a:srgbClr val="FF0000"/>
                </a:solidFill>
                <a:highlight>
                  <a:srgbClr val="00FFFF"/>
                </a:highlight>
              </a:rPr>
              <a:t>添一个向量</a:t>
            </a:r>
            <a:r>
              <a:rPr lang="en-US" altLang="zh-CN" sz="2400" b="1">
                <a:solidFill>
                  <a:srgbClr val="FF0000"/>
                </a:solidFill>
                <a:highlight>
                  <a:srgbClr val="00FFFF"/>
                </a:highlight>
              </a:rPr>
              <a:t>,</a:t>
            </a:r>
            <a:r>
              <a:rPr lang="zh-CN" altLang="en-US" sz="2400" b="1">
                <a:solidFill>
                  <a:srgbClr val="FF0000"/>
                </a:solidFill>
                <a:highlight>
                  <a:srgbClr val="00FFFF"/>
                </a:highlight>
              </a:rPr>
              <a:t>所得的部分向量组都线性有关</a:t>
            </a:r>
            <a:r>
              <a:rPr lang="en-US" altLang="zh-CN" sz="2400" b="1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3098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6CA894-C164-49B9-B7C6-BC3E228C31FD}"/>
              </a:ext>
            </a:extLst>
          </p:cNvPr>
          <p:cNvSpPr txBox="1"/>
          <p:nvPr/>
        </p:nvSpPr>
        <p:spPr>
          <a:xfrm>
            <a:off x="-1712" y="0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(5)</a:t>
            </a:r>
            <a:r>
              <a:rPr lang="zh-CN" altLang="en-US" sz="2400" b="1"/>
              <a:t>其他结论</a:t>
            </a:r>
            <a:r>
              <a:rPr lang="en-US" altLang="zh-CN" sz="2400" b="1"/>
              <a:t>: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046C5A0-57FB-4BB4-AD7F-7D08CD482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07294"/>
              </p:ext>
            </p:extLst>
          </p:nvPr>
        </p:nvGraphicFramePr>
        <p:xfrm>
          <a:off x="-1" y="639851"/>
          <a:ext cx="9002818" cy="3223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800" imgH="1473120" progId="Equation.DSMT4">
                  <p:embed/>
                </p:oleObj>
              </mc:Choice>
              <mc:Fallback>
                <p:oleObj name="Equation" r:id="rId2" imgW="4114800" imgH="1473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" y="639851"/>
                        <a:ext cx="9002818" cy="3223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DB8E85-28FD-4BDA-AE2D-EB48F91D6C1A}"/>
                  </a:ext>
                </a:extLst>
              </p:cNvPr>
              <p:cNvSpPr txBox="1"/>
              <p:nvPr/>
            </p:nvSpPr>
            <p:spPr>
              <a:xfrm>
                <a:off x="-53082" y="3863082"/>
                <a:ext cx="61490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/>
                  <a:t>推论</a:t>
                </a:r>
                <a:r>
                  <a:rPr lang="en-US" altLang="zh-CN" sz="2400" b="1"/>
                  <a:t>2:</a:t>
                </a:r>
                <a:r>
                  <a:rPr lang="zh-CN" altLang="en-US" sz="2400" b="1"/>
                  <a:t>任意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sz="2400" b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个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维</m:t>
                    </m:r>
                  </m:oMath>
                </a14:m>
                <a:r>
                  <a:rPr lang="zh-CN" altLang="en-US" sz="2400" b="1"/>
                  <a:t>向量必定线性有关</a:t>
                </a:r>
                <a:r>
                  <a:rPr lang="en-US" altLang="zh-CN" sz="2400" b="1"/>
                  <a:t>.</a:t>
                </a:r>
                <a:endParaRPr lang="zh-CN" altLang="en-US" sz="2400" b="1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DB8E85-28FD-4BDA-AE2D-EB48F91D6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082" y="3863082"/>
                <a:ext cx="6149082" cy="461665"/>
              </a:xfrm>
              <a:prstGeom prst="rect">
                <a:avLst/>
              </a:prstGeom>
              <a:blipFill>
                <a:blip r:embed="rId4"/>
                <a:stretch>
                  <a:fillRect l="-1487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F2A395FF-3F6F-44A9-BF7E-C0FFD3ACA67D}"/>
              </a:ext>
            </a:extLst>
          </p:cNvPr>
          <p:cNvSpPr txBox="1"/>
          <p:nvPr/>
        </p:nvSpPr>
        <p:spPr>
          <a:xfrm>
            <a:off x="0" y="4324747"/>
            <a:ext cx="8306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推论</a:t>
            </a:r>
            <a:r>
              <a:rPr lang="en-US" altLang="zh-CN" sz="2400" b="1"/>
              <a:t>3:</a:t>
            </a:r>
            <a:r>
              <a:rPr lang="zh-CN" altLang="en-US" sz="2400" b="1"/>
              <a:t>两个线性无关的等价向量组</a:t>
            </a:r>
            <a:r>
              <a:rPr lang="en-US" altLang="zh-CN" sz="2400" b="1"/>
              <a:t>,</a:t>
            </a:r>
            <a:r>
              <a:rPr lang="zh-CN" altLang="en-US" sz="2400" b="1"/>
              <a:t>必定含有相同个数的向量</a:t>
            </a:r>
            <a:r>
              <a:rPr lang="en-US" altLang="zh-CN" sz="2400" b="1"/>
              <a:t>.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3437290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AFE58A-FA57-4EBD-911B-C4E46BA44E83}"/>
              </a:ext>
            </a:extLst>
          </p:cNvPr>
          <p:cNvSpPr txBox="1"/>
          <p:nvPr/>
        </p:nvSpPr>
        <p:spPr>
          <a:xfrm>
            <a:off x="0" y="0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/>
              <a:t>矩阵的秩</a:t>
            </a:r>
            <a:r>
              <a:rPr lang="en-US" altLang="zh-CN" sz="2800" b="1"/>
              <a:t>:</a:t>
            </a:r>
            <a:endParaRPr lang="zh-CN" altLang="en-US" sz="2800" b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1D72A7-20F2-4A3C-8126-D70C4C370529}"/>
              </a:ext>
            </a:extLst>
          </p:cNvPr>
          <p:cNvSpPr txBox="1"/>
          <p:nvPr/>
        </p:nvSpPr>
        <p:spPr>
          <a:xfrm>
            <a:off x="0" y="673227"/>
            <a:ext cx="92433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/>
              <a:t>(1):</a:t>
            </a:r>
            <a:r>
              <a:rPr lang="zh-CN" altLang="en-US" sz="2400" b="1"/>
              <a:t>行秩等于列秩</a:t>
            </a:r>
            <a:endParaRPr lang="en-US" altLang="zh-CN" sz="2400" b="1"/>
          </a:p>
          <a:p>
            <a:endParaRPr lang="en-US" altLang="zh-CN" sz="2400" b="1"/>
          </a:p>
          <a:p>
            <a:r>
              <a:rPr lang="en-US" altLang="zh-CN" sz="2400" b="1"/>
              <a:t>(2):</a:t>
            </a:r>
            <a:r>
              <a:rPr lang="zh-CN" altLang="en-US" sz="2400" b="1"/>
              <a:t>矩阵的秩本质上是向量组极大线性无关组的向量个数</a:t>
            </a:r>
            <a:endParaRPr lang="en-US" altLang="zh-CN" sz="2400" b="1"/>
          </a:p>
          <a:p>
            <a:endParaRPr lang="en-US" altLang="zh-CN" sz="2400" b="1"/>
          </a:p>
          <a:p>
            <a:r>
              <a:rPr lang="en-US" altLang="zh-CN" sz="2400" b="1"/>
              <a:t>(3):</a:t>
            </a:r>
            <a:r>
              <a:rPr lang="zh-CN" altLang="en-US" sz="2400" b="1"/>
              <a:t>矩阵的秩等于其在初等行变换下的阶梯型矩阵中非零行的数目</a:t>
            </a:r>
            <a:r>
              <a:rPr lang="en-US" altLang="zh-CN" sz="2400" b="1"/>
              <a:t>.</a:t>
            </a:r>
            <a:endParaRPr lang="zh-CN" altLang="en-US" sz="2400" b="1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6F6E5AA-49BC-4636-B86F-D2B1C74775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939402"/>
              </p:ext>
            </p:extLst>
          </p:nvPr>
        </p:nvGraphicFramePr>
        <p:xfrm>
          <a:off x="0" y="2852125"/>
          <a:ext cx="11699472" cy="68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56000" imgH="253800" progId="Equation.DSMT4">
                  <p:embed/>
                </p:oleObj>
              </mc:Choice>
              <mc:Fallback>
                <p:oleObj name="Equation" r:id="rId2" imgW="4356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852125"/>
                        <a:ext cx="11699472" cy="682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D045BEB-A29E-4CB1-BAFC-AA199CB94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680025"/>
              </p:ext>
            </p:extLst>
          </p:nvPr>
        </p:nvGraphicFramePr>
        <p:xfrm>
          <a:off x="1325436" y="3774215"/>
          <a:ext cx="8270627" cy="228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698400" progId="Equation.DSMT4">
                  <p:embed/>
                </p:oleObj>
              </mc:Choice>
              <mc:Fallback>
                <p:oleObj name="Equation" r:id="rId4" imgW="252720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5436" y="3774215"/>
                        <a:ext cx="8270627" cy="2285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483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393ED-2A99-4441-A58D-11DEE35B3061}"/>
              </a:ext>
            </a:extLst>
          </p:cNvPr>
          <p:cNvSpPr txBox="1"/>
          <p:nvPr/>
        </p:nvSpPr>
        <p:spPr>
          <a:xfrm>
            <a:off x="213188" y="1931810"/>
            <a:ext cx="4649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线性无关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8FDA80E-81A1-47A7-8680-0F1025AA027C}"/>
              </a:ext>
            </a:extLst>
          </p:cNvPr>
          <p:cNvSpPr/>
          <p:nvPr/>
        </p:nvSpPr>
        <p:spPr>
          <a:xfrm>
            <a:off x="1015855" y="2628951"/>
            <a:ext cx="1119883" cy="6678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0AB86D-9689-4A9F-A996-DC69A8604992}"/>
              </a:ext>
            </a:extLst>
          </p:cNvPr>
          <p:cNvSpPr txBox="1"/>
          <p:nvPr/>
        </p:nvSpPr>
        <p:spPr>
          <a:xfrm>
            <a:off x="2445878" y="1931810"/>
            <a:ext cx="5984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矩阵满秩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03EEC8A-2F3C-4EB8-9675-44B3FA1BB0A7}"/>
              </a:ext>
            </a:extLst>
          </p:cNvPr>
          <p:cNvSpPr/>
          <p:nvPr/>
        </p:nvSpPr>
        <p:spPr>
          <a:xfrm>
            <a:off x="3268460" y="2599977"/>
            <a:ext cx="1076219" cy="58439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EED4A7-B258-44E3-B4E6-EC528F21E4DA}"/>
              </a:ext>
            </a:extLst>
          </p:cNvPr>
          <p:cNvSpPr txBox="1"/>
          <p:nvPr/>
        </p:nvSpPr>
        <p:spPr>
          <a:xfrm>
            <a:off x="4568791" y="183548"/>
            <a:ext cx="59847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齐次线性方程组有唯一零解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C2071884-1775-414D-8906-639E9EFEF47B}"/>
              </a:ext>
            </a:extLst>
          </p:cNvPr>
          <p:cNvSpPr/>
          <p:nvPr/>
        </p:nvSpPr>
        <p:spPr>
          <a:xfrm>
            <a:off x="5381314" y="2539869"/>
            <a:ext cx="1183874" cy="6445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AE802F-FDE3-40B0-A584-620F8B2E4903}"/>
              </a:ext>
            </a:extLst>
          </p:cNvPr>
          <p:cNvSpPr txBox="1"/>
          <p:nvPr/>
        </p:nvSpPr>
        <p:spPr>
          <a:xfrm>
            <a:off x="6779241" y="599961"/>
            <a:ext cx="7495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/>
              <a:t>(</a:t>
            </a:r>
            <a:r>
              <a:rPr lang="zh-CN" altLang="en-US" sz="3200" b="1"/>
              <a:t>方阵</a:t>
            </a:r>
            <a:r>
              <a:rPr lang="en-US" altLang="zh-CN" sz="3200" b="1"/>
              <a:t>)</a:t>
            </a:r>
            <a:r>
              <a:rPr lang="zh-CN" altLang="en-US" sz="3200" b="1"/>
              <a:t>行列式不等于零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B5E5CC1-89BD-4DB0-BF91-45725070CAF3}"/>
              </a:ext>
            </a:extLst>
          </p:cNvPr>
          <p:cNvSpPr/>
          <p:nvPr/>
        </p:nvSpPr>
        <p:spPr>
          <a:xfrm>
            <a:off x="7688727" y="2539869"/>
            <a:ext cx="1239324" cy="6769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2AF6DA-7111-4F71-AFFE-F128D98821A1}"/>
              </a:ext>
            </a:extLst>
          </p:cNvPr>
          <p:cNvSpPr txBox="1"/>
          <p:nvPr/>
        </p:nvSpPr>
        <p:spPr>
          <a:xfrm>
            <a:off x="9122644" y="216016"/>
            <a:ext cx="6260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本身是一个极大线性无关组</a:t>
            </a:r>
          </a:p>
        </p:txBody>
      </p:sp>
    </p:spTree>
    <p:extLst>
      <p:ext uri="{BB962C8B-B14F-4D97-AF65-F5344CB8AC3E}">
        <p14:creationId xmlns:p14="http://schemas.microsoft.com/office/powerpoint/2010/main" val="1456580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61EB995-EF4D-47E6-923E-5E9D895DB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21277"/>
              </p:ext>
            </p:extLst>
          </p:nvPr>
        </p:nvGraphicFramePr>
        <p:xfrm>
          <a:off x="0" y="2632397"/>
          <a:ext cx="11726863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84600" imgH="444240" progId="Equation.DSMT4">
                  <p:embed/>
                </p:oleObj>
              </mc:Choice>
              <mc:Fallback>
                <p:oleObj name="Equation" r:id="rId2" imgW="4584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632397"/>
                        <a:ext cx="11726863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67EF5C0-B229-4669-98AC-1E1350AA0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35849"/>
              </p:ext>
            </p:extLst>
          </p:nvPr>
        </p:nvGraphicFramePr>
        <p:xfrm>
          <a:off x="-1" y="-29426"/>
          <a:ext cx="12118975" cy="118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40280" imgH="482400" progId="Equation.DSMT4">
                  <p:embed/>
                </p:oleObj>
              </mc:Choice>
              <mc:Fallback>
                <p:oleObj name="Equation" r:id="rId4" imgW="4940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" y="-29426"/>
                        <a:ext cx="12118975" cy="1183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0912236-BED6-40CA-9B85-8D6F3C5C02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532903"/>
              </p:ext>
            </p:extLst>
          </p:nvPr>
        </p:nvGraphicFramePr>
        <p:xfrm>
          <a:off x="0" y="4006850"/>
          <a:ext cx="1197610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92280" imgH="533160" progId="Equation.DSMT4">
                  <p:embed/>
                </p:oleObj>
              </mc:Choice>
              <mc:Fallback>
                <p:oleObj name="Equation" r:id="rId6" imgW="42922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4006850"/>
                        <a:ext cx="11976100" cy="1489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4ADCCC-D344-44AA-8E57-925EBF73E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108255"/>
              </p:ext>
            </p:extLst>
          </p:nvPr>
        </p:nvGraphicFramePr>
        <p:xfrm>
          <a:off x="-1" y="1123954"/>
          <a:ext cx="12062573" cy="1825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720" imgH="711000" progId="Equation.DSMT4">
                  <p:embed/>
                </p:oleObj>
              </mc:Choice>
              <mc:Fallback>
                <p:oleObj name="Equation" r:id="rId8" imgW="46987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-1" y="1123954"/>
                        <a:ext cx="12062573" cy="1825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82635C1-BEF1-4E4F-8F80-2DD083E61966}"/>
              </a:ext>
            </a:extLst>
          </p:cNvPr>
          <p:cNvSpPr txBox="1"/>
          <p:nvPr/>
        </p:nvSpPr>
        <p:spPr>
          <a:xfrm>
            <a:off x="0" y="5722701"/>
            <a:ext cx="11501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5: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已知两向量组有相同的秩，且其中之一可被另一个线性表出，证明：这两个向量组等价</a:t>
            </a:r>
            <a:endParaRPr lang="zh-CN" altLang="en-US" sz="3200" b="1"/>
          </a:p>
        </p:txBody>
      </p:sp>
    </p:spTree>
    <p:extLst>
      <p:ext uri="{BB962C8B-B14F-4D97-AF65-F5344CB8AC3E}">
        <p14:creationId xmlns:p14="http://schemas.microsoft.com/office/powerpoint/2010/main" val="264703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681</Words>
  <Application>Microsoft Office PowerPoint</Application>
  <PresentationFormat>宽屏</PresentationFormat>
  <Paragraphs>90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等线</vt:lpstr>
      <vt:lpstr>等线 Light</vt:lpstr>
      <vt:lpstr>宋体</vt:lpstr>
      <vt:lpstr>Arial</vt:lpstr>
      <vt:lpstr>Cambria Math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 志淇</dc:creator>
  <cp:lastModifiedBy>范 志淇</cp:lastModifiedBy>
  <cp:revision>63</cp:revision>
  <dcterms:created xsi:type="dcterms:W3CDTF">2021-04-17T02:52:24Z</dcterms:created>
  <dcterms:modified xsi:type="dcterms:W3CDTF">2021-04-25T04:30:51Z</dcterms:modified>
</cp:coreProperties>
</file>