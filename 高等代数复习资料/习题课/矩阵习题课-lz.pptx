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86" r:id="rId4"/>
    <p:sldId id="263" r:id="rId5"/>
    <p:sldId id="287" r:id="rId6"/>
    <p:sldId id="297" r:id="rId7"/>
    <p:sldId id="305" r:id="rId8"/>
    <p:sldId id="306" r:id="rId9"/>
    <p:sldId id="298" r:id="rId10"/>
    <p:sldId id="300" r:id="rId11"/>
    <p:sldId id="301" r:id="rId12"/>
    <p:sldId id="299" r:id="rId13"/>
    <p:sldId id="302" r:id="rId14"/>
    <p:sldId id="293" r:id="rId15"/>
    <p:sldId id="294" r:id="rId16"/>
    <p:sldId id="295" r:id="rId17"/>
    <p:sldId id="304" r:id="rId18"/>
    <p:sldId id="296" r:id="rId19"/>
    <p:sldId id="288" r:id="rId20"/>
    <p:sldId id="303" r:id="rId21"/>
    <p:sldId id="289" r:id="rId22"/>
    <p:sldId id="29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3A206-1827-4271-AE24-F4140E52FF5E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E97E4-CD01-400C-B801-C5BD5B4800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66875"/>
            <a:ext cx="12192000" cy="2208213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8" tIns="60949" rIns="121898" bIns="60949" anchor="ctr"/>
          <a:lstStyle/>
          <a:p>
            <a:pPr algn="ctr" defTabSz="1219200" fontAlgn="auto"/>
            <a:endParaRPr lang="zh-CN" altLang="en-US" sz="2400" noProof="1">
              <a:solidFill>
                <a:prstClr val="white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412875" y="2259013"/>
            <a:ext cx="9366250" cy="102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8" tIns="60949" rIns="121898" bIns="60949">
            <a:spAutoFit/>
          </a:bodyPr>
          <a:lstStyle>
            <a:lvl1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59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线性代数</a:t>
            </a:r>
            <a:r>
              <a:rPr lang="en-US" altLang="zh-CN" sz="59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59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矩阵及行列式</a:t>
            </a:r>
            <a:endParaRPr lang="zh-CN" sz="59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832100" y="4100513"/>
            <a:ext cx="6527800" cy="55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8" tIns="60949" rIns="121898" bIns="60949">
            <a:spAutoFit/>
          </a:bodyPr>
          <a:lstStyle>
            <a:lvl1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defTabSz="1219200"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defTabSz="121920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700" b="1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李赞</a:t>
            </a:r>
            <a:r>
              <a:rPr lang="zh-CN" altLang="en-US" sz="2700" b="1" dirty="0">
                <a:solidFill>
                  <a:srgbClr val="000000"/>
                </a:solidFill>
                <a:latin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>
                <a:spLocks noChangeArrowheads="1"/>
              </p:cNvSpPr>
              <p:nvPr/>
            </p:nvSpPr>
            <p:spPr bwMode="auto">
              <a:xfrm>
                <a:off x="3490328" y="4705649"/>
                <a:ext cx="6527800" cy="177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898" tIns="60949" rIns="121898" bIns="60949">
                <a:spAutoFit/>
              </a:bodyPr>
              <a:lstStyle>
                <a:lvl1pPr defTabSz="1219200"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1pPr>
                <a:lvl2pPr defTabSz="1219200"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2pPr>
                <a:lvl3pPr defTabSz="1219200"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3pPr>
                <a:lvl4pPr defTabSz="1219200"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4pPr>
                <a:lvl5pPr defTabSz="1219200"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5pPr>
                <a:lvl6pPr defTabSz="1219200" fontAlgn="base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6pPr>
                <a:lvl7pPr defTabSz="1219200" fontAlgn="base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7pPr>
                <a:lvl8pPr defTabSz="1219200" fontAlgn="base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8pPr>
                <a:lvl9pPr defTabSz="1219200" fontAlgn="base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tx1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 *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 =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0328" y="4705649"/>
                <a:ext cx="6527800" cy="17728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B92389C-0B71-4EC1-B230-918A4FE90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268" y="38399"/>
            <a:ext cx="5048250" cy="4667250"/>
          </a:xfrm>
          <a:prstGeom prst="rect">
            <a:avLst/>
          </a:prstGeom>
          <a:noFill/>
          <a:scene3d>
            <a:camera prst="orthographicFront">
              <a:rot lat="0" lon="10799977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A460EE25-6639-4739-9D86-B69D335AB039}"/>
              </a:ext>
            </a:extLst>
          </p:cNvPr>
          <p:cNvSpPr txBox="1">
            <a:spLocks noChangeArrowheads="1"/>
          </p:cNvSpPr>
          <p:nvPr/>
        </p:nvSpPr>
        <p:spPr bwMode="auto">
          <a:xfrm rot="19910836">
            <a:off x="-450328" y="-1091387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有什么用</a:t>
            </a:r>
            <a:r>
              <a:rPr lang="en-US" altLang="zh-CN" sz="3600" dirty="0"/>
              <a:t>?</a:t>
            </a:r>
            <a:endParaRPr lang="zh-CN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29996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概念：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745633" y="1551524"/>
            <a:ext cx="101647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行矩阵（行向量）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列矩阵（列向量）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对角阵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上下三角阵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CBEF9B-3B4A-4D47-A3FD-43435567C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671" y="0"/>
            <a:ext cx="4846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93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619799" y="1551524"/>
            <a:ext cx="101647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 = B ⇔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ij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ij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 + B ⇔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ij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ij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交换律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+ B = B + A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结合律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 + B) + C = A + (B + C)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98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619799" y="1551524"/>
            <a:ext cx="101647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⇔ 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λ ·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ij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pt-BR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分配律 </a:t>
            </a:r>
            <a:r>
              <a:rPr lang="pt-BR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(λ + µ) A = λA + µA</a:t>
            </a:r>
          </a:p>
          <a:p>
            <a:r>
              <a:rPr lang="pt-BR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λ (A + B) = λA + λB</a:t>
            </a:r>
          </a:p>
          <a:p>
            <a:r>
              <a:rPr lang="pt-BR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(λµ)A = λ(µA) + µ(λA)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A*B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（只有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的列数等于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的行数才能够相乘）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结合律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(AB) C = A (BC)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分配律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 + B) C = AC + BC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C (A + B) = CA + CB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A*A*……*A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相乘）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7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720467" y="1551524"/>
            <a:ext cx="1016471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– B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= </a:t>
            </a:r>
            <a:r>
              <a:rPr lang="zh-CN" altLang="zh-CN" sz="2800" dirty="0"/>
              <a:t>（</a:t>
            </a:r>
            <a:r>
              <a:rPr lang="en-US" altLang="zh-CN" sz="2800" dirty="0"/>
              <a:t>A + B</a:t>
            </a:r>
            <a:r>
              <a:rPr lang="zh-CN" altLang="zh-CN" sz="2800" dirty="0"/>
              <a:t>）（</a:t>
            </a:r>
            <a:r>
              <a:rPr lang="en-US" altLang="zh-CN" sz="2800" dirty="0"/>
              <a:t>A - B</a:t>
            </a:r>
            <a:r>
              <a:rPr lang="zh-CN" altLang="zh-CN" sz="2800" dirty="0"/>
              <a:t>）的充分必要条件是？</a:t>
            </a:r>
          </a:p>
          <a:p>
            <a:r>
              <a:rPr lang="en-US" altLang="zh-CN" sz="2800" dirty="0"/>
              <a:t>1. AB = E</a:t>
            </a:r>
            <a:endParaRPr lang="zh-CN" altLang="zh-CN" sz="2800" dirty="0"/>
          </a:p>
          <a:p>
            <a:r>
              <a:rPr lang="en-US" altLang="zh-CN" sz="2800" dirty="0"/>
              <a:t>2. BA = E</a:t>
            </a:r>
            <a:endParaRPr lang="zh-CN" altLang="zh-CN" sz="2800" dirty="0"/>
          </a:p>
          <a:p>
            <a:r>
              <a:rPr lang="en-US" altLang="zh-CN" sz="2800" dirty="0"/>
              <a:t>3. AB = BA</a:t>
            </a:r>
            <a:endParaRPr lang="zh-CN" altLang="zh-CN" sz="2800" dirty="0"/>
          </a:p>
          <a:p>
            <a:r>
              <a:rPr lang="en-US" altLang="zh-CN" sz="2800" dirty="0"/>
              <a:t>4. A = 0</a:t>
            </a:r>
            <a:r>
              <a:rPr lang="zh-CN" altLang="zh-CN" sz="2800" dirty="0"/>
              <a:t>或 </a:t>
            </a:r>
            <a:r>
              <a:rPr lang="en-US" altLang="zh-CN" sz="2800" dirty="0"/>
              <a:t>B = 0</a:t>
            </a:r>
            <a:endParaRPr lang="zh-CN" altLang="zh-CN" sz="2800" dirty="0"/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EA3951-3DAC-45B7-A419-0D31A8C492FB}"/>
              </a:ext>
            </a:extLst>
          </p:cNvPr>
          <p:cNvSpPr/>
          <p:nvPr/>
        </p:nvSpPr>
        <p:spPr>
          <a:xfrm>
            <a:off x="720467" y="3992684"/>
            <a:ext cx="4929555" cy="32008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A + B</a:t>
            </a:r>
            <a:r>
              <a:rPr lang="zh-CN" altLang="zh-CN" sz="3200" dirty="0">
                <a:solidFill>
                  <a:srgbClr val="FF0000"/>
                </a:solidFill>
              </a:rPr>
              <a:t>）（</a:t>
            </a:r>
            <a:r>
              <a:rPr lang="en-US" altLang="zh-CN" sz="3200" dirty="0">
                <a:solidFill>
                  <a:srgbClr val="FF0000"/>
                </a:solidFill>
              </a:rPr>
              <a:t>A - B</a:t>
            </a:r>
            <a:r>
              <a:rPr lang="zh-CN" altLang="zh-CN" sz="3200" dirty="0">
                <a:solidFill>
                  <a:srgbClr val="FF0000"/>
                </a:solidFill>
              </a:rPr>
              <a:t>）</a:t>
            </a:r>
            <a:r>
              <a:rPr lang="en-US" altLang="zh-CN" sz="3200" dirty="0">
                <a:solidFill>
                  <a:srgbClr val="FF0000"/>
                </a:solidFill>
              </a:rPr>
              <a:t>0 </a:t>
            </a:r>
            <a:endParaRPr lang="zh-CN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= A</a:t>
            </a:r>
            <a:r>
              <a:rPr lang="zh-CN" altLang="zh-CN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A - B</a:t>
            </a:r>
            <a:r>
              <a:rPr lang="zh-CN" altLang="zh-CN" sz="3200" dirty="0">
                <a:solidFill>
                  <a:srgbClr val="FF0000"/>
                </a:solidFill>
              </a:rPr>
              <a:t>）</a:t>
            </a:r>
            <a:r>
              <a:rPr lang="en-US" altLang="zh-CN" sz="3200" dirty="0">
                <a:solidFill>
                  <a:srgbClr val="FF0000"/>
                </a:solidFill>
              </a:rPr>
              <a:t>+ B</a:t>
            </a:r>
            <a:r>
              <a:rPr lang="zh-CN" altLang="zh-CN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A - B</a:t>
            </a:r>
            <a:r>
              <a:rPr lang="zh-CN" altLang="zh-CN" sz="3200" dirty="0">
                <a:solidFill>
                  <a:srgbClr val="FF0000"/>
                </a:solidFill>
              </a:rPr>
              <a:t>）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= A</a:t>
            </a:r>
            <a:r>
              <a:rPr lang="en-US" altLang="zh-CN" sz="3200" baseline="30000" dirty="0">
                <a:solidFill>
                  <a:srgbClr val="FF0000"/>
                </a:solidFill>
              </a:rPr>
              <a:t>2</a:t>
            </a:r>
            <a:r>
              <a:rPr lang="en-US" altLang="zh-CN" sz="3200" dirty="0">
                <a:solidFill>
                  <a:srgbClr val="FF0000"/>
                </a:solidFill>
              </a:rPr>
              <a:t> -AB + BA – B</a:t>
            </a:r>
            <a:r>
              <a:rPr lang="en-US" altLang="zh-CN" sz="3200" baseline="30000" dirty="0">
                <a:solidFill>
                  <a:srgbClr val="FF0000"/>
                </a:solidFill>
              </a:rPr>
              <a:t>2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endParaRPr lang="zh-CN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 </a:t>
            </a:r>
            <a:endParaRPr lang="zh-CN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BA - AB  =  0</a:t>
            </a:r>
            <a:endParaRPr lang="zh-CN" altLang="zh-CN" sz="3200" dirty="0">
              <a:solidFill>
                <a:srgbClr val="FF0000"/>
              </a:solidFill>
            </a:endParaRPr>
          </a:p>
          <a:p>
            <a:pPr algn="just"/>
            <a:endParaRPr lang="en-US" altLang="zh-CN" sz="2400" dirty="0"/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51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720467" y="1551524"/>
                <a:ext cx="10164715" cy="1601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800" dirty="0"/>
                  <a:t>若</a:t>
                </a:r>
                <a:r>
                  <a:rPr lang="en-US" altLang="zh-CN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，</a:t>
                </a:r>
                <a:r>
                  <a:rPr lang="en-US" altLang="zh-CN" sz="2800" dirty="0"/>
                  <a:t>n</a:t>
                </a:r>
                <a:r>
                  <a:rPr lang="zh-CN" altLang="zh-CN" sz="2800" dirty="0"/>
                  <a:t>为大于</a:t>
                </a:r>
                <a:r>
                  <a:rPr lang="en-US" altLang="zh-CN" sz="2800" dirty="0"/>
                  <a:t>2</a:t>
                </a:r>
                <a:r>
                  <a:rPr lang="zh-CN" altLang="zh-CN" sz="2800" dirty="0"/>
                  <a:t>的正整数，求</a:t>
                </a:r>
                <a:r>
                  <a:rPr lang="en-US" altLang="zh-CN" sz="2800" dirty="0"/>
                  <a:t>A</a:t>
                </a:r>
                <a:r>
                  <a:rPr lang="en-US" altLang="zh-CN" sz="2800" baseline="30000" dirty="0"/>
                  <a:t>n</a:t>
                </a:r>
                <a:r>
                  <a:rPr lang="en-US" altLang="zh-CN" sz="2800" dirty="0"/>
                  <a:t>-2*A</a:t>
                </a:r>
                <a:r>
                  <a:rPr lang="en-US" altLang="zh-CN" sz="2800" baseline="30000" dirty="0"/>
                  <a:t>n-1</a:t>
                </a:r>
                <a:r>
                  <a:rPr lang="zh-CN" altLang="zh-CN" sz="2800" dirty="0"/>
                  <a:t>的值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endPara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1551524"/>
                <a:ext cx="10164715" cy="1601079"/>
              </a:xfrm>
              <a:prstGeom prst="rect">
                <a:avLst/>
              </a:prstGeom>
              <a:blipFill>
                <a:blip r:embed="rId2"/>
                <a:stretch>
                  <a:fillRect l="-1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43EA3951-3DAC-45B7-A419-0D31A8C492FB}"/>
              </a:ext>
            </a:extLst>
          </p:cNvPr>
          <p:cNvSpPr/>
          <p:nvPr/>
        </p:nvSpPr>
        <p:spPr>
          <a:xfrm>
            <a:off x="839506" y="3429000"/>
            <a:ext cx="670376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7200" dirty="0">
                <a:solidFill>
                  <a:srgbClr val="FF0000"/>
                </a:solidFill>
              </a:rPr>
              <a:t>0</a:t>
            </a:r>
            <a:endParaRPr lang="zh-CN" altLang="zh-CN" sz="6000" dirty="0">
              <a:solidFill>
                <a:srgbClr val="FF0000"/>
              </a:solidFill>
            </a:endParaRPr>
          </a:p>
          <a:p>
            <a:pPr algn="just"/>
            <a:endParaRPr lang="en-US" altLang="zh-CN" sz="2400" dirty="0"/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7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720467" y="1551524"/>
                <a:ext cx="10164715" cy="1438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dirty="0"/>
                  <a:t>已知</a:t>
                </a:r>
                <a:r>
                  <a:rPr lang="en-US" altLang="zh-CN" sz="2400" dirty="0"/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，求</a:t>
                </a:r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n </a:t>
                </a:r>
                <a:r>
                  <a:rPr lang="en-US" altLang="zh-CN" sz="2400" dirty="0"/>
                  <a:t>= </a:t>
                </a:r>
                <a:r>
                  <a:rPr lang="zh-CN" altLang="zh-CN" sz="2400" dirty="0"/>
                  <a:t>？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endPara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1551524"/>
                <a:ext cx="10164715" cy="1438279"/>
              </a:xfrm>
              <a:prstGeom prst="rect">
                <a:avLst/>
              </a:prstGeom>
              <a:blipFill>
                <a:blip r:embed="rId2"/>
                <a:stretch>
                  <a:fillRect l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/>
              <p:nvPr/>
            </p:nvSpPr>
            <p:spPr>
              <a:xfrm>
                <a:off x="720467" y="2896764"/>
                <a:ext cx="6907019" cy="13459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altLang="zh-CN" sz="2400" b="0" i="0" smtClean="0"/>
                      <m:t>∗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zh-CN" altLang="zh-CN" sz="2400" dirty="0"/>
              </a:p>
              <a:p>
                <a:pPr algn="just">
                  <a:spcAft>
                    <a:spcPts val="0"/>
                  </a:spcAft>
                </a:pP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2896764"/>
                <a:ext cx="6907019" cy="1345946"/>
              </a:xfrm>
              <a:prstGeom prst="rect">
                <a:avLst/>
              </a:prstGeom>
              <a:blipFill>
                <a:blip r:embed="rId3"/>
                <a:stretch>
                  <a:fillRect l="-1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/>
              <p:nvPr/>
            </p:nvSpPr>
            <p:spPr>
              <a:xfrm>
                <a:off x="720980" y="4120807"/>
                <a:ext cx="7865999" cy="31926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n</a:t>
                </a:r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aseline="30000" dirty="0"/>
                  <a:t>n</a:t>
                </a:r>
                <a:endParaRPr lang="zh-CN" altLang="zh-CN" sz="2400" dirty="0"/>
              </a:p>
              <a:p>
                <a:pPr algn="just"/>
                <a:r>
                  <a:rPr lang="en-US" altLang="zh-CN" sz="24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/>
                  <a:t>*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/>
                  <a:t>*……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/>
                  <a:t>*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/>
                  <a:t>*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/>
                  <a:t>*……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/>
                  <a:t>*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aseline="30000" dirty="0" smtClean="0"/>
                      <m:t>n</m:t>
                    </m:r>
                    <m:r>
                      <m:rPr>
                        <m:nor/>
                      </m:rPr>
                      <a:rPr lang="en-US" altLang="zh-CN" sz="2400" b="0" i="0" baseline="30000" dirty="0" smtClean="0"/>
                      <m:t>−1   </m:t>
                    </m:r>
                    <m:r>
                      <m:rPr>
                        <m:nor/>
                      </m:rPr>
                      <a:rPr lang="en-US" altLang="zh-CN" sz="2400"/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= (-7)</a:t>
                </a:r>
                <a:r>
                  <a:rPr lang="en-US" altLang="zh-CN" sz="2400" baseline="30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aseline="30000" dirty="0"/>
                      <m:t>n</m:t>
                    </m:r>
                    <m:r>
                      <m:rPr>
                        <m:nor/>
                      </m:rPr>
                      <a:rPr lang="en-US" altLang="zh-CN" sz="2400" baseline="30000" dirty="0"/>
                      <m:t>−1</m:t>
                    </m:r>
                  </m:oMath>
                </a14:m>
                <a:r>
                  <a:rPr lang="en-US" altLang="zh-CN" sz="2400" dirty="0"/>
                  <a:t> A</a:t>
                </a:r>
              </a:p>
              <a:p>
                <a:pPr algn="just"/>
                <a:endParaRPr lang="en-US" altLang="zh-CN" sz="2400" dirty="0"/>
              </a:p>
              <a:p>
                <a:pPr algn="just">
                  <a:spcAft>
                    <a:spcPts val="0"/>
                  </a:spcAft>
                </a:pP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80" y="4120807"/>
                <a:ext cx="7865999" cy="3192605"/>
              </a:xfrm>
              <a:prstGeom prst="rect">
                <a:avLst/>
              </a:prstGeom>
              <a:blipFill>
                <a:blip r:embed="rId4"/>
                <a:stretch>
                  <a:fillRect l="-1162" t="-1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97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720467" y="1551524"/>
                <a:ext cx="10164715" cy="1438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dirty="0"/>
                  <a:t>已知</a:t>
                </a:r>
                <a:r>
                  <a:rPr lang="en-US" altLang="zh-CN" sz="2400" dirty="0"/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dirty="0"/>
                  <a:t>，求</a:t>
                </a:r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n </a:t>
                </a:r>
                <a:r>
                  <a:rPr lang="en-US" altLang="zh-CN" sz="2400" dirty="0"/>
                  <a:t>= </a:t>
                </a:r>
                <a:r>
                  <a:rPr lang="zh-CN" altLang="zh-CN" sz="2400" dirty="0"/>
                  <a:t>？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endPara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1551524"/>
                <a:ext cx="10164715" cy="1438279"/>
              </a:xfrm>
              <a:prstGeom prst="rect">
                <a:avLst/>
              </a:prstGeom>
              <a:blipFill>
                <a:blip r:embed="rId2"/>
                <a:stretch>
                  <a:fillRect l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/>
              <p:nvPr/>
            </p:nvSpPr>
            <p:spPr>
              <a:xfrm>
                <a:off x="658754" y="2799251"/>
                <a:ext cx="5396606" cy="10689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0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altLang="zh-CN" sz="2400" b="0" i="0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E</m:t>
                    </m:r>
                    <m:r>
                      <a:rPr lang="en-US" altLang="zh-CN" sz="2400" b="0" i="0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2400" b="0" i="0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54" y="2799251"/>
                <a:ext cx="5396606" cy="1068947"/>
              </a:xfrm>
              <a:prstGeom prst="rect">
                <a:avLst/>
              </a:prstGeom>
              <a:blipFill>
                <a:blip r:embed="rId3"/>
                <a:stretch>
                  <a:fillRect l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/>
              <p:nvPr/>
            </p:nvSpPr>
            <p:spPr>
              <a:xfrm>
                <a:off x="658754" y="3894839"/>
                <a:ext cx="8168455" cy="2823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n</a:t>
                </a:r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E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baseline="30000" dirty="0"/>
                  <a:t>n</a:t>
                </a:r>
                <a:endParaRPr lang="zh-CN" altLang="zh-CN" sz="2400" dirty="0"/>
              </a:p>
              <a:p>
                <a:pPr algn="just"/>
                <a:r>
                  <a:rPr lang="en-US" altLang="zh-CN" sz="24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400" baseline="30000" dirty="0"/>
                  <a:t>n</a:t>
                </a:r>
                <a:r>
                  <a:rPr lang="en-US" altLang="zh-CN" sz="2400" dirty="0"/>
                  <a:t>+ </a:t>
                </a:r>
                <a:r>
                  <a:rPr lang="en-US" altLang="zh-CN" sz="2400" dirty="0" err="1"/>
                  <a:t>nE</a:t>
                </a:r>
                <a:r>
                  <a:rPr lang="en-US" altLang="zh-CN" sz="2400" baseline="30000" dirty="0"/>
                  <a:t> n-1 </a:t>
                </a:r>
                <a:r>
                  <a:rPr lang="en-US" altLang="zh-CN" sz="2400" dirty="0"/>
                  <a:t>X</a:t>
                </a:r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 +  n(n-1)/2 E</a:t>
                </a:r>
                <a:r>
                  <a:rPr lang="en-US" altLang="zh-CN" sz="2400" baseline="30000" dirty="0"/>
                  <a:t> n-2 </a:t>
                </a:r>
                <a:r>
                  <a:rPr lang="en-US" altLang="zh-CN" sz="2400" dirty="0"/>
                  <a:t>X</a:t>
                </a:r>
                <a:r>
                  <a:rPr lang="en-US" altLang="zh-CN" sz="2400" baseline="30000" dirty="0"/>
                  <a:t> 2 </a:t>
                </a:r>
                <a:r>
                  <a:rPr lang="en-US" altLang="zh-CN" sz="2400" dirty="0"/>
                  <a:t>……X</a:t>
                </a:r>
                <a:r>
                  <a:rPr lang="en-US" altLang="zh-CN" sz="2400" baseline="30000" dirty="0"/>
                  <a:t> n</a:t>
                </a:r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/>
                  <a:t>+   n       X</a:t>
                </a:r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 +  n(n-1)/2       </a:t>
                </a:r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X</a:t>
                </a:r>
                <a:r>
                  <a:rPr lang="en-US" altLang="zh-CN" sz="2400" baseline="30000" dirty="0"/>
                  <a:t> 2 </a:t>
                </a:r>
                <a:r>
                  <a:rPr lang="en-US" altLang="zh-CN" sz="2400" dirty="0"/>
                  <a:t>……X</a:t>
                </a:r>
                <a:r>
                  <a:rPr lang="en-US" altLang="zh-CN" sz="2400" baseline="30000" dirty="0"/>
                  <a:t> n</a:t>
                </a:r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    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/>
                  <a:t>+   n       X</a:t>
                </a:r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 +  n(n-1)/2       </a:t>
                </a:r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X</a:t>
                </a:r>
                <a:r>
                  <a:rPr lang="en-US" altLang="zh-CN" sz="2400" baseline="30000" dirty="0"/>
                  <a:t> 2</a:t>
                </a:r>
              </a:p>
              <a:p>
                <a:pPr algn="just"/>
                <a:r>
                  <a:rPr lang="en-US" altLang="zh-CN" sz="2400" baseline="30000" dirty="0"/>
                  <a:t>        </a:t>
                </a:r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/>
                  <a:t>+   n</a:t>
                </a:r>
                <a:r>
                  <a:rPr lang="zh-CN" altLang="zh-CN" sz="24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baseline="30000" dirty="0"/>
                  <a:t> </a:t>
                </a:r>
                <a:r>
                  <a:rPr lang="en-US" altLang="zh-CN" sz="2400" dirty="0"/>
                  <a:t> +  n(n-1)/2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zh-CN" altLang="zh-CN" sz="24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  <a:p>
                <a:pPr algn="just">
                  <a:spcAft>
                    <a:spcPts val="0"/>
                  </a:spcAft>
                </a:pP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54" y="3894839"/>
                <a:ext cx="8168455" cy="2823273"/>
              </a:xfrm>
              <a:prstGeom prst="rect">
                <a:avLst/>
              </a:prstGeom>
              <a:blipFill>
                <a:blip r:embed="rId4"/>
                <a:stretch>
                  <a:fillRect l="-1119" t="-1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05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运算：</a:t>
            </a:r>
            <a:endParaRPr lang="zh-CN" altLang="zh-C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720467" y="1551524"/>
                <a:ext cx="10164715" cy="1611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dirty="0"/>
                  <a:t>已知</a:t>
                </a:r>
                <a:r>
                  <a:rPr lang="en-US" altLang="zh-CN" sz="2400" dirty="0"/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400" dirty="0"/>
                  <a:t>，求</a:t>
                </a:r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3 </a:t>
                </a:r>
                <a:r>
                  <a:rPr lang="en-US" altLang="zh-CN" sz="2400" dirty="0"/>
                  <a:t>= </a:t>
                </a:r>
                <a:r>
                  <a:rPr lang="zh-CN" altLang="zh-CN" sz="2400" dirty="0"/>
                  <a:t>？</a:t>
                </a:r>
              </a:p>
              <a:p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endPara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1551524"/>
                <a:ext cx="10164715" cy="1611339"/>
              </a:xfrm>
              <a:prstGeom prst="rect">
                <a:avLst/>
              </a:prstGeom>
              <a:blipFill>
                <a:blip r:embed="rId2"/>
                <a:stretch>
                  <a:fillRect l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/>
              <p:nvPr/>
            </p:nvSpPr>
            <p:spPr>
              <a:xfrm>
                <a:off x="704438" y="2935635"/>
                <a:ext cx="5592621" cy="15190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aseline="30000" dirty="0"/>
                  <a:t>3 </a:t>
                </a:r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altLang="zh-CN" sz="2000" baseline="30000" dirty="0"/>
                      <m:t>3</m:t>
                    </m:r>
                    <m:r>
                      <a:rPr lang="en-US" altLang="zh-CN" sz="2000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baseline="30000" dirty="0"/>
                  <a:t>3</a:t>
                </a:r>
                <a:r>
                  <a:rPr lang="en-US" altLang="zh-CN" sz="24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30000" dirty="0"/>
                                <m:t>3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nor/>
                                </m:rPr>
                                <a:rPr lang="en-US" altLang="zh-CN" baseline="30000" dirty="0"/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baseline="30000" dirty="0"/>
                  <a:t> </a:t>
                </a:r>
                <a:endParaRPr lang="zh-CN" altLang="zh-CN" dirty="0"/>
              </a:p>
              <a:p>
                <a:pPr algn="just">
                  <a:spcAft>
                    <a:spcPts val="0"/>
                  </a:spcAft>
                </a:pP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36DE6B7-BF61-4E59-A815-775C0FA14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38" y="2935635"/>
                <a:ext cx="5592621" cy="1519006"/>
              </a:xfrm>
              <a:prstGeom prst="rect">
                <a:avLst/>
              </a:prstGeom>
              <a:blipFill>
                <a:blip r:embed="rId3"/>
                <a:stretch>
                  <a:fillRect l="-1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/>
              <p:nvPr/>
            </p:nvSpPr>
            <p:spPr>
              <a:xfrm>
                <a:off x="720467" y="4463117"/>
                <a:ext cx="3358035" cy="1927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dirty="0"/>
                  <a:t>A</a:t>
                </a:r>
                <a:r>
                  <a:rPr lang="en-US" altLang="zh-CN" sz="2400" baseline="30000" dirty="0"/>
                  <a:t>3</a:t>
                </a:r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pPr algn="just"/>
                <a:endParaRPr lang="en-US" altLang="zh-CN" sz="2400" dirty="0"/>
              </a:p>
              <a:p>
                <a:pPr algn="just">
                  <a:spcAft>
                    <a:spcPts val="0"/>
                  </a:spcAft>
                </a:pP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3EA3951-3DAC-45B7-A419-0D31A8C49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7" y="4463117"/>
                <a:ext cx="3358035" cy="1927579"/>
              </a:xfrm>
              <a:prstGeom prst="rect">
                <a:avLst/>
              </a:prstGeom>
              <a:blipFill>
                <a:blip r:embed="rId4"/>
                <a:stretch>
                  <a:fillRect l="-2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88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转置：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619799" y="1551524"/>
            <a:ext cx="101647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</a:t>
            </a:r>
            <a:r>
              <a:rPr lang="en-US" altLang="zh-CN" sz="2400" baseline="30000" dirty="0"/>
              <a:t>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⇔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ji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A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(A + B)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B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</a:t>
            </a:r>
          </a:p>
          <a:p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 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(AB)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B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endParaRPr lang="de-DE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对称矩阵 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</a:p>
          <a:p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反对称矩阵 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T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−A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88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转置：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619799" y="1551524"/>
            <a:ext cx="104285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阶对称矩阵，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阶反对称矩阵，则下列矩阵为反对称矩阵的是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).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AB-BA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AB+BA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BAB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乘号 9">
            <a:extLst>
              <a:ext uri="{FF2B5EF4-FFF2-40B4-BE49-F238E27FC236}">
                <a16:creationId xmlns:a16="http://schemas.microsoft.com/office/drawing/2014/main" id="{C75C91E9-D180-47C3-B730-646DC31A9037}"/>
              </a:ext>
            </a:extLst>
          </p:cNvPr>
          <p:cNvSpPr/>
          <p:nvPr/>
        </p:nvSpPr>
        <p:spPr>
          <a:xfrm>
            <a:off x="2867025" y="2276475"/>
            <a:ext cx="495300" cy="5143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乘号 10">
            <a:extLst>
              <a:ext uri="{FF2B5EF4-FFF2-40B4-BE49-F238E27FC236}">
                <a16:creationId xmlns:a16="http://schemas.microsoft.com/office/drawing/2014/main" id="{33A47080-4D7E-4AF6-8B58-8541BC8A7B66}"/>
              </a:ext>
            </a:extLst>
          </p:cNvPr>
          <p:cNvSpPr/>
          <p:nvPr/>
        </p:nvSpPr>
        <p:spPr>
          <a:xfrm>
            <a:off x="2867025" y="2633177"/>
            <a:ext cx="495300" cy="5143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乘号 11">
            <a:extLst>
              <a:ext uri="{FF2B5EF4-FFF2-40B4-BE49-F238E27FC236}">
                <a16:creationId xmlns:a16="http://schemas.microsoft.com/office/drawing/2014/main" id="{5DE394B1-8CC5-400D-AB40-639F03BD3A57}"/>
              </a:ext>
            </a:extLst>
          </p:cNvPr>
          <p:cNvSpPr/>
          <p:nvPr/>
        </p:nvSpPr>
        <p:spPr>
          <a:xfrm>
            <a:off x="2867025" y="3279508"/>
            <a:ext cx="495300" cy="5143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02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矩阵的逆：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66125" y="1551524"/>
            <a:ext cx="101647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如果存在一个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 = E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可逆，且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B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A</a:t>
            </a:r>
          </a:p>
          <a:p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</a:t>
            </a:r>
            <a:r>
              <a:rPr lang="de-DE" altLang="zh-CN" sz="2400" baseline="30000" dirty="0">
                <a:solidFill>
                  <a:srgbClr val="FF0000"/>
                </a:solidFill>
              </a:rPr>
              <a:t>-1 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-1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(AB)</a:t>
            </a:r>
            <a:r>
              <a:rPr lang="de-DE" altLang="zh-CN" sz="2400" baseline="30000" dirty="0">
                <a:solidFill>
                  <a:srgbClr val="FF0000"/>
                </a:solidFill>
              </a:rPr>
              <a:t>-1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B</a:t>
            </a:r>
            <a:r>
              <a:rPr lang="de-DE" altLang="zh-CN" sz="2400" baseline="30000" dirty="0">
                <a:solidFill>
                  <a:srgbClr val="FF0000"/>
                </a:solidFill>
              </a:rPr>
              <a:t>-1</a:t>
            </a:r>
            <a:r>
              <a:rPr lang="de-DE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de-DE" altLang="zh-CN" sz="2400" baseline="30000" dirty="0">
                <a:solidFill>
                  <a:srgbClr val="FF0000"/>
                </a:solidFill>
              </a:rPr>
              <a:t>-1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</a:t>
            </a:r>
          </a:p>
          <a:p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n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rgbClr val="FF0000"/>
                </a:solidFill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-1</a:t>
            </a:r>
            <a:endParaRPr lang="de-DE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de-DE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12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怎么求逆？：</a:t>
            </a:r>
            <a:endParaRPr lang="zh-CN" altLang="zh-CN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191960" y="1551524"/>
                <a:ext cx="10164715" cy="4013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公式法：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zh-CN" sz="2800" baseline="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−1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ad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）</m:t>
                      </m:r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初等变换法：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| E</a:t>
                </a:r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-&gt;</a:t>
                </a:r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 | A</a:t>
                </a:r>
                <a:r>
                  <a:rPr lang="en-US" altLang="zh-CN" sz="3200" baseline="3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-1</a:t>
                </a:r>
                <a:r>
                  <a:rPr lang="zh-CN" altLang="en-US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-&gt;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3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CN" sz="3200" baseline="300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60" y="1551524"/>
                <a:ext cx="10164715" cy="4013022"/>
              </a:xfrm>
              <a:prstGeom prst="rect">
                <a:avLst/>
              </a:prstGeom>
              <a:blipFill>
                <a:blip r:embed="rId2"/>
                <a:stretch>
                  <a:fillRect l="-899" t="-1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18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初等变换：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191960" y="1551524"/>
            <a:ext cx="101647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j)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交换，即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↔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↔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.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(k)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倍，即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k*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k*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.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(k)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行乘以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倍加到第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行上，即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k*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.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列乘以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倍加到第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列上，即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k*c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3CD5C556-CE69-4762-BBB2-2566F6794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60" y="3591068"/>
            <a:ext cx="1152144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初等矩阵：</a:t>
            </a:r>
            <a:endParaRPr lang="en-US" altLang="zh-CN" sz="3600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由单位矩阵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经过只经过一次初等变换得到的方阵。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	左乘初等矩阵，相当于作对应的行变</a:t>
            </a:r>
          </a:p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	右乘初等矩阵，相当于作对应的列变</a:t>
            </a:r>
            <a:endParaRPr lang="zh-CN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206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640" y="905193"/>
                <a:ext cx="11521440" cy="3166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9pPr>
              </a:lstStyle>
              <a:p>
                <a:r>
                  <a:rPr lang="en-US" altLang="zh-CN" sz="3200" dirty="0"/>
                  <a:t>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3200" b="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3200" dirty="0"/>
                  <a:t>B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baseline="-2500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,</a:t>
                </a:r>
              </a:p>
              <a:p>
                <a:endParaRPr lang="en-US" altLang="zh-CN" sz="3200" dirty="0"/>
              </a:p>
              <a:p>
                <a:r>
                  <a:rPr lang="en-US" altLang="zh-CN" sz="3200" dirty="0"/>
                  <a:t>C1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,C2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则</a:t>
                </a:r>
                <a:r>
                  <a:rPr lang="en-US" altLang="zh-CN" sz="3200" dirty="0"/>
                  <a:t>B=</a:t>
                </a:r>
                <a:r>
                  <a:rPr lang="zh-CN" altLang="en-US" sz="3200" dirty="0"/>
                  <a:t>？</a:t>
                </a:r>
                <a:endParaRPr lang="zh-CN" altLang="zh-CN" sz="3200" dirty="0"/>
              </a:p>
            </p:txBody>
          </p:sp>
        </mc:Choice>
        <mc:Fallback xmlns="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640" y="905193"/>
                <a:ext cx="11521440" cy="3166893"/>
              </a:xfrm>
              <a:prstGeom prst="rect">
                <a:avLst/>
              </a:prstGeom>
              <a:blipFill>
                <a:blip r:embed="rId2"/>
                <a:stretch>
                  <a:fillRect l="-13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188960" y="4261166"/>
            <a:ext cx="10164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: 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: AC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: AC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: 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太阳形 3">
            <a:extLst>
              <a:ext uri="{FF2B5EF4-FFF2-40B4-BE49-F238E27FC236}">
                <a16:creationId xmlns:a16="http://schemas.microsoft.com/office/drawing/2014/main" id="{9BB4928C-644B-4DD9-8F9F-5BC1AFFFD365}"/>
              </a:ext>
            </a:extLst>
          </p:cNvPr>
          <p:cNvSpPr/>
          <p:nvPr/>
        </p:nvSpPr>
        <p:spPr>
          <a:xfrm>
            <a:off x="1733550" y="4617371"/>
            <a:ext cx="533400" cy="428625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62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640" y="905193"/>
                <a:ext cx="11521440" cy="1992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9pPr>
              </a:lstStyle>
              <a:p>
                <a:r>
                  <a:rPr lang="zh-CN" altLang="en-US" sz="3600" dirty="0"/>
                  <a:t>计算：</a:t>
                </a:r>
                <a:endParaRPr lang="en-US" altLang="zh-CN" sz="3600" dirty="0"/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已知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= AX + B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B=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zh-CN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640" y="905193"/>
                <a:ext cx="11521440" cy="1992277"/>
              </a:xfrm>
              <a:prstGeom prst="rect">
                <a:avLst/>
              </a:prstGeom>
              <a:blipFill>
                <a:blip r:embed="rId2"/>
                <a:stretch>
                  <a:fillRect l="-1587" t="-48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294640" y="3252420"/>
                <a:ext cx="10164715" cy="1416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答案：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" y="3252420"/>
                <a:ext cx="10164715" cy="1416222"/>
              </a:xfrm>
              <a:prstGeom prst="rect">
                <a:avLst/>
              </a:prstGeom>
              <a:blipFill>
                <a:blip r:embed="rId3"/>
                <a:stretch>
                  <a:fillRect l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87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计算：</a:t>
            </a:r>
            <a:endParaRPr lang="en-US" altLang="zh-CN" sz="3600" dirty="0"/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+ 3A − 5E = 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+ 5E)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294640" y="2216547"/>
            <a:ext cx="101647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+ 3A − 5E 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A (A + 5E) − 2A − 5E 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(A + 5E) A − (A + 5E) × 2 + 5E = O</a:t>
            </a:r>
          </a:p>
          <a:p>
            <a:endParaRPr lang="pt-BR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⇒ (A + 5E) (A − 2E) = −5E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(A + 5E)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− 2E) /−5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9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计算：</a:t>
            </a:r>
            <a:endParaRPr lang="en-US" altLang="zh-CN" sz="3600" dirty="0"/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− 3A + 5E = 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+ 2E)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+ 2A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− 21A + 15E = 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− 2E)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16FD2-2587-4235-B1FF-BDC850F24F29}"/>
              </a:ext>
            </a:extLst>
          </p:cNvPr>
          <p:cNvSpPr txBox="1"/>
          <p:nvPr/>
        </p:nvSpPr>
        <p:spPr>
          <a:xfrm>
            <a:off x="294640" y="2401104"/>
            <a:ext cx="10164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+ 5E)</a:t>
            </a:r>
            <a:r>
              <a:rPr lang="pt-BR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 </a:t>
            </a: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=7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/19*E - 2/19*A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 − 2E)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=E-3/5*A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-8/5*A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164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640" y="905193"/>
                <a:ext cx="11521440" cy="13946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9pPr>
              </a:lstStyle>
              <a:p>
                <a:r>
                  <a:rPr lang="zh-CN" altLang="zh-CN" sz="3200" dirty="0"/>
                  <a:t>若</a:t>
                </a:r>
                <a:r>
                  <a:rPr lang="en-US" altLang="zh-CN" sz="3200" dirty="0"/>
                  <a:t>A=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 </a:t>
                </a:r>
                <a:r>
                  <a:rPr lang="zh-CN" altLang="zh-CN" sz="3200" dirty="0"/>
                  <a:t>，且</a:t>
                </a:r>
                <a:r>
                  <a:rPr lang="en-US" altLang="zh-CN" sz="3200" dirty="0"/>
                  <a:t>B = (5E – 2A)(3E + 2A)</a:t>
                </a:r>
                <a:r>
                  <a:rPr lang="en-US" altLang="zh-CN" sz="3200" baseline="30000" dirty="0"/>
                  <a:t>-1</a:t>
                </a:r>
                <a:r>
                  <a:rPr lang="en-US" altLang="zh-CN" sz="3200" dirty="0"/>
                  <a:t> ,</a:t>
                </a:r>
                <a:r>
                  <a:rPr lang="zh-CN" altLang="zh-CN" sz="3200" dirty="0"/>
                  <a:t>则</a:t>
                </a:r>
                <a:r>
                  <a:rPr lang="en-US" altLang="zh-CN" sz="3200" dirty="0"/>
                  <a:t>(B + E)</a:t>
                </a:r>
                <a:r>
                  <a:rPr lang="en-US" altLang="zh-CN" sz="3200" baseline="30000" dirty="0"/>
                  <a:t>-1</a:t>
                </a:r>
                <a:r>
                  <a:rPr lang="en-US" altLang="zh-CN" sz="3200" dirty="0"/>
                  <a:t> = ?</a:t>
                </a:r>
                <a:endParaRPr lang="zh-CN" altLang="zh-CN" sz="3200" dirty="0"/>
              </a:p>
            </p:txBody>
          </p:sp>
        </mc:Choice>
        <mc:Fallback xmlns="">
          <p:sp>
            <p:nvSpPr>
              <p:cNvPr id="2" name="文本框 2">
                <a:extLst>
                  <a:ext uri="{FF2B5EF4-FFF2-40B4-BE49-F238E27FC236}">
                    <a16:creationId xmlns:a16="http://schemas.microsoft.com/office/drawing/2014/main" id="{B93B394A-3857-4BC0-B1AD-12285FDE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640" y="905193"/>
                <a:ext cx="11521440" cy="1394613"/>
              </a:xfrm>
              <a:prstGeom prst="rect">
                <a:avLst/>
              </a:prstGeom>
              <a:blipFill>
                <a:blip r:embed="rId2"/>
                <a:stretch>
                  <a:fillRect l="-13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294640" y="2499481"/>
                <a:ext cx="10164715" cy="314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</a:t>
                </a:r>
                <a:r>
                  <a:rPr lang="en-US" altLang="zh-CN" sz="2800" dirty="0"/>
                  <a:t>(B + E)</a:t>
                </a:r>
                <a:r>
                  <a:rPr lang="en-US" altLang="zh-CN" sz="2800" baseline="30000" dirty="0"/>
                  <a:t>−1</a:t>
                </a:r>
                <a:r>
                  <a:rPr lang="en-US" altLang="zh-CN" sz="2800" dirty="0"/>
                  <a:t> </a:t>
                </a:r>
                <a:endParaRPr lang="zh-CN" altLang="zh-CN" sz="2800" dirty="0"/>
              </a:p>
              <a:p>
                <a:r>
                  <a:rPr lang="en-US" altLang="zh-CN" sz="2800" dirty="0"/>
                  <a:t>= [(5E − 2A) (3E + 2A)</a:t>
                </a:r>
                <a:r>
                  <a:rPr lang="en-US" altLang="zh-CN" sz="2800" baseline="30000" dirty="0"/>
                  <a:t>−1</a:t>
                </a:r>
                <a:r>
                  <a:rPr lang="en-US" altLang="zh-CN" sz="2800" dirty="0"/>
                  <a:t> + (3E + 2A) (3E + 2A)</a:t>
                </a:r>
                <a:r>
                  <a:rPr lang="en-US" altLang="zh-CN" sz="2800" baseline="30000" dirty="0"/>
                  <a:t>-1</a:t>
                </a:r>
                <a:r>
                  <a:rPr lang="en-US" altLang="zh-CN" sz="2800" dirty="0"/>
                  <a:t>]</a:t>
                </a:r>
                <a:r>
                  <a:rPr lang="en-US" altLang="zh-CN" sz="2800" baseline="30000" dirty="0"/>
                  <a:t>−1</a:t>
                </a:r>
                <a:r>
                  <a:rPr lang="en-US" altLang="zh-CN" sz="2800" dirty="0"/>
                  <a:t> </a:t>
                </a:r>
                <a:endParaRPr lang="zh-CN" altLang="zh-CN" sz="2800" dirty="0"/>
              </a:p>
              <a:p>
                <a:r>
                  <a:rPr lang="en-US" altLang="zh-CN" sz="2800" dirty="0"/>
                  <a:t>= (8 (3E + 2A)</a:t>
                </a:r>
                <a:r>
                  <a:rPr lang="en-US" altLang="zh-CN" sz="2800" baseline="30000" dirty="0"/>
                  <a:t>−1 </a:t>
                </a:r>
                <a:r>
                  <a:rPr lang="en-US" altLang="zh-CN" sz="2800" dirty="0"/>
                  <a:t>)</a:t>
                </a:r>
                <a:r>
                  <a:rPr lang="en-US" altLang="zh-CN" sz="2800" baseline="30000" dirty="0"/>
                  <a:t>-1 </a:t>
                </a:r>
                <a:endParaRPr lang="zh-CN" altLang="zh-CN" sz="2800" dirty="0"/>
              </a:p>
              <a:p>
                <a:r>
                  <a:rPr lang="en-US" altLang="zh-CN" sz="2800" dirty="0"/>
                  <a:t>= 1/8 *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15/8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9/4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9/8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5/4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15/8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" y="2499481"/>
                <a:ext cx="10164715" cy="3141501"/>
              </a:xfrm>
              <a:prstGeom prst="rect">
                <a:avLst/>
              </a:prstGeom>
              <a:blipFill>
                <a:blip r:embed="rId3"/>
                <a:stretch>
                  <a:fillRect l="-1199" t="-2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93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93B394A-3857-4BC0-B1AD-12285FDE0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" y="905193"/>
            <a:ext cx="115214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CN" altLang="en-US" sz="3600" dirty="0"/>
              <a:t>矩阵的秩</a:t>
            </a:r>
            <a:endParaRPr lang="zh-CN" altLang="zh-C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/>
              <p:nvPr/>
            </p:nvSpPr>
            <p:spPr>
              <a:xfrm>
                <a:off x="191960" y="1551524"/>
                <a:ext cx="10164715" cy="460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= </a:t>
                </a:r>
                <a:r>
                  <a:rPr lang="zh-CN" altLang="en-US" sz="2400" dirty="0"/>
                  <a:t>行简化阵中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的个数 </a:t>
                </a:r>
                <a:endParaRPr lang="en-US" altLang="zh-CN" sz="2400" dirty="0"/>
              </a:p>
              <a:p>
                <a:r>
                  <a:rPr lang="en-US" altLang="zh-CN" sz="2400" dirty="0"/>
                  <a:t>= </a:t>
                </a:r>
                <a:r>
                  <a:rPr lang="zh-CN" altLang="en-US" sz="2400" dirty="0"/>
                  <a:t>行阶梯阵中非零行的行数</a:t>
                </a:r>
                <a:endParaRPr lang="en-US" altLang="zh-CN" sz="2400" dirty="0"/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两个同型矩阵经过有限次初等变换后可变为一样，则称这这个矩阵相抵，记作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≌ B.</a:t>
                </a: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相抵标准型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B16FD2-2587-4235-B1FF-BDC850F2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60" y="1551524"/>
                <a:ext cx="10164715" cy="4606839"/>
              </a:xfrm>
              <a:prstGeom prst="rect">
                <a:avLst/>
              </a:prstGeom>
              <a:blipFill>
                <a:blip r:embed="rId2"/>
                <a:stretch>
                  <a:fillRect l="-899" t="-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22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1251</Words>
  <Application>Microsoft Office PowerPoint</Application>
  <PresentationFormat>宽屏</PresentationFormat>
  <Paragraphs>166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等线</vt:lpstr>
      <vt:lpstr>等线 Light</vt:lpstr>
      <vt:lpstr>华文行楷</vt:lpstr>
      <vt:lpstr>宋体</vt:lpstr>
      <vt:lpstr>微软雅黑</vt:lpstr>
      <vt:lpstr>Arial</vt:lpstr>
      <vt:lpstr>Calibri</vt:lpstr>
      <vt:lpstr>Cambria Math</vt:lpstr>
      <vt:lpstr>Garamond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明</dc:creator>
  <cp:lastModifiedBy>Administrator</cp:lastModifiedBy>
  <cp:revision>62</cp:revision>
  <dcterms:created xsi:type="dcterms:W3CDTF">2020-02-02T22:34:00Z</dcterms:created>
  <dcterms:modified xsi:type="dcterms:W3CDTF">2020-10-13T10:32:22Z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